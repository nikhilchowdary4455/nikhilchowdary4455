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sldIdLst>
    <p:sldId id="256" r:id="rId5"/>
    <p:sldId id="257" r:id="rId6"/>
    <p:sldId id="258" r:id="rId7"/>
    <p:sldId id="260" r:id="rId8"/>
    <p:sldId id="261" r:id="rId9"/>
    <p:sldId id="262" r:id="rId10"/>
    <p:sldId id="266" r:id="rId11"/>
    <p:sldId id="278" r:id="rId12"/>
    <p:sldId id="264" r:id="rId13"/>
    <p:sldId id="269" r:id="rId14"/>
    <p:sldId id="270" r:id="rId15"/>
    <p:sldId id="271" r:id="rId16"/>
    <p:sldId id="274" r:id="rId17"/>
    <p:sldId id="275" r:id="rId18"/>
    <p:sldId id="281" r:id="rId19"/>
    <p:sldId id="282" r:id="rId20"/>
    <p:sldId id="283" r:id="rId21"/>
    <p:sldId id="285" r:id="rId22"/>
    <p:sldId id="286" r:id="rId23"/>
    <p:sldId id="296" r:id="rId24"/>
    <p:sldId id="308" r:id="rId25"/>
    <p:sldId id="289" r:id="rId26"/>
    <p:sldId id="290" r:id="rId27"/>
    <p:sldId id="309" r:id="rId28"/>
    <p:sldId id="291" r:id="rId29"/>
    <p:sldId id="292" r:id="rId30"/>
    <p:sldId id="288" r:id="rId31"/>
    <p:sldId id="295" r:id="rId32"/>
    <p:sldId id="293" r:id="rId33"/>
    <p:sldId id="284" r:id="rId34"/>
    <p:sldId id="304" r:id="rId35"/>
    <p:sldId id="300" r:id="rId36"/>
    <p:sldId id="279" r:id="rId37"/>
    <p:sldId id="280" r:id="rId38"/>
    <p:sldId id="297" r:id="rId39"/>
    <p:sldId id="298" r:id="rId40"/>
    <p:sldId id="305" r:id="rId41"/>
    <p:sldId id="306" r:id="rId42"/>
    <p:sldId id="307" r:id="rId43"/>
    <p:sldId id="301" r:id="rId44"/>
    <p:sldId id="303" r:id="rId45"/>
    <p:sldId id="30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90D53-E5D9-4C83-946B-4E840F10AE99}" v="587" dt="2023-05-10T22:20:37.167"/>
    <p1510:client id="{20A4B6BB-D104-A033-042D-A160A5693EB5}" v="20" dt="2023-05-10T19:47:47.107"/>
    <p1510:client id="{21043F4B-8E85-4DAE-9C9D-D7C9047D07B5}" v="726" dt="2023-05-10T17:54:19.748"/>
    <p1510:client id="{33FC2967-32BC-2391-9C54-387C9C04FD2F}" v="31" dt="2023-05-10T18:35:41.028"/>
    <p1510:client id="{4772E2AD-B105-1E1E-0A54-FE89A4CE2690}" v="2" dt="2023-05-10T18:15:28.723"/>
    <p1510:client id="{4C588E17-5EA6-46F7-B5F3-B8F3024EB7ED}" v="1273" dt="2023-05-10T05:49:50.474"/>
    <p1510:client id="{55DD8862-A778-7008-4276-15E1B5B93183}" v="70" dt="2023-05-10T16:47:52.620"/>
    <p1510:client id="{579074CA-6FC2-EA6E-FA50-32AFB6552BE5}" v="1489" dt="2023-05-10T20:07:04.247"/>
    <p1510:client id="{7737347D-51EF-40E9-9A61-5C8110709CFD}" v="16" dt="2023-05-10T04:33:32.818"/>
    <p1510:client id="{844D1D04-1CBB-4C65-AB84-EA2167B28E42}" v="1270" dt="2023-05-10T22:27:41.036"/>
    <p1510:client id="{A34A3A40-9E27-583C-27BE-4F2FEEB9E99D}" v="34" dt="2023-05-10T05:52:14.035"/>
    <p1510:client id="{ABDCF3E1-B275-289E-51F5-E25FB1FE1A2C}" v="169" dt="2023-05-10T22:29:47.293"/>
    <p1510:client id="{CE5369AE-9FC7-79CA-327C-765472401218}" v="1358" dt="2023-05-10T22:25:20.893"/>
    <p1510:client id="{E5FFBE95-5444-4243-BA89-FFC49628B119}" v="85" dt="2023-05-10T05:47:06.754"/>
    <p1510:client id="{FB5121BB-0E5C-EB72-5289-DEBAB3C92408}" v="33" dt="2023-05-10T22:03:23.6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43FEBD-1BD0-4AF0-A319-580781B6A56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73F8DA29-385C-4755-BB54-75F5578A25DE}">
      <dgm:prSet/>
      <dgm:spPr/>
      <dgm:t>
        <a:bodyPr/>
        <a:lstStyle/>
        <a:p>
          <a:r>
            <a:rPr lang="en-US" b="1" i="0" baseline="0"/>
            <a:t>Features:</a:t>
          </a:r>
          <a:endParaRPr lang="en-US"/>
        </a:p>
      </dgm:t>
    </dgm:pt>
    <dgm:pt modelId="{4895468B-387F-4794-8D06-AFB51CF6D5A8}" type="parTrans" cxnId="{1F7AAB22-C9AA-493E-93F9-86DFA3D2273F}">
      <dgm:prSet/>
      <dgm:spPr/>
      <dgm:t>
        <a:bodyPr/>
        <a:lstStyle/>
        <a:p>
          <a:endParaRPr lang="en-US"/>
        </a:p>
      </dgm:t>
    </dgm:pt>
    <dgm:pt modelId="{E556463B-7CB8-43CA-9CDF-C5FF6AC23E99}" type="sibTrans" cxnId="{1F7AAB22-C9AA-493E-93F9-86DFA3D2273F}">
      <dgm:prSet/>
      <dgm:spPr/>
      <dgm:t>
        <a:bodyPr/>
        <a:lstStyle/>
        <a:p>
          <a:endParaRPr lang="en-US"/>
        </a:p>
      </dgm:t>
    </dgm:pt>
    <dgm:pt modelId="{69160E50-9FC4-4A63-A8E9-A4A789290D86}">
      <dgm:prSet/>
      <dgm:spPr/>
      <dgm:t>
        <a:bodyPr/>
        <a:lstStyle/>
        <a:p>
          <a:r>
            <a:rPr lang="en-US" b="1" i="0" baseline="0"/>
            <a:t>LIMIT_BAL</a:t>
          </a:r>
          <a:r>
            <a:rPr lang="en-US" b="0" i="0" baseline="0"/>
            <a:t>: continuous. Credit Limit of the person.</a:t>
          </a:r>
          <a:endParaRPr lang="en-US"/>
        </a:p>
      </dgm:t>
    </dgm:pt>
    <dgm:pt modelId="{CABB994C-50E7-4C4F-99EF-5E1E6E0D5E79}" type="parTrans" cxnId="{DBB8A5A6-E27F-47EC-B8BF-00A4385607C4}">
      <dgm:prSet/>
      <dgm:spPr/>
      <dgm:t>
        <a:bodyPr/>
        <a:lstStyle/>
        <a:p>
          <a:endParaRPr lang="en-US"/>
        </a:p>
      </dgm:t>
    </dgm:pt>
    <dgm:pt modelId="{A53E5E5D-E5C1-4DE0-86AC-1BE5D16FE2DF}" type="sibTrans" cxnId="{DBB8A5A6-E27F-47EC-B8BF-00A4385607C4}">
      <dgm:prSet/>
      <dgm:spPr/>
      <dgm:t>
        <a:bodyPr/>
        <a:lstStyle/>
        <a:p>
          <a:endParaRPr lang="en-US"/>
        </a:p>
      </dgm:t>
    </dgm:pt>
    <dgm:pt modelId="{2527A26D-0262-457A-A32E-CBD56CA44161}">
      <dgm:prSet/>
      <dgm:spPr/>
      <dgm:t>
        <a:bodyPr/>
        <a:lstStyle/>
        <a:p>
          <a:r>
            <a:rPr lang="en-US" b="1" i="0" baseline="0"/>
            <a:t>SEX</a:t>
          </a:r>
          <a:r>
            <a:rPr lang="en-US" b="0" i="0" baseline="0"/>
            <a:t>: Categorical: 1 = male; 2 = female</a:t>
          </a:r>
          <a:endParaRPr lang="en-US"/>
        </a:p>
      </dgm:t>
    </dgm:pt>
    <dgm:pt modelId="{A78F0772-6AF5-44AE-9D71-208C3AF2E9C3}" type="parTrans" cxnId="{2B276161-BF28-421E-BC4B-A86E567E9B5E}">
      <dgm:prSet/>
      <dgm:spPr/>
      <dgm:t>
        <a:bodyPr/>
        <a:lstStyle/>
        <a:p>
          <a:endParaRPr lang="en-US"/>
        </a:p>
      </dgm:t>
    </dgm:pt>
    <dgm:pt modelId="{62B1FFD0-845D-4EF6-896D-EBE0C1557D20}" type="sibTrans" cxnId="{2B276161-BF28-421E-BC4B-A86E567E9B5E}">
      <dgm:prSet/>
      <dgm:spPr/>
      <dgm:t>
        <a:bodyPr/>
        <a:lstStyle/>
        <a:p>
          <a:endParaRPr lang="en-US"/>
        </a:p>
      </dgm:t>
    </dgm:pt>
    <dgm:pt modelId="{15863001-5DB9-4BA6-8429-ADC1315F624D}">
      <dgm:prSet/>
      <dgm:spPr/>
      <dgm:t>
        <a:bodyPr/>
        <a:lstStyle/>
        <a:p>
          <a:r>
            <a:rPr lang="en-US" b="1" i="0" baseline="0"/>
            <a:t>EDUCATION</a:t>
          </a:r>
          <a:r>
            <a:rPr lang="en-US" b="0" i="0" baseline="0"/>
            <a:t>: Categorical: 1 = graduate school; 2 = university; 3 = high school; 4 = others</a:t>
          </a:r>
          <a:endParaRPr lang="en-US"/>
        </a:p>
      </dgm:t>
    </dgm:pt>
    <dgm:pt modelId="{2BA91E80-D367-4AB2-890C-19D11B721BD5}" type="parTrans" cxnId="{ECCB3E06-6A35-46AC-86A1-7C36A521FC53}">
      <dgm:prSet/>
      <dgm:spPr/>
      <dgm:t>
        <a:bodyPr/>
        <a:lstStyle/>
        <a:p>
          <a:endParaRPr lang="en-US"/>
        </a:p>
      </dgm:t>
    </dgm:pt>
    <dgm:pt modelId="{A1C25D1F-F91E-4337-B614-B9CF4227B9A0}" type="sibTrans" cxnId="{ECCB3E06-6A35-46AC-86A1-7C36A521FC53}">
      <dgm:prSet/>
      <dgm:spPr/>
      <dgm:t>
        <a:bodyPr/>
        <a:lstStyle/>
        <a:p>
          <a:endParaRPr lang="en-US"/>
        </a:p>
      </dgm:t>
    </dgm:pt>
    <dgm:pt modelId="{D53D672A-8787-4FA8-8630-81210C5B90A9}">
      <dgm:prSet/>
      <dgm:spPr/>
      <dgm:t>
        <a:bodyPr/>
        <a:lstStyle/>
        <a:p>
          <a:r>
            <a:rPr lang="en-US" b="1" i="0" baseline="0"/>
            <a:t>MARRIAGE</a:t>
          </a:r>
          <a:r>
            <a:rPr lang="en-US" b="0" i="0" baseline="0"/>
            <a:t>: 1 = married; 2 = single; 3 = others</a:t>
          </a:r>
          <a:endParaRPr lang="en-US"/>
        </a:p>
      </dgm:t>
    </dgm:pt>
    <dgm:pt modelId="{23114EFA-45C0-4BFC-832E-8DCE2D80C3F6}" type="parTrans" cxnId="{3D5B49A7-9B14-4C61-9629-468865DEA367}">
      <dgm:prSet/>
      <dgm:spPr/>
      <dgm:t>
        <a:bodyPr/>
        <a:lstStyle/>
        <a:p>
          <a:endParaRPr lang="en-US"/>
        </a:p>
      </dgm:t>
    </dgm:pt>
    <dgm:pt modelId="{96CA47D3-BA7F-4F00-AFE6-E727DC6BC7D3}" type="sibTrans" cxnId="{3D5B49A7-9B14-4C61-9629-468865DEA367}">
      <dgm:prSet/>
      <dgm:spPr/>
      <dgm:t>
        <a:bodyPr/>
        <a:lstStyle/>
        <a:p>
          <a:endParaRPr lang="en-US"/>
        </a:p>
      </dgm:t>
    </dgm:pt>
    <dgm:pt modelId="{69FD8F01-DDC8-4720-BE59-A2B2F3290EC5}">
      <dgm:prSet/>
      <dgm:spPr/>
      <dgm:t>
        <a:bodyPr/>
        <a:lstStyle/>
        <a:p>
          <a:r>
            <a:rPr lang="en-US" b="1" i="0" baseline="0"/>
            <a:t>AGE</a:t>
          </a:r>
          <a:r>
            <a:rPr lang="en-US" b="0" i="0" baseline="0"/>
            <a:t>: num. continuous. </a:t>
          </a:r>
          <a:endParaRPr lang="en-US"/>
        </a:p>
      </dgm:t>
    </dgm:pt>
    <dgm:pt modelId="{2CB753B4-31EE-4A0B-A0FD-5FC51B3F19D5}" type="parTrans" cxnId="{E3D8BBB2-466F-416E-B83C-6ECF51C3A1C0}">
      <dgm:prSet/>
      <dgm:spPr/>
      <dgm:t>
        <a:bodyPr/>
        <a:lstStyle/>
        <a:p>
          <a:endParaRPr lang="en-US"/>
        </a:p>
      </dgm:t>
    </dgm:pt>
    <dgm:pt modelId="{4B013F3D-ACA6-4D1A-B1B6-F601F7CBD839}" type="sibTrans" cxnId="{E3D8BBB2-466F-416E-B83C-6ECF51C3A1C0}">
      <dgm:prSet/>
      <dgm:spPr/>
      <dgm:t>
        <a:bodyPr/>
        <a:lstStyle/>
        <a:p>
          <a:endParaRPr lang="en-US"/>
        </a:p>
      </dgm:t>
    </dgm:pt>
    <dgm:pt modelId="{AFF5FE18-3C81-460C-9265-5CF74B355C40}">
      <dgm:prSet/>
      <dgm:spPr/>
      <dgm:t>
        <a:bodyPr/>
        <a:lstStyle/>
        <a:p>
          <a:r>
            <a:rPr lang="en-US" b="1" i="0" baseline="0"/>
            <a:t>PAY_0,PAY_2 to PAY_6</a:t>
          </a:r>
          <a:r>
            <a:rPr lang="en-US" b="0" i="0" baseline="0"/>
            <a:t>: Categorical :-</a:t>
          </a:r>
          <a:endParaRPr lang="en-US"/>
        </a:p>
      </dgm:t>
    </dgm:pt>
    <dgm:pt modelId="{FFB8F509-2846-4806-8627-3C975595A9C2}" type="parTrans" cxnId="{0326DAB1-40F6-4996-B29A-E9B81A04FE8A}">
      <dgm:prSet/>
      <dgm:spPr/>
      <dgm:t>
        <a:bodyPr/>
        <a:lstStyle/>
        <a:p>
          <a:endParaRPr lang="en-US"/>
        </a:p>
      </dgm:t>
    </dgm:pt>
    <dgm:pt modelId="{4A3689E4-7E74-495B-8426-F4035F1B7B78}" type="sibTrans" cxnId="{0326DAB1-40F6-4996-B29A-E9B81A04FE8A}">
      <dgm:prSet/>
      <dgm:spPr/>
      <dgm:t>
        <a:bodyPr/>
        <a:lstStyle/>
        <a:p>
          <a:endParaRPr lang="en-US"/>
        </a:p>
      </dgm:t>
    </dgm:pt>
    <dgm:pt modelId="{34F8F653-F390-4CA9-99B3-0AAE0A7CE307}">
      <dgm:prSet/>
      <dgm:spPr/>
      <dgm:t>
        <a:bodyPr/>
        <a:lstStyle/>
        <a:p>
          <a:r>
            <a:rPr lang="en-US" b="0" i="0" baseline="0"/>
            <a:t>2: Payment made in full and on time</a:t>
          </a:r>
          <a:endParaRPr lang="en-US"/>
        </a:p>
      </dgm:t>
    </dgm:pt>
    <dgm:pt modelId="{9CBD5C6C-7928-400D-8684-BD2E2883F4C4}" type="parTrans" cxnId="{7A009E7E-69EC-409A-8947-A4B570711D11}">
      <dgm:prSet/>
      <dgm:spPr/>
      <dgm:t>
        <a:bodyPr/>
        <a:lstStyle/>
        <a:p>
          <a:endParaRPr lang="en-US"/>
        </a:p>
      </dgm:t>
    </dgm:pt>
    <dgm:pt modelId="{C67B5982-B571-43ED-A281-040E8A7CA720}" type="sibTrans" cxnId="{7A009E7E-69EC-409A-8947-A4B570711D11}">
      <dgm:prSet/>
      <dgm:spPr/>
      <dgm:t>
        <a:bodyPr/>
        <a:lstStyle/>
        <a:p>
          <a:endParaRPr lang="en-US"/>
        </a:p>
      </dgm:t>
    </dgm:pt>
    <dgm:pt modelId="{7B7B9C8E-47B0-4BFB-AD9B-0762D3BA90D5}">
      <dgm:prSet/>
      <dgm:spPr/>
      <dgm:t>
        <a:bodyPr/>
        <a:lstStyle/>
        <a:p>
          <a:r>
            <a:rPr lang="en-US" b="0" i="0" baseline="0"/>
            <a:t>-1: payment made in full but past the due date0: payment of the minimum amount was made</a:t>
          </a:r>
          <a:endParaRPr lang="en-US"/>
        </a:p>
      </dgm:t>
    </dgm:pt>
    <dgm:pt modelId="{C20E06F1-54DC-42CF-A5A6-0120A957029E}" type="parTrans" cxnId="{621998C7-EA85-4FC2-80CE-4E42537B2318}">
      <dgm:prSet/>
      <dgm:spPr/>
      <dgm:t>
        <a:bodyPr/>
        <a:lstStyle/>
        <a:p>
          <a:endParaRPr lang="en-US"/>
        </a:p>
      </dgm:t>
    </dgm:pt>
    <dgm:pt modelId="{C0F14588-6649-46D9-B536-AD4D9CF0C0AE}" type="sibTrans" cxnId="{621998C7-EA85-4FC2-80CE-4E42537B2318}">
      <dgm:prSet/>
      <dgm:spPr/>
      <dgm:t>
        <a:bodyPr/>
        <a:lstStyle/>
        <a:p>
          <a:endParaRPr lang="en-US"/>
        </a:p>
      </dgm:t>
    </dgm:pt>
    <dgm:pt modelId="{F4FF36E9-CCA3-4C50-A438-C96C09B4A10A}">
      <dgm:prSet/>
      <dgm:spPr/>
      <dgm:t>
        <a:bodyPr/>
        <a:lstStyle/>
        <a:p>
          <a:r>
            <a:rPr lang="en-US" b="0" i="0" baseline="0"/>
            <a:t>1: payment amount less than the minimum amount due</a:t>
          </a:r>
          <a:endParaRPr lang="en-US"/>
        </a:p>
      </dgm:t>
    </dgm:pt>
    <dgm:pt modelId="{A8DD9E53-7446-43C6-A7A6-F20332BBD051}" type="parTrans" cxnId="{174FE6AC-F21A-436C-8082-3C6686C09D30}">
      <dgm:prSet/>
      <dgm:spPr/>
      <dgm:t>
        <a:bodyPr/>
        <a:lstStyle/>
        <a:p>
          <a:endParaRPr lang="en-US"/>
        </a:p>
      </dgm:t>
    </dgm:pt>
    <dgm:pt modelId="{DF63EB53-214E-43A9-87BA-E86A40712207}" type="sibTrans" cxnId="{174FE6AC-F21A-436C-8082-3C6686C09D30}">
      <dgm:prSet/>
      <dgm:spPr/>
      <dgm:t>
        <a:bodyPr/>
        <a:lstStyle/>
        <a:p>
          <a:endParaRPr lang="en-US"/>
        </a:p>
      </dgm:t>
    </dgm:pt>
    <dgm:pt modelId="{85BC8A0A-6A91-42B6-9F4B-1249AA5F1C87}">
      <dgm:prSet/>
      <dgm:spPr/>
      <dgm:t>
        <a:bodyPr/>
        <a:lstStyle/>
        <a:p>
          <a:r>
            <a:rPr lang="en-US" b="0" i="0" baseline="0"/>
            <a:t>2: payment amount is between the minimum amount due and the full amount due</a:t>
          </a:r>
          <a:endParaRPr lang="en-US"/>
        </a:p>
      </dgm:t>
    </dgm:pt>
    <dgm:pt modelId="{992B3EA8-24AD-48A8-A54C-5095DD98AC2F}" type="parTrans" cxnId="{093996B7-DB5C-49A7-AE4C-94B2C71F03F3}">
      <dgm:prSet/>
      <dgm:spPr/>
      <dgm:t>
        <a:bodyPr/>
        <a:lstStyle/>
        <a:p>
          <a:endParaRPr lang="en-US"/>
        </a:p>
      </dgm:t>
    </dgm:pt>
    <dgm:pt modelId="{FB2D6D24-5BC8-4D5B-AC98-A14FEB43659B}" type="sibTrans" cxnId="{093996B7-DB5C-49A7-AE4C-94B2C71F03F3}">
      <dgm:prSet/>
      <dgm:spPr/>
      <dgm:t>
        <a:bodyPr/>
        <a:lstStyle/>
        <a:p>
          <a:endParaRPr lang="en-US"/>
        </a:p>
      </dgm:t>
    </dgm:pt>
    <dgm:pt modelId="{7735CA59-7E9B-4D1A-AC90-B6F019A2939A}">
      <dgm:prSet/>
      <dgm:spPr/>
      <dgm:t>
        <a:bodyPr/>
        <a:lstStyle/>
        <a:p>
          <a:r>
            <a:rPr lang="en-US" b="0" i="0" baseline="0"/>
            <a:t>3: payment amount is between one and two months late</a:t>
          </a:r>
          <a:endParaRPr lang="en-US"/>
        </a:p>
      </dgm:t>
    </dgm:pt>
    <dgm:pt modelId="{B7B44FA8-902B-4640-BD1E-D31AF484CEBF}" type="parTrans" cxnId="{A96DD18D-C84D-40DF-940F-D3F2CD34C5B3}">
      <dgm:prSet/>
      <dgm:spPr/>
      <dgm:t>
        <a:bodyPr/>
        <a:lstStyle/>
        <a:p>
          <a:endParaRPr lang="en-US"/>
        </a:p>
      </dgm:t>
    </dgm:pt>
    <dgm:pt modelId="{4753D6A7-6060-423A-97E8-BC15524C14D4}" type="sibTrans" cxnId="{A96DD18D-C84D-40DF-940F-D3F2CD34C5B3}">
      <dgm:prSet/>
      <dgm:spPr/>
      <dgm:t>
        <a:bodyPr/>
        <a:lstStyle/>
        <a:p>
          <a:endParaRPr lang="en-US"/>
        </a:p>
      </dgm:t>
    </dgm:pt>
    <dgm:pt modelId="{46DDFF46-589D-402E-8DFE-539964AD4A57}">
      <dgm:prSet/>
      <dgm:spPr/>
      <dgm:t>
        <a:bodyPr/>
        <a:lstStyle/>
        <a:p>
          <a:r>
            <a:rPr lang="en-US" b="0" i="0" baseline="0"/>
            <a:t>4: payment amount is between two and three months late</a:t>
          </a:r>
          <a:endParaRPr lang="en-US"/>
        </a:p>
      </dgm:t>
    </dgm:pt>
    <dgm:pt modelId="{880930BD-C83C-417E-B4F1-6966459BF852}" type="parTrans" cxnId="{E9C9C643-4072-4308-BCD8-085F038DD415}">
      <dgm:prSet/>
      <dgm:spPr/>
      <dgm:t>
        <a:bodyPr/>
        <a:lstStyle/>
        <a:p>
          <a:endParaRPr lang="en-US"/>
        </a:p>
      </dgm:t>
    </dgm:pt>
    <dgm:pt modelId="{CC04DADB-0E3F-430C-8E68-9BFEF80FEC47}" type="sibTrans" cxnId="{E9C9C643-4072-4308-BCD8-085F038DD415}">
      <dgm:prSet/>
      <dgm:spPr/>
      <dgm:t>
        <a:bodyPr/>
        <a:lstStyle/>
        <a:p>
          <a:endParaRPr lang="en-US"/>
        </a:p>
      </dgm:t>
    </dgm:pt>
    <dgm:pt modelId="{2816CC85-07AB-4745-A5C7-B8AE725212E7}">
      <dgm:prSet/>
      <dgm:spPr/>
      <dgm:t>
        <a:bodyPr/>
        <a:lstStyle/>
        <a:p>
          <a:r>
            <a:rPr lang="en-US" b="0" i="0" baseline="0"/>
            <a:t>5: payment amount is between three and four months late</a:t>
          </a:r>
          <a:endParaRPr lang="en-US"/>
        </a:p>
      </dgm:t>
    </dgm:pt>
    <dgm:pt modelId="{506F3CAC-C292-4FAD-88F2-514D866F30C3}" type="parTrans" cxnId="{BE6BC814-42FC-46FB-B70E-754C12FF1336}">
      <dgm:prSet/>
      <dgm:spPr/>
      <dgm:t>
        <a:bodyPr/>
        <a:lstStyle/>
        <a:p>
          <a:endParaRPr lang="en-US"/>
        </a:p>
      </dgm:t>
    </dgm:pt>
    <dgm:pt modelId="{25EF17B6-5E99-4A42-9968-13308B13A090}" type="sibTrans" cxnId="{BE6BC814-42FC-46FB-B70E-754C12FF1336}">
      <dgm:prSet/>
      <dgm:spPr/>
      <dgm:t>
        <a:bodyPr/>
        <a:lstStyle/>
        <a:p>
          <a:endParaRPr lang="en-US"/>
        </a:p>
      </dgm:t>
    </dgm:pt>
    <dgm:pt modelId="{9E724FFD-3939-40E0-9EC8-769D233654EA}">
      <dgm:prSet/>
      <dgm:spPr/>
      <dgm:t>
        <a:bodyPr/>
        <a:lstStyle/>
        <a:p>
          <a:r>
            <a:rPr lang="en-US" b="0" i="0" baseline="0"/>
            <a:t>6: payment amount is between four and five months late</a:t>
          </a:r>
          <a:endParaRPr lang="en-US"/>
        </a:p>
      </dgm:t>
    </dgm:pt>
    <dgm:pt modelId="{CB8734BB-6080-469B-903D-9838CD677ED7}" type="parTrans" cxnId="{D2AA6EFE-E020-4195-ADC3-711FC27D36DF}">
      <dgm:prSet/>
      <dgm:spPr/>
      <dgm:t>
        <a:bodyPr/>
        <a:lstStyle/>
        <a:p>
          <a:endParaRPr lang="en-US"/>
        </a:p>
      </dgm:t>
    </dgm:pt>
    <dgm:pt modelId="{339395BA-FE3F-412C-8B6D-DEA55EF98923}" type="sibTrans" cxnId="{D2AA6EFE-E020-4195-ADC3-711FC27D36DF}">
      <dgm:prSet/>
      <dgm:spPr/>
      <dgm:t>
        <a:bodyPr/>
        <a:lstStyle/>
        <a:p>
          <a:endParaRPr lang="en-US"/>
        </a:p>
      </dgm:t>
    </dgm:pt>
    <dgm:pt modelId="{395C9CFB-F9A6-46E9-A00E-A59A4B7DDADF}">
      <dgm:prSet/>
      <dgm:spPr/>
      <dgm:t>
        <a:bodyPr/>
        <a:lstStyle/>
        <a:p>
          <a:r>
            <a:rPr lang="en-US" b="0" i="0" baseline="0"/>
            <a:t>7: payment amount is between five and six months late</a:t>
          </a:r>
          <a:endParaRPr lang="en-US"/>
        </a:p>
      </dgm:t>
    </dgm:pt>
    <dgm:pt modelId="{4BE4688B-4C49-4B39-9EA9-59429FA4846F}" type="parTrans" cxnId="{7B59CCC8-1730-4935-9F99-B301F4B2969E}">
      <dgm:prSet/>
      <dgm:spPr/>
      <dgm:t>
        <a:bodyPr/>
        <a:lstStyle/>
        <a:p>
          <a:endParaRPr lang="en-US"/>
        </a:p>
      </dgm:t>
    </dgm:pt>
    <dgm:pt modelId="{D7E4BA82-36F8-44F7-B7FB-F8CDA5AF1040}" type="sibTrans" cxnId="{7B59CCC8-1730-4935-9F99-B301F4B2969E}">
      <dgm:prSet/>
      <dgm:spPr/>
      <dgm:t>
        <a:bodyPr/>
        <a:lstStyle/>
        <a:p>
          <a:endParaRPr lang="en-US"/>
        </a:p>
      </dgm:t>
    </dgm:pt>
    <dgm:pt modelId="{C0608A8D-08D9-4C37-B5A2-73F37AAA1659}">
      <dgm:prSet/>
      <dgm:spPr/>
      <dgm:t>
        <a:bodyPr/>
        <a:lstStyle/>
        <a:p>
          <a:r>
            <a:rPr lang="en-US" b="0" i="0" baseline="0"/>
            <a:t>8: payment amount is between six and seven months (or more) late.</a:t>
          </a:r>
          <a:endParaRPr lang="en-US"/>
        </a:p>
      </dgm:t>
    </dgm:pt>
    <dgm:pt modelId="{6DD31EA0-1D10-492C-B82F-0F821EF67B9D}" type="parTrans" cxnId="{9EE01071-E200-4AA3-A505-25E3EF98B873}">
      <dgm:prSet/>
      <dgm:spPr/>
      <dgm:t>
        <a:bodyPr/>
        <a:lstStyle/>
        <a:p>
          <a:endParaRPr lang="en-US"/>
        </a:p>
      </dgm:t>
    </dgm:pt>
    <dgm:pt modelId="{1B8E5175-A055-4060-A972-DB62412BDF9D}" type="sibTrans" cxnId="{9EE01071-E200-4AA3-A505-25E3EF98B873}">
      <dgm:prSet/>
      <dgm:spPr/>
      <dgm:t>
        <a:bodyPr/>
        <a:lstStyle/>
        <a:p>
          <a:endParaRPr lang="en-US"/>
        </a:p>
      </dgm:t>
    </dgm:pt>
    <dgm:pt modelId="{0FFED633-CA3E-400F-AF0D-82D204BBB754}">
      <dgm:prSet/>
      <dgm:spPr/>
      <dgm:t>
        <a:bodyPr/>
        <a:lstStyle/>
        <a:p>
          <a:r>
            <a:rPr lang="en-US" b="1" i="0" baseline="0"/>
            <a:t>BILL_AMT1 to BILL_AMT6</a:t>
          </a:r>
          <a:r>
            <a:rPr lang="en-US" b="0" i="0" baseline="0"/>
            <a:t>: Amount of bill statements.</a:t>
          </a:r>
          <a:endParaRPr lang="en-US"/>
        </a:p>
      </dgm:t>
    </dgm:pt>
    <dgm:pt modelId="{607957CD-F6DF-4479-AF78-131757471C74}" type="parTrans" cxnId="{F27B0057-4DB6-49F6-914C-57423FC7E6E3}">
      <dgm:prSet/>
      <dgm:spPr/>
      <dgm:t>
        <a:bodyPr/>
        <a:lstStyle/>
        <a:p>
          <a:endParaRPr lang="en-US"/>
        </a:p>
      </dgm:t>
    </dgm:pt>
    <dgm:pt modelId="{8D7742B1-62E2-4B92-91C1-44B51B4A3C2B}" type="sibTrans" cxnId="{F27B0057-4DB6-49F6-914C-57423FC7E6E3}">
      <dgm:prSet/>
      <dgm:spPr/>
      <dgm:t>
        <a:bodyPr/>
        <a:lstStyle/>
        <a:p>
          <a:endParaRPr lang="en-US"/>
        </a:p>
      </dgm:t>
    </dgm:pt>
    <dgm:pt modelId="{88E1A755-B644-4A83-AB69-48DDBCBA32E5}">
      <dgm:prSet/>
      <dgm:spPr/>
      <dgm:t>
        <a:bodyPr/>
        <a:lstStyle/>
        <a:p>
          <a:r>
            <a:rPr lang="en-US" b="1" i="0" baseline="0"/>
            <a:t>PAY_AMT1 to PAY_AMT6</a:t>
          </a:r>
          <a:r>
            <a:rPr lang="en-US" b="0" i="0" baseline="0"/>
            <a:t>: Amount of previous payments </a:t>
          </a:r>
          <a:endParaRPr lang="en-US"/>
        </a:p>
      </dgm:t>
    </dgm:pt>
    <dgm:pt modelId="{BC397396-A4B9-4CE6-8B93-293150A1F7D2}" type="parTrans" cxnId="{093F814B-6DED-4125-8D62-0DEB3AA6E9D9}">
      <dgm:prSet/>
      <dgm:spPr/>
      <dgm:t>
        <a:bodyPr/>
        <a:lstStyle/>
        <a:p>
          <a:endParaRPr lang="en-US"/>
        </a:p>
      </dgm:t>
    </dgm:pt>
    <dgm:pt modelId="{7313A3E5-EBED-48A2-B2C4-34C5B0B82D44}" type="sibTrans" cxnId="{093F814B-6DED-4125-8D62-0DEB3AA6E9D9}">
      <dgm:prSet/>
      <dgm:spPr/>
      <dgm:t>
        <a:bodyPr/>
        <a:lstStyle/>
        <a:p>
          <a:endParaRPr lang="en-US"/>
        </a:p>
      </dgm:t>
    </dgm:pt>
    <dgm:pt modelId="{7975E924-07C3-41F6-BBD7-60DB9605D1C6}">
      <dgm:prSet/>
      <dgm:spPr/>
      <dgm:t>
        <a:bodyPr/>
        <a:lstStyle/>
        <a:p>
          <a:r>
            <a:rPr lang="en-US" b="1" i="0" baseline="0"/>
            <a:t>Target</a:t>
          </a:r>
          <a:r>
            <a:rPr lang="en-US" b="0" i="0" baseline="0"/>
            <a:t>:</a:t>
          </a:r>
          <a:endParaRPr lang="en-US"/>
        </a:p>
      </dgm:t>
    </dgm:pt>
    <dgm:pt modelId="{E94F2C3B-B89A-4B23-9E45-FC9BAF6960FF}" type="parTrans" cxnId="{35E1D31D-9DBA-4DDB-BB53-8217DB55472A}">
      <dgm:prSet/>
      <dgm:spPr/>
      <dgm:t>
        <a:bodyPr/>
        <a:lstStyle/>
        <a:p>
          <a:endParaRPr lang="en-US"/>
        </a:p>
      </dgm:t>
    </dgm:pt>
    <dgm:pt modelId="{594FAFCA-4989-4143-AF3D-25305696DDA4}" type="sibTrans" cxnId="{35E1D31D-9DBA-4DDB-BB53-8217DB55472A}">
      <dgm:prSet/>
      <dgm:spPr/>
      <dgm:t>
        <a:bodyPr/>
        <a:lstStyle/>
        <a:p>
          <a:endParaRPr lang="en-US"/>
        </a:p>
      </dgm:t>
    </dgm:pt>
    <dgm:pt modelId="{297FD44A-BDD3-42B1-ACE2-46384A21ADDF}">
      <dgm:prSet/>
      <dgm:spPr/>
      <dgm:t>
        <a:bodyPr/>
        <a:lstStyle/>
        <a:p>
          <a:r>
            <a:rPr lang="en-US" b="1" i="0" baseline="0"/>
            <a:t>Default </a:t>
          </a:r>
          <a:r>
            <a:rPr lang="en-US" b="0" i="0" baseline="0"/>
            <a:t>Categorical</a:t>
          </a:r>
          <a:endParaRPr lang="en-US"/>
        </a:p>
      </dgm:t>
    </dgm:pt>
    <dgm:pt modelId="{3B6690D8-A915-4844-A508-8BD60A7A9597}" type="parTrans" cxnId="{270AF860-25E1-42B0-B422-934F1A5C176C}">
      <dgm:prSet/>
      <dgm:spPr/>
      <dgm:t>
        <a:bodyPr/>
        <a:lstStyle/>
        <a:p>
          <a:endParaRPr lang="en-US"/>
        </a:p>
      </dgm:t>
    </dgm:pt>
    <dgm:pt modelId="{EB142123-3D29-4BF8-AEA7-9EA0127CAF4B}" type="sibTrans" cxnId="{270AF860-25E1-42B0-B422-934F1A5C176C}">
      <dgm:prSet/>
      <dgm:spPr/>
      <dgm:t>
        <a:bodyPr/>
        <a:lstStyle/>
        <a:p>
          <a:endParaRPr lang="en-US"/>
        </a:p>
      </dgm:t>
    </dgm:pt>
    <dgm:pt modelId="{706B5A07-F197-47F4-9CCE-388992B89196}">
      <dgm:prSet/>
      <dgm:spPr/>
      <dgm:t>
        <a:bodyPr/>
        <a:lstStyle/>
        <a:p>
          <a:r>
            <a:rPr lang="en-US"/>
            <a:t>0:The Person will not be in the defaulter list for the next month</a:t>
          </a:r>
        </a:p>
      </dgm:t>
    </dgm:pt>
    <dgm:pt modelId="{E21BAAE8-FC0A-4020-B4F6-6A44F4614FB4}" type="parTrans" cxnId="{79982488-2EC2-4604-9E5C-7F5244E0C8A6}">
      <dgm:prSet/>
      <dgm:spPr/>
      <dgm:t>
        <a:bodyPr/>
        <a:lstStyle/>
        <a:p>
          <a:endParaRPr lang="en-US"/>
        </a:p>
      </dgm:t>
    </dgm:pt>
    <dgm:pt modelId="{1070A63E-4AF4-48D7-8251-4310CB8CB287}" type="sibTrans" cxnId="{79982488-2EC2-4604-9E5C-7F5244E0C8A6}">
      <dgm:prSet/>
      <dgm:spPr/>
      <dgm:t>
        <a:bodyPr/>
        <a:lstStyle/>
        <a:p>
          <a:endParaRPr lang="en-US"/>
        </a:p>
      </dgm:t>
    </dgm:pt>
    <dgm:pt modelId="{1F51E9BD-24A7-4CAD-A889-83DD6F196957}">
      <dgm:prSet/>
      <dgm:spPr/>
      <dgm:t>
        <a:bodyPr/>
        <a:lstStyle/>
        <a:p>
          <a:r>
            <a:rPr lang="en-US" b="0" i="0" baseline="0"/>
            <a:t>1:</a:t>
          </a:r>
          <a:r>
            <a:rPr lang="en-US"/>
            <a:t> The Person will  be in the defaulter list for the next month</a:t>
          </a:r>
        </a:p>
      </dgm:t>
    </dgm:pt>
    <dgm:pt modelId="{2524C0A1-EB83-4AD1-89EC-F81F245784F6}" type="parTrans" cxnId="{8A9DAB01-DD7C-48BC-9E05-F7D3CFBF2CC7}">
      <dgm:prSet/>
      <dgm:spPr/>
      <dgm:t>
        <a:bodyPr/>
        <a:lstStyle/>
        <a:p>
          <a:endParaRPr lang="en-US"/>
        </a:p>
      </dgm:t>
    </dgm:pt>
    <dgm:pt modelId="{15001F9D-150D-45B9-9A55-9BE5E1E12C91}" type="sibTrans" cxnId="{8A9DAB01-DD7C-48BC-9E05-F7D3CFBF2CC7}">
      <dgm:prSet/>
      <dgm:spPr/>
      <dgm:t>
        <a:bodyPr/>
        <a:lstStyle/>
        <a:p>
          <a:endParaRPr lang="en-US"/>
        </a:p>
      </dgm:t>
    </dgm:pt>
    <dgm:pt modelId="{E27E64B0-A8E1-4273-B6A7-486C8C00CCF1}" type="pres">
      <dgm:prSet presAssocID="{C943FEBD-1BD0-4AF0-A319-580781B6A565}" presName="vert0" presStyleCnt="0">
        <dgm:presLayoutVars>
          <dgm:dir/>
          <dgm:animOne val="branch"/>
          <dgm:animLvl val="lvl"/>
        </dgm:presLayoutVars>
      </dgm:prSet>
      <dgm:spPr/>
    </dgm:pt>
    <dgm:pt modelId="{1876CADF-073D-4601-8319-C6C999DAE0C5}" type="pres">
      <dgm:prSet presAssocID="{73F8DA29-385C-4755-BB54-75F5578A25DE}" presName="thickLine" presStyleLbl="alignNode1" presStyleIdx="0" presStyleCnt="23"/>
      <dgm:spPr/>
    </dgm:pt>
    <dgm:pt modelId="{768DC86C-A046-44C1-9180-6C0DDE24640D}" type="pres">
      <dgm:prSet presAssocID="{73F8DA29-385C-4755-BB54-75F5578A25DE}" presName="horz1" presStyleCnt="0"/>
      <dgm:spPr/>
    </dgm:pt>
    <dgm:pt modelId="{697E6BFF-10EA-4DE3-824A-15A455AC57D0}" type="pres">
      <dgm:prSet presAssocID="{73F8DA29-385C-4755-BB54-75F5578A25DE}" presName="tx1" presStyleLbl="revTx" presStyleIdx="0" presStyleCnt="23"/>
      <dgm:spPr/>
    </dgm:pt>
    <dgm:pt modelId="{EB706662-0F54-475E-B4DB-968EE4EA9195}" type="pres">
      <dgm:prSet presAssocID="{73F8DA29-385C-4755-BB54-75F5578A25DE}" presName="vert1" presStyleCnt="0"/>
      <dgm:spPr/>
    </dgm:pt>
    <dgm:pt modelId="{5752396C-C852-4C14-B83F-44A86D222D9C}" type="pres">
      <dgm:prSet presAssocID="{69160E50-9FC4-4A63-A8E9-A4A789290D86}" presName="thickLine" presStyleLbl="alignNode1" presStyleIdx="1" presStyleCnt="23"/>
      <dgm:spPr/>
    </dgm:pt>
    <dgm:pt modelId="{16938A5E-8742-42B6-BC75-BB371FADB722}" type="pres">
      <dgm:prSet presAssocID="{69160E50-9FC4-4A63-A8E9-A4A789290D86}" presName="horz1" presStyleCnt="0"/>
      <dgm:spPr/>
    </dgm:pt>
    <dgm:pt modelId="{A8CF3FF9-E9CD-406D-A65C-71C58CDEAE41}" type="pres">
      <dgm:prSet presAssocID="{69160E50-9FC4-4A63-A8E9-A4A789290D86}" presName="tx1" presStyleLbl="revTx" presStyleIdx="1" presStyleCnt="23"/>
      <dgm:spPr/>
    </dgm:pt>
    <dgm:pt modelId="{D1B6D4E4-A40E-4A18-B996-0A33EC8A064C}" type="pres">
      <dgm:prSet presAssocID="{69160E50-9FC4-4A63-A8E9-A4A789290D86}" presName="vert1" presStyleCnt="0"/>
      <dgm:spPr/>
    </dgm:pt>
    <dgm:pt modelId="{702488EF-57D2-4021-B8D3-E32D327E5669}" type="pres">
      <dgm:prSet presAssocID="{2527A26D-0262-457A-A32E-CBD56CA44161}" presName="thickLine" presStyleLbl="alignNode1" presStyleIdx="2" presStyleCnt="23"/>
      <dgm:spPr/>
    </dgm:pt>
    <dgm:pt modelId="{7FB568F3-0151-4631-AE4E-657A45736B86}" type="pres">
      <dgm:prSet presAssocID="{2527A26D-0262-457A-A32E-CBD56CA44161}" presName="horz1" presStyleCnt="0"/>
      <dgm:spPr/>
    </dgm:pt>
    <dgm:pt modelId="{43D0123D-E96F-417D-A469-CAE2826191D2}" type="pres">
      <dgm:prSet presAssocID="{2527A26D-0262-457A-A32E-CBD56CA44161}" presName="tx1" presStyleLbl="revTx" presStyleIdx="2" presStyleCnt="23"/>
      <dgm:spPr/>
    </dgm:pt>
    <dgm:pt modelId="{FB09750B-FFF4-4139-B564-00DF631857A2}" type="pres">
      <dgm:prSet presAssocID="{2527A26D-0262-457A-A32E-CBD56CA44161}" presName="vert1" presStyleCnt="0"/>
      <dgm:spPr/>
    </dgm:pt>
    <dgm:pt modelId="{0BFAB643-FBC8-426D-A46D-3A49E6093C70}" type="pres">
      <dgm:prSet presAssocID="{15863001-5DB9-4BA6-8429-ADC1315F624D}" presName="thickLine" presStyleLbl="alignNode1" presStyleIdx="3" presStyleCnt="23"/>
      <dgm:spPr/>
    </dgm:pt>
    <dgm:pt modelId="{FBE42D89-6100-45D8-B270-901FCA19AC04}" type="pres">
      <dgm:prSet presAssocID="{15863001-5DB9-4BA6-8429-ADC1315F624D}" presName="horz1" presStyleCnt="0"/>
      <dgm:spPr/>
    </dgm:pt>
    <dgm:pt modelId="{3F12FA60-AD0C-44ED-8473-E778CA10C5FB}" type="pres">
      <dgm:prSet presAssocID="{15863001-5DB9-4BA6-8429-ADC1315F624D}" presName="tx1" presStyleLbl="revTx" presStyleIdx="3" presStyleCnt="23"/>
      <dgm:spPr/>
    </dgm:pt>
    <dgm:pt modelId="{72AF5FE3-BF0F-453F-A99F-508610B7900A}" type="pres">
      <dgm:prSet presAssocID="{15863001-5DB9-4BA6-8429-ADC1315F624D}" presName="vert1" presStyleCnt="0"/>
      <dgm:spPr/>
    </dgm:pt>
    <dgm:pt modelId="{74173FFE-8DD1-44E9-8DDA-B4CCB516FCEE}" type="pres">
      <dgm:prSet presAssocID="{D53D672A-8787-4FA8-8630-81210C5B90A9}" presName="thickLine" presStyleLbl="alignNode1" presStyleIdx="4" presStyleCnt="23"/>
      <dgm:spPr/>
    </dgm:pt>
    <dgm:pt modelId="{BA6E0F6C-B803-4F3B-8229-59B2075881DA}" type="pres">
      <dgm:prSet presAssocID="{D53D672A-8787-4FA8-8630-81210C5B90A9}" presName="horz1" presStyleCnt="0"/>
      <dgm:spPr/>
    </dgm:pt>
    <dgm:pt modelId="{01DA883F-B9AC-4C37-8FDF-8011D3366B78}" type="pres">
      <dgm:prSet presAssocID="{D53D672A-8787-4FA8-8630-81210C5B90A9}" presName="tx1" presStyleLbl="revTx" presStyleIdx="4" presStyleCnt="23"/>
      <dgm:spPr/>
    </dgm:pt>
    <dgm:pt modelId="{7DDA1244-8B77-4B91-9ADD-2AA3DB145BCF}" type="pres">
      <dgm:prSet presAssocID="{D53D672A-8787-4FA8-8630-81210C5B90A9}" presName="vert1" presStyleCnt="0"/>
      <dgm:spPr/>
    </dgm:pt>
    <dgm:pt modelId="{D4F9E187-2C90-4833-B550-92F13DA3EC6C}" type="pres">
      <dgm:prSet presAssocID="{69FD8F01-DDC8-4720-BE59-A2B2F3290EC5}" presName="thickLine" presStyleLbl="alignNode1" presStyleIdx="5" presStyleCnt="23"/>
      <dgm:spPr/>
    </dgm:pt>
    <dgm:pt modelId="{5B69CB79-E8F3-47F6-8EE3-2B5B18B7019D}" type="pres">
      <dgm:prSet presAssocID="{69FD8F01-DDC8-4720-BE59-A2B2F3290EC5}" presName="horz1" presStyleCnt="0"/>
      <dgm:spPr/>
    </dgm:pt>
    <dgm:pt modelId="{6432598E-91D5-4ED3-9468-18EC3B747720}" type="pres">
      <dgm:prSet presAssocID="{69FD8F01-DDC8-4720-BE59-A2B2F3290EC5}" presName="tx1" presStyleLbl="revTx" presStyleIdx="5" presStyleCnt="23"/>
      <dgm:spPr/>
    </dgm:pt>
    <dgm:pt modelId="{8640FBC6-84E5-4120-8A7C-D95802CA1EBF}" type="pres">
      <dgm:prSet presAssocID="{69FD8F01-DDC8-4720-BE59-A2B2F3290EC5}" presName="vert1" presStyleCnt="0"/>
      <dgm:spPr/>
    </dgm:pt>
    <dgm:pt modelId="{0A6D4E55-883D-4F0D-AFAA-3B69D86C320F}" type="pres">
      <dgm:prSet presAssocID="{AFF5FE18-3C81-460C-9265-5CF74B355C40}" presName="thickLine" presStyleLbl="alignNode1" presStyleIdx="6" presStyleCnt="23"/>
      <dgm:spPr/>
    </dgm:pt>
    <dgm:pt modelId="{A631BC7A-3958-4BED-B501-0C54EF54C2E3}" type="pres">
      <dgm:prSet presAssocID="{AFF5FE18-3C81-460C-9265-5CF74B355C40}" presName="horz1" presStyleCnt="0"/>
      <dgm:spPr/>
    </dgm:pt>
    <dgm:pt modelId="{795C52FC-EDE8-45B0-9DB2-DA43749BE40D}" type="pres">
      <dgm:prSet presAssocID="{AFF5FE18-3C81-460C-9265-5CF74B355C40}" presName="tx1" presStyleLbl="revTx" presStyleIdx="6" presStyleCnt="23"/>
      <dgm:spPr/>
    </dgm:pt>
    <dgm:pt modelId="{A8BC19BE-1AE5-4785-9CDF-A3CD0FF5A788}" type="pres">
      <dgm:prSet presAssocID="{AFF5FE18-3C81-460C-9265-5CF74B355C40}" presName="vert1" presStyleCnt="0"/>
      <dgm:spPr/>
    </dgm:pt>
    <dgm:pt modelId="{74B588E0-573B-4FE0-8D9A-C19BF6B985C4}" type="pres">
      <dgm:prSet presAssocID="{34F8F653-F390-4CA9-99B3-0AAE0A7CE307}" presName="thickLine" presStyleLbl="alignNode1" presStyleIdx="7" presStyleCnt="23"/>
      <dgm:spPr/>
    </dgm:pt>
    <dgm:pt modelId="{CDB6EB2F-14D6-4F74-BA79-E17487E0CC3B}" type="pres">
      <dgm:prSet presAssocID="{34F8F653-F390-4CA9-99B3-0AAE0A7CE307}" presName="horz1" presStyleCnt="0"/>
      <dgm:spPr/>
    </dgm:pt>
    <dgm:pt modelId="{68F012EE-8FE9-4E1F-8AC5-AF8F1D7CBB1A}" type="pres">
      <dgm:prSet presAssocID="{34F8F653-F390-4CA9-99B3-0AAE0A7CE307}" presName="tx1" presStyleLbl="revTx" presStyleIdx="7" presStyleCnt="23"/>
      <dgm:spPr/>
    </dgm:pt>
    <dgm:pt modelId="{210F7E85-450D-4855-80F2-E40DA61868C3}" type="pres">
      <dgm:prSet presAssocID="{34F8F653-F390-4CA9-99B3-0AAE0A7CE307}" presName="vert1" presStyleCnt="0"/>
      <dgm:spPr/>
    </dgm:pt>
    <dgm:pt modelId="{E1AEBFFA-5EFD-44C8-8392-6E06B6D0E3A6}" type="pres">
      <dgm:prSet presAssocID="{7B7B9C8E-47B0-4BFB-AD9B-0762D3BA90D5}" presName="thickLine" presStyleLbl="alignNode1" presStyleIdx="8" presStyleCnt="23"/>
      <dgm:spPr/>
    </dgm:pt>
    <dgm:pt modelId="{E8CF4DC5-1C07-476A-BD68-BA7464530A0B}" type="pres">
      <dgm:prSet presAssocID="{7B7B9C8E-47B0-4BFB-AD9B-0762D3BA90D5}" presName="horz1" presStyleCnt="0"/>
      <dgm:spPr/>
    </dgm:pt>
    <dgm:pt modelId="{B3BF9F3E-76B3-4C7C-9258-E6430A8D8178}" type="pres">
      <dgm:prSet presAssocID="{7B7B9C8E-47B0-4BFB-AD9B-0762D3BA90D5}" presName="tx1" presStyleLbl="revTx" presStyleIdx="8" presStyleCnt="23"/>
      <dgm:spPr/>
    </dgm:pt>
    <dgm:pt modelId="{4DE085AC-548F-42D3-83E7-89925576FD99}" type="pres">
      <dgm:prSet presAssocID="{7B7B9C8E-47B0-4BFB-AD9B-0762D3BA90D5}" presName="vert1" presStyleCnt="0"/>
      <dgm:spPr/>
    </dgm:pt>
    <dgm:pt modelId="{4FCE3EEB-E101-4851-89EA-2A18B99402FB}" type="pres">
      <dgm:prSet presAssocID="{F4FF36E9-CCA3-4C50-A438-C96C09B4A10A}" presName="thickLine" presStyleLbl="alignNode1" presStyleIdx="9" presStyleCnt="23"/>
      <dgm:spPr/>
    </dgm:pt>
    <dgm:pt modelId="{9BB5D9B4-9283-4A60-82BB-B7D111276141}" type="pres">
      <dgm:prSet presAssocID="{F4FF36E9-CCA3-4C50-A438-C96C09B4A10A}" presName="horz1" presStyleCnt="0"/>
      <dgm:spPr/>
    </dgm:pt>
    <dgm:pt modelId="{82281B91-055F-48BA-81B1-EFFE52421000}" type="pres">
      <dgm:prSet presAssocID="{F4FF36E9-CCA3-4C50-A438-C96C09B4A10A}" presName="tx1" presStyleLbl="revTx" presStyleIdx="9" presStyleCnt="23"/>
      <dgm:spPr/>
    </dgm:pt>
    <dgm:pt modelId="{0539DA37-B15B-44D5-AE3F-8CD8A6B476A7}" type="pres">
      <dgm:prSet presAssocID="{F4FF36E9-CCA3-4C50-A438-C96C09B4A10A}" presName="vert1" presStyleCnt="0"/>
      <dgm:spPr/>
    </dgm:pt>
    <dgm:pt modelId="{F4EF86FF-CB01-4A9B-9417-043DEF7AB002}" type="pres">
      <dgm:prSet presAssocID="{85BC8A0A-6A91-42B6-9F4B-1249AA5F1C87}" presName="thickLine" presStyleLbl="alignNode1" presStyleIdx="10" presStyleCnt="23"/>
      <dgm:spPr/>
    </dgm:pt>
    <dgm:pt modelId="{12CADACB-DFCC-4810-A901-E648756823E3}" type="pres">
      <dgm:prSet presAssocID="{85BC8A0A-6A91-42B6-9F4B-1249AA5F1C87}" presName="horz1" presStyleCnt="0"/>
      <dgm:spPr/>
    </dgm:pt>
    <dgm:pt modelId="{FE792D45-5D68-4C26-8773-3BD48122EA77}" type="pres">
      <dgm:prSet presAssocID="{85BC8A0A-6A91-42B6-9F4B-1249AA5F1C87}" presName="tx1" presStyleLbl="revTx" presStyleIdx="10" presStyleCnt="23"/>
      <dgm:spPr/>
    </dgm:pt>
    <dgm:pt modelId="{C81F38D7-5764-4DF2-AAF5-028F2AB2BD52}" type="pres">
      <dgm:prSet presAssocID="{85BC8A0A-6A91-42B6-9F4B-1249AA5F1C87}" presName="vert1" presStyleCnt="0"/>
      <dgm:spPr/>
    </dgm:pt>
    <dgm:pt modelId="{0CFB2714-C073-459B-92EF-3B319FC8CC8B}" type="pres">
      <dgm:prSet presAssocID="{7735CA59-7E9B-4D1A-AC90-B6F019A2939A}" presName="thickLine" presStyleLbl="alignNode1" presStyleIdx="11" presStyleCnt="23"/>
      <dgm:spPr/>
    </dgm:pt>
    <dgm:pt modelId="{A33C2027-E660-47E2-B05A-8488B8E083A9}" type="pres">
      <dgm:prSet presAssocID="{7735CA59-7E9B-4D1A-AC90-B6F019A2939A}" presName="horz1" presStyleCnt="0"/>
      <dgm:spPr/>
    </dgm:pt>
    <dgm:pt modelId="{9252EEA9-8278-44B0-A710-6E138D8B5712}" type="pres">
      <dgm:prSet presAssocID="{7735CA59-7E9B-4D1A-AC90-B6F019A2939A}" presName="tx1" presStyleLbl="revTx" presStyleIdx="11" presStyleCnt="23"/>
      <dgm:spPr/>
    </dgm:pt>
    <dgm:pt modelId="{4B3DD119-68D9-41B7-ABD8-74B498BDB75B}" type="pres">
      <dgm:prSet presAssocID="{7735CA59-7E9B-4D1A-AC90-B6F019A2939A}" presName="vert1" presStyleCnt="0"/>
      <dgm:spPr/>
    </dgm:pt>
    <dgm:pt modelId="{08628870-BD32-4A1E-BC28-599705F0F6EA}" type="pres">
      <dgm:prSet presAssocID="{46DDFF46-589D-402E-8DFE-539964AD4A57}" presName="thickLine" presStyleLbl="alignNode1" presStyleIdx="12" presStyleCnt="23"/>
      <dgm:spPr/>
    </dgm:pt>
    <dgm:pt modelId="{C0539341-3CFB-40AB-8179-C8451B95D52F}" type="pres">
      <dgm:prSet presAssocID="{46DDFF46-589D-402E-8DFE-539964AD4A57}" presName="horz1" presStyleCnt="0"/>
      <dgm:spPr/>
    </dgm:pt>
    <dgm:pt modelId="{FB5DC62B-A68E-4C73-8522-090B122027BD}" type="pres">
      <dgm:prSet presAssocID="{46DDFF46-589D-402E-8DFE-539964AD4A57}" presName="tx1" presStyleLbl="revTx" presStyleIdx="12" presStyleCnt="23"/>
      <dgm:spPr/>
    </dgm:pt>
    <dgm:pt modelId="{29AB402D-C9BB-47C9-9117-84FAF10201E9}" type="pres">
      <dgm:prSet presAssocID="{46DDFF46-589D-402E-8DFE-539964AD4A57}" presName="vert1" presStyleCnt="0"/>
      <dgm:spPr/>
    </dgm:pt>
    <dgm:pt modelId="{870D936E-4E49-4733-BEEB-D740AC7644B1}" type="pres">
      <dgm:prSet presAssocID="{2816CC85-07AB-4745-A5C7-B8AE725212E7}" presName="thickLine" presStyleLbl="alignNode1" presStyleIdx="13" presStyleCnt="23"/>
      <dgm:spPr/>
    </dgm:pt>
    <dgm:pt modelId="{59F6F112-3EBE-4FB1-85D1-9E588976A152}" type="pres">
      <dgm:prSet presAssocID="{2816CC85-07AB-4745-A5C7-B8AE725212E7}" presName="horz1" presStyleCnt="0"/>
      <dgm:spPr/>
    </dgm:pt>
    <dgm:pt modelId="{9BFED43F-4D6E-4121-83E0-5B8076DBF835}" type="pres">
      <dgm:prSet presAssocID="{2816CC85-07AB-4745-A5C7-B8AE725212E7}" presName="tx1" presStyleLbl="revTx" presStyleIdx="13" presStyleCnt="23"/>
      <dgm:spPr/>
    </dgm:pt>
    <dgm:pt modelId="{03D1C3E2-F772-4BDA-B8B5-FBDAB346BDD3}" type="pres">
      <dgm:prSet presAssocID="{2816CC85-07AB-4745-A5C7-B8AE725212E7}" presName="vert1" presStyleCnt="0"/>
      <dgm:spPr/>
    </dgm:pt>
    <dgm:pt modelId="{E41BC7FB-C904-4F1B-9A95-535325F798C5}" type="pres">
      <dgm:prSet presAssocID="{9E724FFD-3939-40E0-9EC8-769D233654EA}" presName="thickLine" presStyleLbl="alignNode1" presStyleIdx="14" presStyleCnt="23"/>
      <dgm:spPr/>
    </dgm:pt>
    <dgm:pt modelId="{23015805-5144-4F05-8ADD-1C1BF256C13D}" type="pres">
      <dgm:prSet presAssocID="{9E724FFD-3939-40E0-9EC8-769D233654EA}" presName="horz1" presStyleCnt="0"/>
      <dgm:spPr/>
    </dgm:pt>
    <dgm:pt modelId="{CEBABD95-EA4F-4A97-896B-39CB886DA23E}" type="pres">
      <dgm:prSet presAssocID="{9E724FFD-3939-40E0-9EC8-769D233654EA}" presName="tx1" presStyleLbl="revTx" presStyleIdx="14" presStyleCnt="23"/>
      <dgm:spPr/>
    </dgm:pt>
    <dgm:pt modelId="{24EA3B77-E19A-4C2D-A7FC-7CEE17BE72A7}" type="pres">
      <dgm:prSet presAssocID="{9E724FFD-3939-40E0-9EC8-769D233654EA}" presName="vert1" presStyleCnt="0"/>
      <dgm:spPr/>
    </dgm:pt>
    <dgm:pt modelId="{5726155B-C88C-48CE-8C6D-7DC5057662E7}" type="pres">
      <dgm:prSet presAssocID="{395C9CFB-F9A6-46E9-A00E-A59A4B7DDADF}" presName="thickLine" presStyleLbl="alignNode1" presStyleIdx="15" presStyleCnt="23"/>
      <dgm:spPr/>
    </dgm:pt>
    <dgm:pt modelId="{E4A9E14B-65CA-4BD8-A350-FF00F16BFD26}" type="pres">
      <dgm:prSet presAssocID="{395C9CFB-F9A6-46E9-A00E-A59A4B7DDADF}" presName="horz1" presStyleCnt="0"/>
      <dgm:spPr/>
    </dgm:pt>
    <dgm:pt modelId="{DEE3D519-2837-46D6-B415-CEC2CCDF1D8E}" type="pres">
      <dgm:prSet presAssocID="{395C9CFB-F9A6-46E9-A00E-A59A4B7DDADF}" presName="tx1" presStyleLbl="revTx" presStyleIdx="15" presStyleCnt="23"/>
      <dgm:spPr/>
    </dgm:pt>
    <dgm:pt modelId="{464AA1B3-0550-4A10-95F1-835DB40C65F5}" type="pres">
      <dgm:prSet presAssocID="{395C9CFB-F9A6-46E9-A00E-A59A4B7DDADF}" presName="vert1" presStyleCnt="0"/>
      <dgm:spPr/>
    </dgm:pt>
    <dgm:pt modelId="{5372F8EA-3394-4478-8924-587758AC650A}" type="pres">
      <dgm:prSet presAssocID="{C0608A8D-08D9-4C37-B5A2-73F37AAA1659}" presName="thickLine" presStyleLbl="alignNode1" presStyleIdx="16" presStyleCnt="23"/>
      <dgm:spPr/>
    </dgm:pt>
    <dgm:pt modelId="{F0FEF471-D61A-46D9-94BD-177FBC0697A6}" type="pres">
      <dgm:prSet presAssocID="{C0608A8D-08D9-4C37-B5A2-73F37AAA1659}" presName="horz1" presStyleCnt="0"/>
      <dgm:spPr/>
    </dgm:pt>
    <dgm:pt modelId="{29DB56C7-0292-4692-8CAE-80850573C27A}" type="pres">
      <dgm:prSet presAssocID="{C0608A8D-08D9-4C37-B5A2-73F37AAA1659}" presName="tx1" presStyleLbl="revTx" presStyleIdx="16" presStyleCnt="23"/>
      <dgm:spPr/>
    </dgm:pt>
    <dgm:pt modelId="{78EAA16F-F362-40C5-A385-F5E0161E66B1}" type="pres">
      <dgm:prSet presAssocID="{C0608A8D-08D9-4C37-B5A2-73F37AAA1659}" presName="vert1" presStyleCnt="0"/>
      <dgm:spPr/>
    </dgm:pt>
    <dgm:pt modelId="{A4AB0B62-13F6-400E-AE4B-D467D57EF403}" type="pres">
      <dgm:prSet presAssocID="{0FFED633-CA3E-400F-AF0D-82D204BBB754}" presName="thickLine" presStyleLbl="alignNode1" presStyleIdx="17" presStyleCnt="23"/>
      <dgm:spPr/>
    </dgm:pt>
    <dgm:pt modelId="{A80B9895-9B21-4B4D-9626-DF39E8EBCB5A}" type="pres">
      <dgm:prSet presAssocID="{0FFED633-CA3E-400F-AF0D-82D204BBB754}" presName="horz1" presStyleCnt="0"/>
      <dgm:spPr/>
    </dgm:pt>
    <dgm:pt modelId="{A48D9F11-B8E8-43D9-9D35-B9EE4AE2541D}" type="pres">
      <dgm:prSet presAssocID="{0FFED633-CA3E-400F-AF0D-82D204BBB754}" presName="tx1" presStyleLbl="revTx" presStyleIdx="17" presStyleCnt="23"/>
      <dgm:spPr/>
    </dgm:pt>
    <dgm:pt modelId="{609A3861-6BBF-442C-92A4-278D6DA2C141}" type="pres">
      <dgm:prSet presAssocID="{0FFED633-CA3E-400F-AF0D-82D204BBB754}" presName="vert1" presStyleCnt="0"/>
      <dgm:spPr/>
    </dgm:pt>
    <dgm:pt modelId="{0C191151-F136-4BAA-9BE9-6B89383FA4C9}" type="pres">
      <dgm:prSet presAssocID="{88E1A755-B644-4A83-AB69-48DDBCBA32E5}" presName="thickLine" presStyleLbl="alignNode1" presStyleIdx="18" presStyleCnt="23"/>
      <dgm:spPr/>
    </dgm:pt>
    <dgm:pt modelId="{771CF642-D8DB-4C42-B91A-639E93A9EAE8}" type="pres">
      <dgm:prSet presAssocID="{88E1A755-B644-4A83-AB69-48DDBCBA32E5}" presName="horz1" presStyleCnt="0"/>
      <dgm:spPr/>
    </dgm:pt>
    <dgm:pt modelId="{3D60E7BE-5BD6-4BF4-846E-A4581918727C}" type="pres">
      <dgm:prSet presAssocID="{88E1A755-B644-4A83-AB69-48DDBCBA32E5}" presName="tx1" presStyleLbl="revTx" presStyleIdx="18" presStyleCnt="23"/>
      <dgm:spPr/>
    </dgm:pt>
    <dgm:pt modelId="{B4E84EB9-CDD4-4C9F-9F6E-E49BFE97107F}" type="pres">
      <dgm:prSet presAssocID="{88E1A755-B644-4A83-AB69-48DDBCBA32E5}" presName="vert1" presStyleCnt="0"/>
      <dgm:spPr/>
    </dgm:pt>
    <dgm:pt modelId="{375C025B-6962-4771-B9F5-804C4E71139B}" type="pres">
      <dgm:prSet presAssocID="{7975E924-07C3-41F6-BBD7-60DB9605D1C6}" presName="thickLine" presStyleLbl="alignNode1" presStyleIdx="19" presStyleCnt="23"/>
      <dgm:spPr/>
    </dgm:pt>
    <dgm:pt modelId="{36399A03-91C2-4C71-BC9F-C3D60B5C191F}" type="pres">
      <dgm:prSet presAssocID="{7975E924-07C3-41F6-BBD7-60DB9605D1C6}" presName="horz1" presStyleCnt="0"/>
      <dgm:spPr/>
    </dgm:pt>
    <dgm:pt modelId="{7577D534-2FE7-41B4-9D00-E44183BE5CCD}" type="pres">
      <dgm:prSet presAssocID="{7975E924-07C3-41F6-BBD7-60DB9605D1C6}" presName="tx1" presStyleLbl="revTx" presStyleIdx="19" presStyleCnt="23"/>
      <dgm:spPr/>
    </dgm:pt>
    <dgm:pt modelId="{25202DC5-B110-436A-8DA9-C741C8CBBF24}" type="pres">
      <dgm:prSet presAssocID="{7975E924-07C3-41F6-BBD7-60DB9605D1C6}" presName="vert1" presStyleCnt="0"/>
      <dgm:spPr/>
    </dgm:pt>
    <dgm:pt modelId="{3328CC13-23E3-4980-AEF3-2ADB52B1F96E}" type="pres">
      <dgm:prSet presAssocID="{297FD44A-BDD3-42B1-ACE2-46384A21ADDF}" presName="thickLine" presStyleLbl="alignNode1" presStyleIdx="20" presStyleCnt="23"/>
      <dgm:spPr/>
    </dgm:pt>
    <dgm:pt modelId="{EBE5B0C0-F2EC-488F-BADA-DBE95B807328}" type="pres">
      <dgm:prSet presAssocID="{297FD44A-BDD3-42B1-ACE2-46384A21ADDF}" presName="horz1" presStyleCnt="0"/>
      <dgm:spPr/>
    </dgm:pt>
    <dgm:pt modelId="{3C4CA092-F829-4769-859D-72CFA9A0F173}" type="pres">
      <dgm:prSet presAssocID="{297FD44A-BDD3-42B1-ACE2-46384A21ADDF}" presName="tx1" presStyleLbl="revTx" presStyleIdx="20" presStyleCnt="23"/>
      <dgm:spPr/>
    </dgm:pt>
    <dgm:pt modelId="{3684EAE6-832C-4E68-B804-3BC1FDD51A55}" type="pres">
      <dgm:prSet presAssocID="{297FD44A-BDD3-42B1-ACE2-46384A21ADDF}" presName="vert1" presStyleCnt="0"/>
      <dgm:spPr/>
    </dgm:pt>
    <dgm:pt modelId="{35269C19-65A5-4AD6-BA8A-362E5F39C86C}" type="pres">
      <dgm:prSet presAssocID="{706B5A07-F197-47F4-9CCE-388992B89196}" presName="thickLine" presStyleLbl="alignNode1" presStyleIdx="21" presStyleCnt="23"/>
      <dgm:spPr/>
    </dgm:pt>
    <dgm:pt modelId="{055FAD39-AFB2-44CA-B79A-4091ED305CCD}" type="pres">
      <dgm:prSet presAssocID="{706B5A07-F197-47F4-9CCE-388992B89196}" presName="horz1" presStyleCnt="0"/>
      <dgm:spPr/>
    </dgm:pt>
    <dgm:pt modelId="{88FBECAC-B355-4C07-835C-90C2E34C4A17}" type="pres">
      <dgm:prSet presAssocID="{706B5A07-F197-47F4-9CCE-388992B89196}" presName="tx1" presStyleLbl="revTx" presStyleIdx="21" presStyleCnt="23"/>
      <dgm:spPr/>
    </dgm:pt>
    <dgm:pt modelId="{7458836F-6A59-457F-AF65-87A3F3C1F140}" type="pres">
      <dgm:prSet presAssocID="{706B5A07-F197-47F4-9CCE-388992B89196}" presName="vert1" presStyleCnt="0"/>
      <dgm:spPr/>
    </dgm:pt>
    <dgm:pt modelId="{DAACB1D7-7783-441E-B27B-FD9BE8FD050A}" type="pres">
      <dgm:prSet presAssocID="{1F51E9BD-24A7-4CAD-A889-83DD6F196957}" presName="thickLine" presStyleLbl="alignNode1" presStyleIdx="22" presStyleCnt="23"/>
      <dgm:spPr/>
    </dgm:pt>
    <dgm:pt modelId="{662AF3D8-D4C8-44FC-AA52-31B3FB7E88E1}" type="pres">
      <dgm:prSet presAssocID="{1F51E9BD-24A7-4CAD-A889-83DD6F196957}" presName="horz1" presStyleCnt="0"/>
      <dgm:spPr/>
    </dgm:pt>
    <dgm:pt modelId="{701936B0-D3C1-47A1-9A51-8C60F8A57817}" type="pres">
      <dgm:prSet presAssocID="{1F51E9BD-24A7-4CAD-A889-83DD6F196957}" presName="tx1" presStyleLbl="revTx" presStyleIdx="22" presStyleCnt="23"/>
      <dgm:spPr/>
    </dgm:pt>
    <dgm:pt modelId="{80F23EC7-3708-4CF8-87D4-B39D6954BEFE}" type="pres">
      <dgm:prSet presAssocID="{1F51E9BD-24A7-4CAD-A889-83DD6F196957}" presName="vert1" presStyleCnt="0"/>
      <dgm:spPr/>
    </dgm:pt>
  </dgm:ptLst>
  <dgm:cxnLst>
    <dgm:cxn modelId="{8A9DAB01-DD7C-48BC-9E05-F7D3CFBF2CC7}" srcId="{C943FEBD-1BD0-4AF0-A319-580781B6A565}" destId="{1F51E9BD-24A7-4CAD-A889-83DD6F196957}" srcOrd="22" destOrd="0" parTransId="{2524C0A1-EB83-4AD1-89EC-F81F245784F6}" sibTransId="{15001F9D-150D-45B9-9A55-9BE5E1E12C91}"/>
    <dgm:cxn modelId="{E2474D02-BD25-41D8-92F9-EDF129C59387}" type="presOf" srcId="{C0608A8D-08D9-4C37-B5A2-73F37AAA1659}" destId="{29DB56C7-0292-4692-8CAE-80850573C27A}" srcOrd="0" destOrd="0" presId="urn:microsoft.com/office/officeart/2008/layout/LinedList"/>
    <dgm:cxn modelId="{DEFEC404-889A-41C0-B90F-C1A39010EB1E}" type="presOf" srcId="{69FD8F01-DDC8-4720-BE59-A2B2F3290EC5}" destId="{6432598E-91D5-4ED3-9468-18EC3B747720}" srcOrd="0" destOrd="0" presId="urn:microsoft.com/office/officeart/2008/layout/LinedList"/>
    <dgm:cxn modelId="{ECCB3E06-6A35-46AC-86A1-7C36A521FC53}" srcId="{C943FEBD-1BD0-4AF0-A319-580781B6A565}" destId="{15863001-5DB9-4BA6-8429-ADC1315F624D}" srcOrd="3" destOrd="0" parTransId="{2BA91E80-D367-4AB2-890C-19D11B721BD5}" sibTransId="{A1C25D1F-F91E-4337-B614-B9CF4227B9A0}"/>
    <dgm:cxn modelId="{05AA630E-0BFE-4EB1-9ED0-88E99C9A4AE0}" type="presOf" srcId="{15863001-5DB9-4BA6-8429-ADC1315F624D}" destId="{3F12FA60-AD0C-44ED-8473-E778CA10C5FB}" srcOrd="0" destOrd="0" presId="urn:microsoft.com/office/officeart/2008/layout/LinedList"/>
    <dgm:cxn modelId="{BE6BC814-42FC-46FB-B70E-754C12FF1336}" srcId="{C943FEBD-1BD0-4AF0-A319-580781B6A565}" destId="{2816CC85-07AB-4745-A5C7-B8AE725212E7}" srcOrd="13" destOrd="0" parTransId="{506F3CAC-C292-4FAD-88F2-514D866F30C3}" sibTransId="{25EF17B6-5E99-4A42-9968-13308B13A090}"/>
    <dgm:cxn modelId="{35E1D31D-9DBA-4DDB-BB53-8217DB55472A}" srcId="{C943FEBD-1BD0-4AF0-A319-580781B6A565}" destId="{7975E924-07C3-41F6-BBD7-60DB9605D1C6}" srcOrd="19" destOrd="0" parTransId="{E94F2C3B-B89A-4B23-9E45-FC9BAF6960FF}" sibTransId="{594FAFCA-4989-4143-AF3D-25305696DDA4}"/>
    <dgm:cxn modelId="{1F7AAB22-C9AA-493E-93F9-86DFA3D2273F}" srcId="{C943FEBD-1BD0-4AF0-A319-580781B6A565}" destId="{73F8DA29-385C-4755-BB54-75F5578A25DE}" srcOrd="0" destOrd="0" parTransId="{4895468B-387F-4794-8D06-AFB51CF6D5A8}" sibTransId="{E556463B-7CB8-43CA-9CDF-C5FF6AC23E99}"/>
    <dgm:cxn modelId="{4F2B1628-1A9B-48BC-A40D-4BE3574AC7A3}" type="presOf" srcId="{C943FEBD-1BD0-4AF0-A319-580781B6A565}" destId="{E27E64B0-A8E1-4273-B6A7-486C8C00CCF1}" srcOrd="0" destOrd="0" presId="urn:microsoft.com/office/officeart/2008/layout/LinedList"/>
    <dgm:cxn modelId="{60732833-0328-4C2F-A6A3-86CF30362F3A}" type="presOf" srcId="{706B5A07-F197-47F4-9CCE-388992B89196}" destId="{88FBECAC-B355-4C07-835C-90C2E34C4A17}" srcOrd="0" destOrd="0" presId="urn:microsoft.com/office/officeart/2008/layout/LinedList"/>
    <dgm:cxn modelId="{42585F39-2096-4CCE-9256-B105B49AA0E8}" type="presOf" srcId="{88E1A755-B644-4A83-AB69-48DDBCBA32E5}" destId="{3D60E7BE-5BD6-4BF4-846E-A4581918727C}" srcOrd="0" destOrd="0" presId="urn:microsoft.com/office/officeart/2008/layout/LinedList"/>
    <dgm:cxn modelId="{E2DFC640-7F84-46C5-AF4B-03B77F318B06}" type="presOf" srcId="{69160E50-9FC4-4A63-A8E9-A4A789290D86}" destId="{A8CF3FF9-E9CD-406D-A65C-71C58CDEAE41}" srcOrd="0" destOrd="0" presId="urn:microsoft.com/office/officeart/2008/layout/LinedList"/>
    <dgm:cxn modelId="{C2A6A85D-EB26-4190-B597-E98B88183D8B}" type="presOf" srcId="{AFF5FE18-3C81-460C-9265-5CF74B355C40}" destId="{795C52FC-EDE8-45B0-9DB2-DA43749BE40D}" srcOrd="0" destOrd="0" presId="urn:microsoft.com/office/officeart/2008/layout/LinedList"/>
    <dgm:cxn modelId="{270AF860-25E1-42B0-B422-934F1A5C176C}" srcId="{C943FEBD-1BD0-4AF0-A319-580781B6A565}" destId="{297FD44A-BDD3-42B1-ACE2-46384A21ADDF}" srcOrd="20" destOrd="0" parTransId="{3B6690D8-A915-4844-A508-8BD60A7A9597}" sibTransId="{EB142123-3D29-4BF8-AEA7-9EA0127CAF4B}"/>
    <dgm:cxn modelId="{2B276161-BF28-421E-BC4B-A86E567E9B5E}" srcId="{C943FEBD-1BD0-4AF0-A319-580781B6A565}" destId="{2527A26D-0262-457A-A32E-CBD56CA44161}" srcOrd="2" destOrd="0" parTransId="{A78F0772-6AF5-44AE-9D71-208C3AF2E9C3}" sibTransId="{62B1FFD0-845D-4EF6-896D-EBE0C1557D20}"/>
    <dgm:cxn modelId="{5030EC61-F887-42C4-B65B-A0F920660A36}" type="presOf" srcId="{46DDFF46-589D-402E-8DFE-539964AD4A57}" destId="{FB5DC62B-A68E-4C73-8522-090B122027BD}" srcOrd="0" destOrd="0" presId="urn:microsoft.com/office/officeart/2008/layout/LinedList"/>
    <dgm:cxn modelId="{49AB4D62-4540-424E-A9D7-C66FF7F1E946}" type="presOf" srcId="{1F51E9BD-24A7-4CAD-A889-83DD6F196957}" destId="{701936B0-D3C1-47A1-9A51-8C60F8A57817}" srcOrd="0" destOrd="0" presId="urn:microsoft.com/office/officeart/2008/layout/LinedList"/>
    <dgm:cxn modelId="{E9C9C643-4072-4308-BCD8-085F038DD415}" srcId="{C943FEBD-1BD0-4AF0-A319-580781B6A565}" destId="{46DDFF46-589D-402E-8DFE-539964AD4A57}" srcOrd="12" destOrd="0" parTransId="{880930BD-C83C-417E-B4F1-6966459BF852}" sibTransId="{CC04DADB-0E3F-430C-8E68-9BFEF80FEC47}"/>
    <dgm:cxn modelId="{D3EA9966-EE5B-4BA1-8829-00077117D533}" type="presOf" srcId="{85BC8A0A-6A91-42B6-9F4B-1249AA5F1C87}" destId="{FE792D45-5D68-4C26-8773-3BD48122EA77}" srcOrd="0" destOrd="0" presId="urn:microsoft.com/office/officeart/2008/layout/LinedList"/>
    <dgm:cxn modelId="{4723096B-3B9B-4901-B096-607CF9B33EAA}" type="presOf" srcId="{73F8DA29-385C-4755-BB54-75F5578A25DE}" destId="{697E6BFF-10EA-4DE3-824A-15A455AC57D0}" srcOrd="0" destOrd="0" presId="urn:microsoft.com/office/officeart/2008/layout/LinedList"/>
    <dgm:cxn modelId="{E63D5B4B-BF22-4CCC-B4F7-BCF77C4C3A15}" type="presOf" srcId="{F4FF36E9-CCA3-4C50-A438-C96C09B4A10A}" destId="{82281B91-055F-48BA-81B1-EFFE52421000}" srcOrd="0" destOrd="0" presId="urn:microsoft.com/office/officeart/2008/layout/LinedList"/>
    <dgm:cxn modelId="{093F814B-6DED-4125-8D62-0DEB3AA6E9D9}" srcId="{C943FEBD-1BD0-4AF0-A319-580781B6A565}" destId="{88E1A755-B644-4A83-AB69-48DDBCBA32E5}" srcOrd="18" destOrd="0" parTransId="{BC397396-A4B9-4CE6-8B93-293150A1F7D2}" sibTransId="{7313A3E5-EBED-48A2-B2C4-34C5B0B82D44}"/>
    <dgm:cxn modelId="{F949136C-244E-4B07-8027-C9265D25B5A7}" type="presOf" srcId="{2816CC85-07AB-4745-A5C7-B8AE725212E7}" destId="{9BFED43F-4D6E-4121-83E0-5B8076DBF835}" srcOrd="0" destOrd="0" presId="urn:microsoft.com/office/officeart/2008/layout/LinedList"/>
    <dgm:cxn modelId="{9EE01071-E200-4AA3-A505-25E3EF98B873}" srcId="{C943FEBD-1BD0-4AF0-A319-580781B6A565}" destId="{C0608A8D-08D9-4C37-B5A2-73F37AAA1659}" srcOrd="16" destOrd="0" parTransId="{6DD31EA0-1D10-492C-B82F-0F821EF67B9D}" sibTransId="{1B8E5175-A055-4060-A972-DB62412BDF9D}"/>
    <dgm:cxn modelId="{133D1D51-FADC-441D-A967-7D20A204B915}" type="presOf" srcId="{7975E924-07C3-41F6-BBD7-60DB9605D1C6}" destId="{7577D534-2FE7-41B4-9D00-E44183BE5CCD}" srcOrd="0" destOrd="0" presId="urn:microsoft.com/office/officeart/2008/layout/LinedList"/>
    <dgm:cxn modelId="{DF2A7E72-3860-4898-B017-0BDD7AEC9528}" type="presOf" srcId="{7735CA59-7E9B-4D1A-AC90-B6F019A2939A}" destId="{9252EEA9-8278-44B0-A710-6E138D8B5712}" srcOrd="0" destOrd="0" presId="urn:microsoft.com/office/officeart/2008/layout/LinedList"/>
    <dgm:cxn modelId="{8EB28456-454B-40C2-940B-3D821FD20D55}" type="presOf" srcId="{2527A26D-0262-457A-A32E-CBD56CA44161}" destId="{43D0123D-E96F-417D-A469-CAE2826191D2}" srcOrd="0" destOrd="0" presId="urn:microsoft.com/office/officeart/2008/layout/LinedList"/>
    <dgm:cxn modelId="{F27B0057-4DB6-49F6-914C-57423FC7E6E3}" srcId="{C943FEBD-1BD0-4AF0-A319-580781B6A565}" destId="{0FFED633-CA3E-400F-AF0D-82D204BBB754}" srcOrd="17" destOrd="0" parTransId="{607957CD-F6DF-4479-AF78-131757471C74}" sibTransId="{8D7742B1-62E2-4B92-91C1-44B51B4A3C2B}"/>
    <dgm:cxn modelId="{7A009E7E-69EC-409A-8947-A4B570711D11}" srcId="{C943FEBD-1BD0-4AF0-A319-580781B6A565}" destId="{34F8F653-F390-4CA9-99B3-0AAE0A7CE307}" srcOrd="7" destOrd="0" parTransId="{9CBD5C6C-7928-400D-8684-BD2E2883F4C4}" sibTransId="{C67B5982-B571-43ED-A281-040E8A7CA720}"/>
    <dgm:cxn modelId="{452C5083-B20E-4EAA-A542-646C9FA8FBCD}" type="presOf" srcId="{9E724FFD-3939-40E0-9EC8-769D233654EA}" destId="{CEBABD95-EA4F-4A97-896B-39CB886DA23E}" srcOrd="0" destOrd="0" presId="urn:microsoft.com/office/officeart/2008/layout/LinedList"/>
    <dgm:cxn modelId="{79982488-2EC2-4604-9E5C-7F5244E0C8A6}" srcId="{C943FEBD-1BD0-4AF0-A319-580781B6A565}" destId="{706B5A07-F197-47F4-9CCE-388992B89196}" srcOrd="21" destOrd="0" parTransId="{E21BAAE8-FC0A-4020-B4F6-6A44F4614FB4}" sibTransId="{1070A63E-4AF4-48D7-8251-4310CB8CB287}"/>
    <dgm:cxn modelId="{0AAA6B8A-CEC8-4CFB-B18A-26F9F0282049}" type="presOf" srcId="{395C9CFB-F9A6-46E9-A00E-A59A4B7DDADF}" destId="{DEE3D519-2837-46D6-B415-CEC2CCDF1D8E}" srcOrd="0" destOrd="0" presId="urn:microsoft.com/office/officeart/2008/layout/LinedList"/>
    <dgm:cxn modelId="{A96DD18D-C84D-40DF-940F-D3F2CD34C5B3}" srcId="{C943FEBD-1BD0-4AF0-A319-580781B6A565}" destId="{7735CA59-7E9B-4D1A-AC90-B6F019A2939A}" srcOrd="11" destOrd="0" parTransId="{B7B44FA8-902B-4640-BD1E-D31AF484CEBF}" sibTransId="{4753D6A7-6060-423A-97E8-BC15524C14D4}"/>
    <dgm:cxn modelId="{DBB8A5A6-E27F-47EC-B8BF-00A4385607C4}" srcId="{C943FEBD-1BD0-4AF0-A319-580781B6A565}" destId="{69160E50-9FC4-4A63-A8E9-A4A789290D86}" srcOrd="1" destOrd="0" parTransId="{CABB994C-50E7-4C4F-99EF-5E1E6E0D5E79}" sibTransId="{A53E5E5D-E5C1-4DE0-86AC-1BE5D16FE2DF}"/>
    <dgm:cxn modelId="{3D5B49A7-9B14-4C61-9629-468865DEA367}" srcId="{C943FEBD-1BD0-4AF0-A319-580781B6A565}" destId="{D53D672A-8787-4FA8-8630-81210C5B90A9}" srcOrd="4" destOrd="0" parTransId="{23114EFA-45C0-4BFC-832E-8DCE2D80C3F6}" sibTransId="{96CA47D3-BA7F-4F00-AFE6-E727DC6BC7D3}"/>
    <dgm:cxn modelId="{174FE6AC-F21A-436C-8082-3C6686C09D30}" srcId="{C943FEBD-1BD0-4AF0-A319-580781B6A565}" destId="{F4FF36E9-CCA3-4C50-A438-C96C09B4A10A}" srcOrd="9" destOrd="0" parTransId="{A8DD9E53-7446-43C6-A7A6-F20332BBD051}" sibTransId="{DF63EB53-214E-43A9-87BA-E86A40712207}"/>
    <dgm:cxn modelId="{0326DAB1-40F6-4996-B29A-E9B81A04FE8A}" srcId="{C943FEBD-1BD0-4AF0-A319-580781B6A565}" destId="{AFF5FE18-3C81-460C-9265-5CF74B355C40}" srcOrd="6" destOrd="0" parTransId="{FFB8F509-2846-4806-8627-3C975595A9C2}" sibTransId="{4A3689E4-7E74-495B-8426-F4035F1B7B78}"/>
    <dgm:cxn modelId="{E3D8BBB2-466F-416E-B83C-6ECF51C3A1C0}" srcId="{C943FEBD-1BD0-4AF0-A319-580781B6A565}" destId="{69FD8F01-DDC8-4720-BE59-A2B2F3290EC5}" srcOrd="5" destOrd="0" parTransId="{2CB753B4-31EE-4A0B-A0FD-5FC51B3F19D5}" sibTransId="{4B013F3D-ACA6-4D1A-B1B6-F601F7CBD839}"/>
    <dgm:cxn modelId="{093996B7-DB5C-49A7-AE4C-94B2C71F03F3}" srcId="{C943FEBD-1BD0-4AF0-A319-580781B6A565}" destId="{85BC8A0A-6A91-42B6-9F4B-1249AA5F1C87}" srcOrd="10" destOrd="0" parTransId="{992B3EA8-24AD-48A8-A54C-5095DD98AC2F}" sibTransId="{FB2D6D24-5BC8-4D5B-AC98-A14FEB43659B}"/>
    <dgm:cxn modelId="{BC1B24BC-B311-491E-85B1-33BDCA26F202}" type="presOf" srcId="{34F8F653-F390-4CA9-99B3-0AAE0A7CE307}" destId="{68F012EE-8FE9-4E1F-8AC5-AF8F1D7CBB1A}" srcOrd="0" destOrd="0" presId="urn:microsoft.com/office/officeart/2008/layout/LinedList"/>
    <dgm:cxn modelId="{83BA65C3-0D8F-401B-8F15-BB0AC0BA9EBC}" type="presOf" srcId="{297FD44A-BDD3-42B1-ACE2-46384A21ADDF}" destId="{3C4CA092-F829-4769-859D-72CFA9A0F173}" srcOrd="0" destOrd="0" presId="urn:microsoft.com/office/officeart/2008/layout/LinedList"/>
    <dgm:cxn modelId="{621998C7-EA85-4FC2-80CE-4E42537B2318}" srcId="{C943FEBD-1BD0-4AF0-A319-580781B6A565}" destId="{7B7B9C8E-47B0-4BFB-AD9B-0762D3BA90D5}" srcOrd="8" destOrd="0" parTransId="{C20E06F1-54DC-42CF-A5A6-0120A957029E}" sibTransId="{C0F14588-6649-46D9-B536-AD4D9CF0C0AE}"/>
    <dgm:cxn modelId="{7B59CCC8-1730-4935-9F99-B301F4B2969E}" srcId="{C943FEBD-1BD0-4AF0-A319-580781B6A565}" destId="{395C9CFB-F9A6-46E9-A00E-A59A4B7DDADF}" srcOrd="15" destOrd="0" parTransId="{4BE4688B-4C49-4B39-9EA9-59429FA4846F}" sibTransId="{D7E4BA82-36F8-44F7-B7FB-F8CDA5AF1040}"/>
    <dgm:cxn modelId="{921C23CD-6758-4D3B-B04E-4B9FD33C353C}" type="presOf" srcId="{0FFED633-CA3E-400F-AF0D-82D204BBB754}" destId="{A48D9F11-B8E8-43D9-9D35-B9EE4AE2541D}" srcOrd="0" destOrd="0" presId="urn:microsoft.com/office/officeart/2008/layout/LinedList"/>
    <dgm:cxn modelId="{2DEB5BD2-3FEE-477F-B564-1042E14F66C4}" type="presOf" srcId="{D53D672A-8787-4FA8-8630-81210C5B90A9}" destId="{01DA883F-B9AC-4C37-8FDF-8011D3366B78}" srcOrd="0" destOrd="0" presId="urn:microsoft.com/office/officeart/2008/layout/LinedList"/>
    <dgm:cxn modelId="{21F3B6EA-6DFD-478C-A905-803F7A1554CE}" type="presOf" srcId="{7B7B9C8E-47B0-4BFB-AD9B-0762D3BA90D5}" destId="{B3BF9F3E-76B3-4C7C-9258-E6430A8D8178}" srcOrd="0" destOrd="0" presId="urn:microsoft.com/office/officeart/2008/layout/LinedList"/>
    <dgm:cxn modelId="{D2AA6EFE-E020-4195-ADC3-711FC27D36DF}" srcId="{C943FEBD-1BD0-4AF0-A319-580781B6A565}" destId="{9E724FFD-3939-40E0-9EC8-769D233654EA}" srcOrd="14" destOrd="0" parTransId="{CB8734BB-6080-469B-903D-9838CD677ED7}" sibTransId="{339395BA-FE3F-412C-8B6D-DEA55EF98923}"/>
    <dgm:cxn modelId="{943123F7-C257-409C-8838-1C968040DEC6}" type="presParOf" srcId="{E27E64B0-A8E1-4273-B6A7-486C8C00CCF1}" destId="{1876CADF-073D-4601-8319-C6C999DAE0C5}" srcOrd="0" destOrd="0" presId="urn:microsoft.com/office/officeart/2008/layout/LinedList"/>
    <dgm:cxn modelId="{344E967A-F47D-4666-9AE9-EA625A9625FA}" type="presParOf" srcId="{E27E64B0-A8E1-4273-B6A7-486C8C00CCF1}" destId="{768DC86C-A046-44C1-9180-6C0DDE24640D}" srcOrd="1" destOrd="0" presId="urn:microsoft.com/office/officeart/2008/layout/LinedList"/>
    <dgm:cxn modelId="{C9F74D97-8318-4F34-B8AC-D1A0AD3F9723}" type="presParOf" srcId="{768DC86C-A046-44C1-9180-6C0DDE24640D}" destId="{697E6BFF-10EA-4DE3-824A-15A455AC57D0}" srcOrd="0" destOrd="0" presId="urn:microsoft.com/office/officeart/2008/layout/LinedList"/>
    <dgm:cxn modelId="{E5668298-68FB-444F-81C5-D7109092C2FB}" type="presParOf" srcId="{768DC86C-A046-44C1-9180-6C0DDE24640D}" destId="{EB706662-0F54-475E-B4DB-968EE4EA9195}" srcOrd="1" destOrd="0" presId="urn:microsoft.com/office/officeart/2008/layout/LinedList"/>
    <dgm:cxn modelId="{2AB9F82A-9152-4507-BD3D-CE2754A0B5C0}" type="presParOf" srcId="{E27E64B0-A8E1-4273-B6A7-486C8C00CCF1}" destId="{5752396C-C852-4C14-B83F-44A86D222D9C}" srcOrd="2" destOrd="0" presId="urn:microsoft.com/office/officeart/2008/layout/LinedList"/>
    <dgm:cxn modelId="{D45790E8-4F49-4E14-8C1A-0F8DDE64386D}" type="presParOf" srcId="{E27E64B0-A8E1-4273-B6A7-486C8C00CCF1}" destId="{16938A5E-8742-42B6-BC75-BB371FADB722}" srcOrd="3" destOrd="0" presId="urn:microsoft.com/office/officeart/2008/layout/LinedList"/>
    <dgm:cxn modelId="{74EC2552-44F8-4C7A-8FBA-239749859008}" type="presParOf" srcId="{16938A5E-8742-42B6-BC75-BB371FADB722}" destId="{A8CF3FF9-E9CD-406D-A65C-71C58CDEAE41}" srcOrd="0" destOrd="0" presId="urn:microsoft.com/office/officeart/2008/layout/LinedList"/>
    <dgm:cxn modelId="{94143CE2-0A06-4E12-902D-F87A9259A6F5}" type="presParOf" srcId="{16938A5E-8742-42B6-BC75-BB371FADB722}" destId="{D1B6D4E4-A40E-4A18-B996-0A33EC8A064C}" srcOrd="1" destOrd="0" presId="urn:microsoft.com/office/officeart/2008/layout/LinedList"/>
    <dgm:cxn modelId="{6C29549E-57FC-430F-8E33-78B4AC9A0C3C}" type="presParOf" srcId="{E27E64B0-A8E1-4273-B6A7-486C8C00CCF1}" destId="{702488EF-57D2-4021-B8D3-E32D327E5669}" srcOrd="4" destOrd="0" presId="urn:microsoft.com/office/officeart/2008/layout/LinedList"/>
    <dgm:cxn modelId="{5E53ED42-7580-4891-AFAB-D54E247093D4}" type="presParOf" srcId="{E27E64B0-A8E1-4273-B6A7-486C8C00CCF1}" destId="{7FB568F3-0151-4631-AE4E-657A45736B86}" srcOrd="5" destOrd="0" presId="urn:microsoft.com/office/officeart/2008/layout/LinedList"/>
    <dgm:cxn modelId="{99591F56-B481-4923-8B3B-588F8B1222D9}" type="presParOf" srcId="{7FB568F3-0151-4631-AE4E-657A45736B86}" destId="{43D0123D-E96F-417D-A469-CAE2826191D2}" srcOrd="0" destOrd="0" presId="urn:microsoft.com/office/officeart/2008/layout/LinedList"/>
    <dgm:cxn modelId="{2A68CA44-AB00-48AA-B19A-13B37A07924B}" type="presParOf" srcId="{7FB568F3-0151-4631-AE4E-657A45736B86}" destId="{FB09750B-FFF4-4139-B564-00DF631857A2}" srcOrd="1" destOrd="0" presId="urn:microsoft.com/office/officeart/2008/layout/LinedList"/>
    <dgm:cxn modelId="{7DB36AA0-7A00-4C9C-BDB1-B722E596CD2E}" type="presParOf" srcId="{E27E64B0-A8E1-4273-B6A7-486C8C00CCF1}" destId="{0BFAB643-FBC8-426D-A46D-3A49E6093C70}" srcOrd="6" destOrd="0" presId="urn:microsoft.com/office/officeart/2008/layout/LinedList"/>
    <dgm:cxn modelId="{FF46B0A7-5167-4EC6-8A26-AA818E19712D}" type="presParOf" srcId="{E27E64B0-A8E1-4273-B6A7-486C8C00CCF1}" destId="{FBE42D89-6100-45D8-B270-901FCA19AC04}" srcOrd="7" destOrd="0" presId="urn:microsoft.com/office/officeart/2008/layout/LinedList"/>
    <dgm:cxn modelId="{0D50E543-77D9-443D-B61A-095A1D4B55F7}" type="presParOf" srcId="{FBE42D89-6100-45D8-B270-901FCA19AC04}" destId="{3F12FA60-AD0C-44ED-8473-E778CA10C5FB}" srcOrd="0" destOrd="0" presId="urn:microsoft.com/office/officeart/2008/layout/LinedList"/>
    <dgm:cxn modelId="{B62BB361-DA9F-4229-91A8-3BC96D63C3B2}" type="presParOf" srcId="{FBE42D89-6100-45D8-B270-901FCA19AC04}" destId="{72AF5FE3-BF0F-453F-A99F-508610B7900A}" srcOrd="1" destOrd="0" presId="urn:microsoft.com/office/officeart/2008/layout/LinedList"/>
    <dgm:cxn modelId="{1A58BE83-DD92-4536-81BD-C34D21FF7234}" type="presParOf" srcId="{E27E64B0-A8E1-4273-B6A7-486C8C00CCF1}" destId="{74173FFE-8DD1-44E9-8DDA-B4CCB516FCEE}" srcOrd="8" destOrd="0" presId="urn:microsoft.com/office/officeart/2008/layout/LinedList"/>
    <dgm:cxn modelId="{18467B72-B4E8-4349-9432-3DEEF139AD12}" type="presParOf" srcId="{E27E64B0-A8E1-4273-B6A7-486C8C00CCF1}" destId="{BA6E0F6C-B803-4F3B-8229-59B2075881DA}" srcOrd="9" destOrd="0" presId="urn:microsoft.com/office/officeart/2008/layout/LinedList"/>
    <dgm:cxn modelId="{EF6C7E68-9CB9-4F1F-9A69-69583AD75D8F}" type="presParOf" srcId="{BA6E0F6C-B803-4F3B-8229-59B2075881DA}" destId="{01DA883F-B9AC-4C37-8FDF-8011D3366B78}" srcOrd="0" destOrd="0" presId="urn:microsoft.com/office/officeart/2008/layout/LinedList"/>
    <dgm:cxn modelId="{334B9440-CC63-4165-89E6-AC91C9E1EF9B}" type="presParOf" srcId="{BA6E0F6C-B803-4F3B-8229-59B2075881DA}" destId="{7DDA1244-8B77-4B91-9ADD-2AA3DB145BCF}" srcOrd="1" destOrd="0" presId="urn:microsoft.com/office/officeart/2008/layout/LinedList"/>
    <dgm:cxn modelId="{67463C04-9989-4673-92C0-CE087D03CE3A}" type="presParOf" srcId="{E27E64B0-A8E1-4273-B6A7-486C8C00CCF1}" destId="{D4F9E187-2C90-4833-B550-92F13DA3EC6C}" srcOrd="10" destOrd="0" presId="urn:microsoft.com/office/officeart/2008/layout/LinedList"/>
    <dgm:cxn modelId="{8CC97AE4-5A4F-4577-A481-BDBED6D44CC0}" type="presParOf" srcId="{E27E64B0-A8E1-4273-B6A7-486C8C00CCF1}" destId="{5B69CB79-E8F3-47F6-8EE3-2B5B18B7019D}" srcOrd="11" destOrd="0" presId="urn:microsoft.com/office/officeart/2008/layout/LinedList"/>
    <dgm:cxn modelId="{75F3C232-A162-4FEC-B881-223A71CA1B99}" type="presParOf" srcId="{5B69CB79-E8F3-47F6-8EE3-2B5B18B7019D}" destId="{6432598E-91D5-4ED3-9468-18EC3B747720}" srcOrd="0" destOrd="0" presId="urn:microsoft.com/office/officeart/2008/layout/LinedList"/>
    <dgm:cxn modelId="{DB094303-A248-496F-9078-D9AC7343B5AE}" type="presParOf" srcId="{5B69CB79-E8F3-47F6-8EE3-2B5B18B7019D}" destId="{8640FBC6-84E5-4120-8A7C-D95802CA1EBF}" srcOrd="1" destOrd="0" presId="urn:microsoft.com/office/officeart/2008/layout/LinedList"/>
    <dgm:cxn modelId="{B0DA8B19-B2DE-43A9-A4D6-847687C4FC82}" type="presParOf" srcId="{E27E64B0-A8E1-4273-B6A7-486C8C00CCF1}" destId="{0A6D4E55-883D-4F0D-AFAA-3B69D86C320F}" srcOrd="12" destOrd="0" presId="urn:microsoft.com/office/officeart/2008/layout/LinedList"/>
    <dgm:cxn modelId="{BB9D33BA-FFCF-4F74-B306-DAFF71C07624}" type="presParOf" srcId="{E27E64B0-A8E1-4273-B6A7-486C8C00CCF1}" destId="{A631BC7A-3958-4BED-B501-0C54EF54C2E3}" srcOrd="13" destOrd="0" presId="urn:microsoft.com/office/officeart/2008/layout/LinedList"/>
    <dgm:cxn modelId="{5E003758-2418-499C-B240-A7EB436D97FD}" type="presParOf" srcId="{A631BC7A-3958-4BED-B501-0C54EF54C2E3}" destId="{795C52FC-EDE8-45B0-9DB2-DA43749BE40D}" srcOrd="0" destOrd="0" presId="urn:microsoft.com/office/officeart/2008/layout/LinedList"/>
    <dgm:cxn modelId="{5EAEB93A-4F7D-4116-9CB8-D575BC926304}" type="presParOf" srcId="{A631BC7A-3958-4BED-B501-0C54EF54C2E3}" destId="{A8BC19BE-1AE5-4785-9CDF-A3CD0FF5A788}" srcOrd="1" destOrd="0" presId="urn:microsoft.com/office/officeart/2008/layout/LinedList"/>
    <dgm:cxn modelId="{D233E931-B647-4509-8B8B-231A13B666BE}" type="presParOf" srcId="{E27E64B0-A8E1-4273-B6A7-486C8C00CCF1}" destId="{74B588E0-573B-4FE0-8D9A-C19BF6B985C4}" srcOrd="14" destOrd="0" presId="urn:microsoft.com/office/officeart/2008/layout/LinedList"/>
    <dgm:cxn modelId="{BFE53E81-DB93-46A9-994E-7FCDBF1D36BC}" type="presParOf" srcId="{E27E64B0-A8E1-4273-B6A7-486C8C00CCF1}" destId="{CDB6EB2F-14D6-4F74-BA79-E17487E0CC3B}" srcOrd="15" destOrd="0" presId="urn:microsoft.com/office/officeart/2008/layout/LinedList"/>
    <dgm:cxn modelId="{B6B6113B-BF71-409B-8083-D27482C7F981}" type="presParOf" srcId="{CDB6EB2F-14D6-4F74-BA79-E17487E0CC3B}" destId="{68F012EE-8FE9-4E1F-8AC5-AF8F1D7CBB1A}" srcOrd="0" destOrd="0" presId="urn:microsoft.com/office/officeart/2008/layout/LinedList"/>
    <dgm:cxn modelId="{D89D3D24-E6BC-4C29-99F1-DB0C1BD87F05}" type="presParOf" srcId="{CDB6EB2F-14D6-4F74-BA79-E17487E0CC3B}" destId="{210F7E85-450D-4855-80F2-E40DA61868C3}" srcOrd="1" destOrd="0" presId="urn:microsoft.com/office/officeart/2008/layout/LinedList"/>
    <dgm:cxn modelId="{54A4D6A0-EB90-42F8-9841-BC6AD5472EDD}" type="presParOf" srcId="{E27E64B0-A8E1-4273-B6A7-486C8C00CCF1}" destId="{E1AEBFFA-5EFD-44C8-8392-6E06B6D0E3A6}" srcOrd="16" destOrd="0" presId="urn:microsoft.com/office/officeart/2008/layout/LinedList"/>
    <dgm:cxn modelId="{BF189888-6537-446C-96A0-698E1C3444F8}" type="presParOf" srcId="{E27E64B0-A8E1-4273-B6A7-486C8C00CCF1}" destId="{E8CF4DC5-1C07-476A-BD68-BA7464530A0B}" srcOrd="17" destOrd="0" presId="urn:microsoft.com/office/officeart/2008/layout/LinedList"/>
    <dgm:cxn modelId="{76F2AC0C-C19D-4BC3-AC09-278406BCDDBF}" type="presParOf" srcId="{E8CF4DC5-1C07-476A-BD68-BA7464530A0B}" destId="{B3BF9F3E-76B3-4C7C-9258-E6430A8D8178}" srcOrd="0" destOrd="0" presId="urn:microsoft.com/office/officeart/2008/layout/LinedList"/>
    <dgm:cxn modelId="{C9ACA3B5-F3B8-4C19-A496-6BD506444AC7}" type="presParOf" srcId="{E8CF4DC5-1C07-476A-BD68-BA7464530A0B}" destId="{4DE085AC-548F-42D3-83E7-89925576FD99}" srcOrd="1" destOrd="0" presId="urn:microsoft.com/office/officeart/2008/layout/LinedList"/>
    <dgm:cxn modelId="{2A12FB8F-2EE8-4784-A2F4-E9D9D17026FB}" type="presParOf" srcId="{E27E64B0-A8E1-4273-B6A7-486C8C00CCF1}" destId="{4FCE3EEB-E101-4851-89EA-2A18B99402FB}" srcOrd="18" destOrd="0" presId="urn:microsoft.com/office/officeart/2008/layout/LinedList"/>
    <dgm:cxn modelId="{39ED1F65-8EF2-42BB-AFFE-5A1CDF6B97E3}" type="presParOf" srcId="{E27E64B0-A8E1-4273-B6A7-486C8C00CCF1}" destId="{9BB5D9B4-9283-4A60-82BB-B7D111276141}" srcOrd="19" destOrd="0" presId="urn:microsoft.com/office/officeart/2008/layout/LinedList"/>
    <dgm:cxn modelId="{33C6170B-8160-411E-86C1-C355405A7FE0}" type="presParOf" srcId="{9BB5D9B4-9283-4A60-82BB-B7D111276141}" destId="{82281B91-055F-48BA-81B1-EFFE52421000}" srcOrd="0" destOrd="0" presId="urn:microsoft.com/office/officeart/2008/layout/LinedList"/>
    <dgm:cxn modelId="{E98CBD20-190E-42C8-A466-9C940767C898}" type="presParOf" srcId="{9BB5D9B4-9283-4A60-82BB-B7D111276141}" destId="{0539DA37-B15B-44D5-AE3F-8CD8A6B476A7}" srcOrd="1" destOrd="0" presId="urn:microsoft.com/office/officeart/2008/layout/LinedList"/>
    <dgm:cxn modelId="{33974C4B-5B76-4231-8A10-89BCBCC6DBA5}" type="presParOf" srcId="{E27E64B0-A8E1-4273-B6A7-486C8C00CCF1}" destId="{F4EF86FF-CB01-4A9B-9417-043DEF7AB002}" srcOrd="20" destOrd="0" presId="urn:microsoft.com/office/officeart/2008/layout/LinedList"/>
    <dgm:cxn modelId="{D61657F3-1EC9-4024-B067-CA3C43F69B6F}" type="presParOf" srcId="{E27E64B0-A8E1-4273-B6A7-486C8C00CCF1}" destId="{12CADACB-DFCC-4810-A901-E648756823E3}" srcOrd="21" destOrd="0" presId="urn:microsoft.com/office/officeart/2008/layout/LinedList"/>
    <dgm:cxn modelId="{04E132DE-E77C-4BD8-B005-10F1CE443BA5}" type="presParOf" srcId="{12CADACB-DFCC-4810-A901-E648756823E3}" destId="{FE792D45-5D68-4C26-8773-3BD48122EA77}" srcOrd="0" destOrd="0" presId="urn:microsoft.com/office/officeart/2008/layout/LinedList"/>
    <dgm:cxn modelId="{04645B26-69E7-4F1B-BCA6-D42BD2AE48C0}" type="presParOf" srcId="{12CADACB-DFCC-4810-A901-E648756823E3}" destId="{C81F38D7-5764-4DF2-AAF5-028F2AB2BD52}" srcOrd="1" destOrd="0" presId="urn:microsoft.com/office/officeart/2008/layout/LinedList"/>
    <dgm:cxn modelId="{03E3FA4D-D01C-4C74-907C-4568BFA19934}" type="presParOf" srcId="{E27E64B0-A8E1-4273-B6A7-486C8C00CCF1}" destId="{0CFB2714-C073-459B-92EF-3B319FC8CC8B}" srcOrd="22" destOrd="0" presId="urn:microsoft.com/office/officeart/2008/layout/LinedList"/>
    <dgm:cxn modelId="{584AC8BA-6305-40BC-932B-01704371C925}" type="presParOf" srcId="{E27E64B0-A8E1-4273-B6A7-486C8C00CCF1}" destId="{A33C2027-E660-47E2-B05A-8488B8E083A9}" srcOrd="23" destOrd="0" presId="urn:microsoft.com/office/officeart/2008/layout/LinedList"/>
    <dgm:cxn modelId="{30A2745A-A7C6-490C-96D7-39CDD111F6DC}" type="presParOf" srcId="{A33C2027-E660-47E2-B05A-8488B8E083A9}" destId="{9252EEA9-8278-44B0-A710-6E138D8B5712}" srcOrd="0" destOrd="0" presId="urn:microsoft.com/office/officeart/2008/layout/LinedList"/>
    <dgm:cxn modelId="{D7A0AB90-D37D-4AC9-A840-F19DAD879330}" type="presParOf" srcId="{A33C2027-E660-47E2-B05A-8488B8E083A9}" destId="{4B3DD119-68D9-41B7-ABD8-74B498BDB75B}" srcOrd="1" destOrd="0" presId="urn:microsoft.com/office/officeart/2008/layout/LinedList"/>
    <dgm:cxn modelId="{CE7ED56C-3379-4DDD-99D0-3C793B193E04}" type="presParOf" srcId="{E27E64B0-A8E1-4273-B6A7-486C8C00CCF1}" destId="{08628870-BD32-4A1E-BC28-599705F0F6EA}" srcOrd="24" destOrd="0" presId="urn:microsoft.com/office/officeart/2008/layout/LinedList"/>
    <dgm:cxn modelId="{3B062751-69DC-4CDF-BA2B-4C3E813B7A38}" type="presParOf" srcId="{E27E64B0-A8E1-4273-B6A7-486C8C00CCF1}" destId="{C0539341-3CFB-40AB-8179-C8451B95D52F}" srcOrd="25" destOrd="0" presId="urn:microsoft.com/office/officeart/2008/layout/LinedList"/>
    <dgm:cxn modelId="{36469A66-016A-4012-8482-8F7BD7B68139}" type="presParOf" srcId="{C0539341-3CFB-40AB-8179-C8451B95D52F}" destId="{FB5DC62B-A68E-4C73-8522-090B122027BD}" srcOrd="0" destOrd="0" presId="urn:microsoft.com/office/officeart/2008/layout/LinedList"/>
    <dgm:cxn modelId="{96A6195D-490A-49AE-85B2-D086568B37CA}" type="presParOf" srcId="{C0539341-3CFB-40AB-8179-C8451B95D52F}" destId="{29AB402D-C9BB-47C9-9117-84FAF10201E9}" srcOrd="1" destOrd="0" presId="urn:microsoft.com/office/officeart/2008/layout/LinedList"/>
    <dgm:cxn modelId="{34554F2F-BBC2-497D-9668-A8F9D2B43D6E}" type="presParOf" srcId="{E27E64B0-A8E1-4273-B6A7-486C8C00CCF1}" destId="{870D936E-4E49-4733-BEEB-D740AC7644B1}" srcOrd="26" destOrd="0" presId="urn:microsoft.com/office/officeart/2008/layout/LinedList"/>
    <dgm:cxn modelId="{8FE42C21-8086-4155-A81B-1C66017FFDA5}" type="presParOf" srcId="{E27E64B0-A8E1-4273-B6A7-486C8C00CCF1}" destId="{59F6F112-3EBE-4FB1-85D1-9E588976A152}" srcOrd="27" destOrd="0" presId="urn:microsoft.com/office/officeart/2008/layout/LinedList"/>
    <dgm:cxn modelId="{C53FE048-328D-4F77-9C7D-71A3F709C3F3}" type="presParOf" srcId="{59F6F112-3EBE-4FB1-85D1-9E588976A152}" destId="{9BFED43F-4D6E-4121-83E0-5B8076DBF835}" srcOrd="0" destOrd="0" presId="urn:microsoft.com/office/officeart/2008/layout/LinedList"/>
    <dgm:cxn modelId="{A201DF7E-686C-410D-8451-ACA634D531CF}" type="presParOf" srcId="{59F6F112-3EBE-4FB1-85D1-9E588976A152}" destId="{03D1C3E2-F772-4BDA-B8B5-FBDAB346BDD3}" srcOrd="1" destOrd="0" presId="urn:microsoft.com/office/officeart/2008/layout/LinedList"/>
    <dgm:cxn modelId="{376859E0-91EA-47D5-A3A7-25AEBAD40DC9}" type="presParOf" srcId="{E27E64B0-A8E1-4273-B6A7-486C8C00CCF1}" destId="{E41BC7FB-C904-4F1B-9A95-535325F798C5}" srcOrd="28" destOrd="0" presId="urn:microsoft.com/office/officeart/2008/layout/LinedList"/>
    <dgm:cxn modelId="{E667363D-37EF-4295-BE1F-979A5A508BAF}" type="presParOf" srcId="{E27E64B0-A8E1-4273-B6A7-486C8C00CCF1}" destId="{23015805-5144-4F05-8ADD-1C1BF256C13D}" srcOrd="29" destOrd="0" presId="urn:microsoft.com/office/officeart/2008/layout/LinedList"/>
    <dgm:cxn modelId="{B5569CF9-EDEB-4BC9-9879-6C11D192D1D3}" type="presParOf" srcId="{23015805-5144-4F05-8ADD-1C1BF256C13D}" destId="{CEBABD95-EA4F-4A97-896B-39CB886DA23E}" srcOrd="0" destOrd="0" presId="urn:microsoft.com/office/officeart/2008/layout/LinedList"/>
    <dgm:cxn modelId="{602A3B95-4318-456C-A036-15BB0EC166A9}" type="presParOf" srcId="{23015805-5144-4F05-8ADD-1C1BF256C13D}" destId="{24EA3B77-E19A-4C2D-A7FC-7CEE17BE72A7}" srcOrd="1" destOrd="0" presId="urn:microsoft.com/office/officeart/2008/layout/LinedList"/>
    <dgm:cxn modelId="{16D3B7AA-7834-4778-A532-A0C9E63917C4}" type="presParOf" srcId="{E27E64B0-A8E1-4273-B6A7-486C8C00CCF1}" destId="{5726155B-C88C-48CE-8C6D-7DC5057662E7}" srcOrd="30" destOrd="0" presId="urn:microsoft.com/office/officeart/2008/layout/LinedList"/>
    <dgm:cxn modelId="{246441E6-BF71-44DA-9A96-39F26FE03CBD}" type="presParOf" srcId="{E27E64B0-A8E1-4273-B6A7-486C8C00CCF1}" destId="{E4A9E14B-65CA-4BD8-A350-FF00F16BFD26}" srcOrd="31" destOrd="0" presId="urn:microsoft.com/office/officeart/2008/layout/LinedList"/>
    <dgm:cxn modelId="{64D85DBB-04F5-4EA1-9AFD-57DA525A42E3}" type="presParOf" srcId="{E4A9E14B-65CA-4BD8-A350-FF00F16BFD26}" destId="{DEE3D519-2837-46D6-B415-CEC2CCDF1D8E}" srcOrd="0" destOrd="0" presId="urn:microsoft.com/office/officeart/2008/layout/LinedList"/>
    <dgm:cxn modelId="{8F01291D-82D7-444A-AB06-AF85D2EF77F1}" type="presParOf" srcId="{E4A9E14B-65CA-4BD8-A350-FF00F16BFD26}" destId="{464AA1B3-0550-4A10-95F1-835DB40C65F5}" srcOrd="1" destOrd="0" presId="urn:microsoft.com/office/officeart/2008/layout/LinedList"/>
    <dgm:cxn modelId="{3875C9E2-E721-4954-B3A2-7491C16FE20F}" type="presParOf" srcId="{E27E64B0-A8E1-4273-B6A7-486C8C00CCF1}" destId="{5372F8EA-3394-4478-8924-587758AC650A}" srcOrd="32" destOrd="0" presId="urn:microsoft.com/office/officeart/2008/layout/LinedList"/>
    <dgm:cxn modelId="{D4E3CBAD-48E3-4801-8A80-27C524AAC323}" type="presParOf" srcId="{E27E64B0-A8E1-4273-B6A7-486C8C00CCF1}" destId="{F0FEF471-D61A-46D9-94BD-177FBC0697A6}" srcOrd="33" destOrd="0" presId="urn:microsoft.com/office/officeart/2008/layout/LinedList"/>
    <dgm:cxn modelId="{70713CC8-0128-4C8D-885C-9EDA1D1EABCB}" type="presParOf" srcId="{F0FEF471-D61A-46D9-94BD-177FBC0697A6}" destId="{29DB56C7-0292-4692-8CAE-80850573C27A}" srcOrd="0" destOrd="0" presId="urn:microsoft.com/office/officeart/2008/layout/LinedList"/>
    <dgm:cxn modelId="{B0C61EF3-ADAD-4283-867B-D9D7C2D5639E}" type="presParOf" srcId="{F0FEF471-D61A-46D9-94BD-177FBC0697A6}" destId="{78EAA16F-F362-40C5-A385-F5E0161E66B1}" srcOrd="1" destOrd="0" presId="urn:microsoft.com/office/officeart/2008/layout/LinedList"/>
    <dgm:cxn modelId="{3A61D40C-2FA9-4EBD-B915-E4B66B0441DA}" type="presParOf" srcId="{E27E64B0-A8E1-4273-B6A7-486C8C00CCF1}" destId="{A4AB0B62-13F6-400E-AE4B-D467D57EF403}" srcOrd="34" destOrd="0" presId="urn:microsoft.com/office/officeart/2008/layout/LinedList"/>
    <dgm:cxn modelId="{EC759366-60CF-48FF-BC39-93E9356A46AF}" type="presParOf" srcId="{E27E64B0-A8E1-4273-B6A7-486C8C00CCF1}" destId="{A80B9895-9B21-4B4D-9626-DF39E8EBCB5A}" srcOrd="35" destOrd="0" presId="urn:microsoft.com/office/officeart/2008/layout/LinedList"/>
    <dgm:cxn modelId="{47BD72D8-349D-4081-9176-8AE7F0FBE217}" type="presParOf" srcId="{A80B9895-9B21-4B4D-9626-DF39E8EBCB5A}" destId="{A48D9F11-B8E8-43D9-9D35-B9EE4AE2541D}" srcOrd="0" destOrd="0" presId="urn:microsoft.com/office/officeart/2008/layout/LinedList"/>
    <dgm:cxn modelId="{F0C1ADC5-B860-4DC5-BAA1-FDFFED02B798}" type="presParOf" srcId="{A80B9895-9B21-4B4D-9626-DF39E8EBCB5A}" destId="{609A3861-6BBF-442C-92A4-278D6DA2C141}" srcOrd="1" destOrd="0" presId="urn:microsoft.com/office/officeart/2008/layout/LinedList"/>
    <dgm:cxn modelId="{1E8196EE-646A-4E4B-896C-FEF703C12D0F}" type="presParOf" srcId="{E27E64B0-A8E1-4273-B6A7-486C8C00CCF1}" destId="{0C191151-F136-4BAA-9BE9-6B89383FA4C9}" srcOrd="36" destOrd="0" presId="urn:microsoft.com/office/officeart/2008/layout/LinedList"/>
    <dgm:cxn modelId="{EE4A50EA-CFD9-47AC-93DB-56CEB32FEC9B}" type="presParOf" srcId="{E27E64B0-A8E1-4273-B6A7-486C8C00CCF1}" destId="{771CF642-D8DB-4C42-B91A-639E93A9EAE8}" srcOrd="37" destOrd="0" presId="urn:microsoft.com/office/officeart/2008/layout/LinedList"/>
    <dgm:cxn modelId="{4A7778C3-9B23-4445-95FD-E1EDEF8B173B}" type="presParOf" srcId="{771CF642-D8DB-4C42-B91A-639E93A9EAE8}" destId="{3D60E7BE-5BD6-4BF4-846E-A4581918727C}" srcOrd="0" destOrd="0" presId="urn:microsoft.com/office/officeart/2008/layout/LinedList"/>
    <dgm:cxn modelId="{88140B07-DEC3-4E45-B4A0-63D34D3C0770}" type="presParOf" srcId="{771CF642-D8DB-4C42-B91A-639E93A9EAE8}" destId="{B4E84EB9-CDD4-4C9F-9F6E-E49BFE97107F}" srcOrd="1" destOrd="0" presId="urn:microsoft.com/office/officeart/2008/layout/LinedList"/>
    <dgm:cxn modelId="{C7154239-DC83-45E6-8362-A359EDCAC08F}" type="presParOf" srcId="{E27E64B0-A8E1-4273-B6A7-486C8C00CCF1}" destId="{375C025B-6962-4771-B9F5-804C4E71139B}" srcOrd="38" destOrd="0" presId="urn:microsoft.com/office/officeart/2008/layout/LinedList"/>
    <dgm:cxn modelId="{1376D8EC-2195-4994-9DD7-77A52C868AC0}" type="presParOf" srcId="{E27E64B0-A8E1-4273-B6A7-486C8C00CCF1}" destId="{36399A03-91C2-4C71-BC9F-C3D60B5C191F}" srcOrd="39" destOrd="0" presId="urn:microsoft.com/office/officeart/2008/layout/LinedList"/>
    <dgm:cxn modelId="{07BE307F-72D6-4B9C-8B42-707C57D996D8}" type="presParOf" srcId="{36399A03-91C2-4C71-BC9F-C3D60B5C191F}" destId="{7577D534-2FE7-41B4-9D00-E44183BE5CCD}" srcOrd="0" destOrd="0" presId="urn:microsoft.com/office/officeart/2008/layout/LinedList"/>
    <dgm:cxn modelId="{91FB37F4-FE0B-455A-9199-AB260ACDD6F2}" type="presParOf" srcId="{36399A03-91C2-4C71-BC9F-C3D60B5C191F}" destId="{25202DC5-B110-436A-8DA9-C741C8CBBF24}" srcOrd="1" destOrd="0" presId="urn:microsoft.com/office/officeart/2008/layout/LinedList"/>
    <dgm:cxn modelId="{849C01C5-C371-44AD-B7AB-57AE400030A2}" type="presParOf" srcId="{E27E64B0-A8E1-4273-B6A7-486C8C00CCF1}" destId="{3328CC13-23E3-4980-AEF3-2ADB52B1F96E}" srcOrd="40" destOrd="0" presId="urn:microsoft.com/office/officeart/2008/layout/LinedList"/>
    <dgm:cxn modelId="{74AC3CF4-ECAA-44D7-A6C0-076B41CCA010}" type="presParOf" srcId="{E27E64B0-A8E1-4273-B6A7-486C8C00CCF1}" destId="{EBE5B0C0-F2EC-488F-BADA-DBE95B807328}" srcOrd="41" destOrd="0" presId="urn:microsoft.com/office/officeart/2008/layout/LinedList"/>
    <dgm:cxn modelId="{1C01143C-CEF2-441F-91E0-E327251F30C4}" type="presParOf" srcId="{EBE5B0C0-F2EC-488F-BADA-DBE95B807328}" destId="{3C4CA092-F829-4769-859D-72CFA9A0F173}" srcOrd="0" destOrd="0" presId="urn:microsoft.com/office/officeart/2008/layout/LinedList"/>
    <dgm:cxn modelId="{4F29A185-8CB5-4BC6-8717-5AAF9D3E3197}" type="presParOf" srcId="{EBE5B0C0-F2EC-488F-BADA-DBE95B807328}" destId="{3684EAE6-832C-4E68-B804-3BC1FDD51A55}" srcOrd="1" destOrd="0" presId="urn:microsoft.com/office/officeart/2008/layout/LinedList"/>
    <dgm:cxn modelId="{A10E2139-E6A9-466E-917E-5886FE22F3AE}" type="presParOf" srcId="{E27E64B0-A8E1-4273-B6A7-486C8C00CCF1}" destId="{35269C19-65A5-4AD6-BA8A-362E5F39C86C}" srcOrd="42" destOrd="0" presId="urn:microsoft.com/office/officeart/2008/layout/LinedList"/>
    <dgm:cxn modelId="{6C44B80F-BBF4-4F49-BA64-8B9D40AECB71}" type="presParOf" srcId="{E27E64B0-A8E1-4273-B6A7-486C8C00CCF1}" destId="{055FAD39-AFB2-44CA-B79A-4091ED305CCD}" srcOrd="43" destOrd="0" presId="urn:microsoft.com/office/officeart/2008/layout/LinedList"/>
    <dgm:cxn modelId="{2C4A71D3-9F2D-448C-A007-D1644FFCFB9D}" type="presParOf" srcId="{055FAD39-AFB2-44CA-B79A-4091ED305CCD}" destId="{88FBECAC-B355-4C07-835C-90C2E34C4A17}" srcOrd="0" destOrd="0" presId="urn:microsoft.com/office/officeart/2008/layout/LinedList"/>
    <dgm:cxn modelId="{4EFC42A1-52B2-48CD-93C4-7220300CABFB}" type="presParOf" srcId="{055FAD39-AFB2-44CA-B79A-4091ED305CCD}" destId="{7458836F-6A59-457F-AF65-87A3F3C1F140}" srcOrd="1" destOrd="0" presId="urn:microsoft.com/office/officeart/2008/layout/LinedList"/>
    <dgm:cxn modelId="{7BA54756-5966-4825-8CB8-A80C742F3698}" type="presParOf" srcId="{E27E64B0-A8E1-4273-B6A7-486C8C00CCF1}" destId="{DAACB1D7-7783-441E-B27B-FD9BE8FD050A}" srcOrd="44" destOrd="0" presId="urn:microsoft.com/office/officeart/2008/layout/LinedList"/>
    <dgm:cxn modelId="{1F331549-F17C-4592-B3D7-90B7297FEC79}" type="presParOf" srcId="{E27E64B0-A8E1-4273-B6A7-486C8C00CCF1}" destId="{662AF3D8-D4C8-44FC-AA52-31B3FB7E88E1}" srcOrd="45" destOrd="0" presId="urn:microsoft.com/office/officeart/2008/layout/LinedList"/>
    <dgm:cxn modelId="{58118C1E-FE31-455B-AFF2-43C5341D0009}" type="presParOf" srcId="{662AF3D8-D4C8-44FC-AA52-31B3FB7E88E1}" destId="{701936B0-D3C1-47A1-9A51-8C60F8A57817}" srcOrd="0" destOrd="0" presId="urn:microsoft.com/office/officeart/2008/layout/LinedList"/>
    <dgm:cxn modelId="{E02D2711-7E5C-49CE-9A0E-223D13F7AAAD}" type="presParOf" srcId="{662AF3D8-D4C8-44FC-AA52-31B3FB7E88E1}" destId="{80F23EC7-3708-4CF8-87D4-B39D6954BEF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6CADF-073D-4601-8319-C6C999DAE0C5}">
      <dsp:nvSpPr>
        <dsp:cNvPr id="0" name=""/>
        <dsp:cNvSpPr/>
      </dsp:nvSpPr>
      <dsp:spPr>
        <a:xfrm>
          <a:off x="0" y="1504"/>
          <a:ext cx="781256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7E6BFF-10EA-4DE3-824A-15A455AC57D0}">
      <dsp:nvSpPr>
        <dsp:cNvPr id="0" name=""/>
        <dsp:cNvSpPr/>
      </dsp:nvSpPr>
      <dsp:spPr>
        <a:xfrm>
          <a:off x="0" y="1504"/>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Features:</a:t>
          </a:r>
          <a:endParaRPr lang="en-US" sz="1200" kern="1200"/>
        </a:p>
      </dsp:txBody>
      <dsp:txXfrm>
        <a:off x="0" y="1504"/>
        <a:ext cx="7812562" cy="267868"/>
      </dsp:txXfrm>
    </dsp:sp>
    <dsp:sp modelId="{5752396C-C852-4C14-B83F-44A86D222D9C}">
      <dsp:nvSpPr>
        <dsp:cNvPr id="0" name=""/>
        <dsp:cNvSpPr/>
      </dsp:nvSpPr>
      <dsp:spPr>
        <a:xfrm>
          <a:off x="0" y="269373"/>
          <a:ext cx="7812562" cy="0"/>
        </a:xfrm>
        <a:prstGeom prst="line">
          <a:avLst/>
        </a:prstGeom>
        <a:solidFill>
          <a:schemeClr val="accent2">
            <a:hueOff val="-71293"/>
            <a:satOff val="-646"/>
            <a:lumOff val="-143"/>
            <a:alphaOff val="0"/>
          </a:schemeClr>
        </a:solidFill>
        <a:ln w="12700" cap="flat" cmpd="sng" algn="ctr">
          <a:solidFill>
            <a:schemeClr val="accent2">
              <a:hueOff val="-71293"/>
              <a:satOff val="-646"/>
              <a:lumOff val="-1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CF3FF9-E9CD-406D-A65C-71C58CDEAE41}">
      <dsp:nvSpPr>
        <dsp:cNvPr id="0" name=""/>
        <dsp:cNvSpPr/>
      </dsp:nvSpPr>
      <dsp:spPr>
        <a:xfrm>
          <a:off x="0" y="269373"/>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LIMIT_BAL</a:t>
          </a:r>
          <a:r>
            <a:rPr lang="en-US" sz="1200" b="0" i="0" kern="1200" baseline="0"/>
            <a:t>: continuous. Credit Limit of the person.</a:t>
          </a:r>
          <a:endParaRPr lang="en-US" sz="1200" kern="1200"/>
        </a:p>
      </dsp:txBody>
      <dsp:txXfrm>
        <a:off x="0" y="269373"/>
        <a:ext cx="7812562" cy="267868"/>
      </dsp:txXfrm>
    </dsp:sp>
    <dsp:sp modelId="{702488EF-57D2-4021-B8D3-E32D327E5669}">
      <dsp:nvSpPr>
        <dsp:cNvPr id="0" name=""/>
        <dsp:cNvSpPr/>
      </dsp:nvSpPr>
      <dsp:spPr>
        <a:xfrm>
          <a:off x="0" y="537241"/>
          <a:ext cx="7812562" cy="0"/>
        </a:xfrm>
        <a:prstGeom prst="line">
          <a:avLst/>
        </a:prstGeom>
        <a:solidFill>
          <a:schemeClr val="accent2">
            <a:hueOff val="-142587"/>
            <a:satOff val="-1291"/>
            <a:lumOff val="-285"/>
            <a:alphaOff val="0"/>
          </a:schemeClr>
        </a:solidFill>
        <a:ln w="12700" cap="flat" cmpd="sng" algn="ctr">
          <a:solidFill>
            <a:schemeClr val="accent2">
              <a:hueOff val="-142587"/>
              <a:satOff val="-1291"/>
              <a:lumOff val="-2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D0123D-E96F-417D-A469-CAE2826191D2}">
      <dsp:nvSpPr>
        <dsp:cNvPr id="0" name=""/>
        <dsp:cNvSpPr/>
      </dsp:nvSpPr>
      <dsp:spPr>
        <a:xfrm>
          <a:off x="0" y="537241"/>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SEX</a:t>
          </a:r>
          <a:r>
            <a:rPr lang="en-US" sz="1200" b="0" i="0" kern="1200" baseline="0"/>
            <a:t>: Categorical: 1 = male; 2 = female</a:t>
          </a:r>
          <a:endParaRPr lang="en-US" sz="1200" kern="1200"/>
        </a:p>
      </dsp:txBody>
      <dsp:txXfrm>
        <a:off x="0" y="537241"/>
        <a:ext cx="7812562" cy="267868"/>
      </dsp:txXfrm>
    </dsp:sp>
    <dsp:sp modelId="{0BFAB643-FBC8-426D-A46D-3A49E6093C70}">
      <dsp:nvSpPr>
        <dsp:cNvPr id="0" name=""/>
        <dsp:cNvSpPr/>
      </dsp:nvSpPr>
      <dsp:spPr>
        <a:xfrm>
          <a:off x="0" y="805110"/>
          <a:ext cx="7812562" cy="0"/>
        </a:xfrm>
        <a:prstGeom prst="line">
          <a:avLst/>
        </a:prstGeom>
        <a:solidFill>
          <a:schemeClr val="accent2">
            <a:hueOff val="-213880"/>
            <a:satOff val="-1937"/>
            <a:lumOff val="-428"/>
            <a:alphaOff val="0"/>
          </a:schemeClr>
        </a:solidFill>
        <a:ln w="12700" cap="flat" cmpd="sng" algn="ctr">
          <a:solidFill>
            <a:schemeClr val="accent2">
              <a:hueOff val="-213880"/>
              <a:satOff val="-1937"/>
              <a:lumOff val="-4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12FA60-AD0C-44ED-8473-E778CA10C5FB}">
      <dsp:nvSpPr>
        <dsp:cNvPr id="0" name=""/>
        <dsp:cNvSpPr/>
      </dsp:nvSpPr>
      <dsp:spPr>
        <a:xfrm>
          <a:off x="0" y="805110"/>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EDUCATION</a:t>
          </a:r>
          <a:r>
            <a:rPr lang="en-US" sz="1200" b="0" i="0" kern="1200" baseline="0"/>
            <a:t>: Categorical: 1 = graduate school; 2 = university; 3 = high school; 4 = others</a:t>
          </a:r>
          <a:endParaRPr lang="en-US" sz="1200" kern="1200"/>
        </a:p>
      </dsp:txBody>
      <dsp:txXfrm>
        <a:off x="0" y="805110"/>
        <a:ext cx="7812562" cy="267868"/>
      </dsp:txXfrm>
    </dsp:sp>
    <dsp:sp modelId="{74173FFE-8DD1-44E9-8DDA-B4CCB516FCEE}">
      <dsp:nvSpPr>
        <dsp:cNvPr id="0" name=""/>
        <dsp:cNvSpPr/>
      </dsp:nvSpPr>
      <dsp:spPr>
        <a:xfrm>
          <a:off x="0" y="1072979"/>
          <a:ext cx="7812562" cy="0"/>
        </a:xfrm>
        <a:prstGeom prst="line">
          <a:avLst/>
        </a:prstGeom>
        <a:solidFill>
          <a:schemeClr val="accent2">
            <a:hueOff val="-285173"/>
            <a:satOff val="-2583"/>
            <a:lumOff val="-570"/>
            <a:alphaOff val="0"/>
          </a:schemeClr>
        </a:solidFill>
        <a:ln w="12700" cap="flat" cmpd="sng" algn="ctr">
          <a:solidFill>
            <a:schemeClr val="accent2">
              <a:hueOff val="-285173"/>
              <a:satOff val="-2583"/>
              <a:lumOff val="-5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A883F-B9AC-4C37-8FDF-8011D3366B78}">
      <dsp:nvSpPr>
        <dsp:cNvPr id="0" name=""/>
        <dsp:cNvSpPr/>
      </dsp:nvSpPr>
      <dsp:spPr>
        <a:xfrm>
          <a:off x="0" y="1072979"/>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MARRIAGE</a:t>
          </a:r>
          <a:r>
            <a:rPr lang="en-US" sz="1200" b="0" i="0" kern="1200" baseline="0"/>
            <a:t>: 1 = married; 2 = single; 3 = others</a:t>
          </a:r>
          <a:endParaRPr lang="en-US" sz="1200" kern="1200"/>
        </a:p>
      </dsp:txBody>
      <dsp:txXfrm>
        <a:off x="0" y="1072979"/>
        <a:ext cx="7812562" cy="267868"/>
      </dsp:txXfrm>
    </dsp:sp>
    <dsp:sp modelId="{D4F9E187-2C90-4833-B550-92F13DA3EC6C}">
      <dsp:nvSpPr>
        <dsp:cNvPr id="0" name=""/>
        <dsp:cNvSpPr/>
      </dsp:nvSpPr>
      <dsp:spPr>
        <a:xfrm>
          <a:off x="0" y="1340847"/>
          <a:ext cx="7812562" cy="0"/>
        </a:xfrm>
        <a:prstGeom prst="line">
          <a:avLst/>
        </a:prstGeom>
        <a:solidFill>
          <a:schemeClr val="accent2">
            <a:hueOff val="-356467"/>
            <a:satOff val="-3228"/>
            <a:lumOff val="-713"/>
            <a:alphaOff val="0"/>
          </a:schemeClr>
        </a:solidFill>
        <a:ln w="12700" cap="flat" cmpd="sng" algn="ctr">
          <a:solidFill>
            <a:schemeClr val="accent2">
              <a:hueOff val="-356467"/>
              <a:satOff val="-3228"/>
              <a:lumOff val="-7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32598E-91D5-4ED3-9468-18EC3B747720}">
      <dsp:nvSpPr>
        <dsp:cNvPr id="0" name=""/>
        <dsp:cNvSpPr/>
      </dsp:nvSpPr>
      <dsp:spPr>
        <a:xfrm>
          <a:off x="0" y="1340847"/>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AGE</a:t>
          </a:r>
          <a:r>
            <a:rPr lang="en-US" sz="1200" b="0" i="0" kern="1200" baseline="0"/>
            <a:t>: num. continuous. </a:t>
          </a:r>
          <a:endParaRPr lang="en-US" sz="1200" kern="1200"/>
        </a:p>
      </dsp:txBody>
      <dsp:txXfrm>
        <a:off x="0" y="1340847"/>
        <a:ext cx="7812562" cy="267868"/>
      </dsp:txXfrm>
    </dsp:sp>
    <dsp:sp modelId="{0A6D4E55-883D-4F0D-AFAA-3B69D86C320F}">
      <dsp:nvSpPr>
        <dsp:cNvPr id="0" name=""/>
        <dsp:cNvSpPr/>
      </dsp:nvSpPr>
      <dsp:spPr>
        <a:xfrm>
          <a:off x="0" y="1608716"/>
          <a:ext cx="7812562" cy="0"/>
        </a:xfrm>
        <a:prstGeom prst="line">
          <a:avLst/>
        </a:prstGeom>
        <a:solidFill>
          <a:schemeClr val="accent2">
            <a:hueOff val="-427760"/>
            <a:satOff val="-3874"/>
            <a:lumOff val="-856"/>
            <a:alphaOff val="0"/>
          </a:schemeClr>
        </a:solidFill>
        <a:ln w="12700" cap="flat" cmpd="sng" algn="ctr">
          <a:solidFill>
            <a:schemeClr val="accent2">
              <a:hueOff val="-427760"/>
              <a:satOff val="-3874"/>
              <a:lumOff val="-85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5C52FC-EDE8-45B0-9DB2-DA43749BE40D}">
      <dsp:nvSpPr>
        <dsp:cNvPr id="0" name=""/>
        <dsp:cNvSpPr/>
      </dsp:nvSpPr>
      <dsp:spPr>
        <a:xfrm>
          <a:off x="0" y="1608716"/>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PAY_0,PAY_2 to PAY_6</a:t>
          </a:r>
          <a:r>
            <a:rPr lang="en-US" sz="1200" b="0" i="0" kern="1200" baseline="0"/>
            <a:t>: Categorical :-</a:t>
          </a:r>
          <a:endParaRPr lang="en-US" sz="1200" kern="1200"/>
        </a:p>
      </dsp:txBody>
      <dsp:txXfrm>
        <a:off x="0" y="1608716"/>
        <a:ext cx="7812562" cy="267868"/>
      </dsp:txXfrm>
    </dsp:sp>
    <dsp:sp modelId="{74B588E0-573B-4FE0-8D9A-C19BF6B985C4}">
      <dsp:nvSpPr>
        <dsp:cNvPr id="0" name=""/>
        <dsp:cNvSpPr/>
      </dsp:nvSpPr>
      <dsp:spPr>
        <a:xfrm>
          <a:off x="0" y="1876584"/>
          <a:ext cx="7812562" cy="0"/>
        </a:xfrm>
        <a:prstGeom prst="line">
          <a:avLst/>
        </a:prstGeom>
        <a:solidFill>
          <a:schemeClr val="accent2">
            <a:hueOff val="-499053"/>
            <a:satOff val="-4519"/>
            <a:lumOff val="-998"/>
            <a:alphaOff val="0"/>
          </a:schemeClr>
        </a:solidFill>
        <a:ln w="12700" cap="flat" cmpd="sng" algn="ctr">
          <a:solidFill>
            <a:schemeClr val="accent2">
              <a:hueOff val="-499053"/>
              <a:satOff val="-4519"/>
              <a:lumOff val="-9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F012EE-8FE9-4E1F-8AC5-AF8F1D7CBB1A}">
      <dsp:nvSpPr>
        <dsp:cNvPr id="0" name=""/>
        <dsp:cNvSpPr/>
      </dsp:nvSpPr>
      <dsp:spPr>
        <a:xfrm>
          <a:off x="0" y="1876584"/>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2: Payment made in full and on time</a:t>
          </a:r>
          <a:endParaRPr lang="en-US" sz="1200" kern="1200"/>
        </a:p>
      </dsp:txBody>
      <dsp:txXfrm>
        <a:off x="0" y="1876584"/>
        <a:ext cx="7812562" cy="267868"/>
      </dsp:txXfrm>
    </dsp:sp>
    <dsp:sp modelId="{E1AEBFFA-5EFD-44C8-8392-6E06B6D0E3A6}">
      <dsp:nvSpPr>
        <dsp:cNvPr id="0" name=""/>
        <dsp:cNvSpPr/>
      </dsp:nvSpPr>
      <dsp:spPr>
        <a:xfrm>
          <a:off x="0" y="2144453"/>
          <a:ext cx="7812562" cy="0"/>
        </a:xfrm>
        <a:prstGeom prst="line">
          <a:avLst/>
        </a:prstGeom>
        <a:solidFill>
          <a:schemeClr val="accent2">
            <a:hueOff val="-570347"/>
            <a:satOff val="-5165"/>
            <a:lumOff val="-1141"/>
            <a:alphaOff val="0"/>
          </a:schemeClr>
        </a:solidFill>
        <a:ln w="12700" cap="flat" cmpd="sng" algn="ctr">
          <a:solidFill>
            <a:schemeClr val="accent2">
              <a:hueOff val="-570347"/>
              <a:satOff val="-5165"/>
              <a:lumOff val="-11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BF9F3E-76B3-4C7C-9258-E6430A8D8178}">
      <dsp:nvSpPr>
        <dsp:cNvPr id="0" name=""/>
        <dsp:cNvSpPr/>
      </dsp:nvSpPr>
      <dsp:spPr>
        <a:xfrm>
          <a:off x="0" y="2144453"/>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-1: payment made in full but past the due date0: payment of the minimum amount was made</a:t>
          </a:r>
          <a:endParaRPr lang="en-US" sz="1200" kern="1200"/>
        </a:p>
      </dsp:txBody>
      <dsp:txXfrm>
        <a:off x="0" y="2144453"/>
        <a:ext cx="7812562" cy="267868"/>
      </dsp:txXfrm>
    </dsp:sp>
    <dsp:sp modelId="{4FCE3EEB-E101-4851-89EA-2A18B99402FB}">
      <dsp:nvSpPr>
        <dsp:cNvPr id="0" name=""/>
        <dsp:cNvSpPr/>
      </dsp:nvSpPr>
      <dsp:spPr>
        <a:xfrm>
          <a:off x="0" y="2412321"/>
          <a:ext cx="7812562" cy="0"/>
        </a:xfrm>
        <a:prstGeom prst="line">
          <a:avLst/>
        </a:prstGeom>
        <a:solidFill>
          <a:schemeClr val="accent2">
            <a:hueOff val="-641640"/>
            <a:satOff val="-5811"/>
            <a:lumOff val="-1283"/>
            <a:alphaOff val="0"/>
          </a:schemeClr>
        </a:solidFill>
        <a:ln w="12700" cap="flat" cmpd="sng" algn="ctr">
          <a:solidFill>
            <a:schemeClr val="accent2">
              <a:hueOff val="-641640"/>
              <a:satOff val="-5811"/>
              <a:lumOff val="-12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281B91-055F-48BA-81B1-EFFE52421000}">
      <dsp:nvSpPr>
        <dsp:cNvPr id="0" name=""/>
        <dsp:cNvSpPr/>
      </dsp:nvSpPr>
      <dsp:spPr>
        <a:xfrm>
          <a:off x="0" y="2412321"/>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1: payment amount less than the minimum amount due</a:t>
          </a:r>
          <a:endParaRPr lang="en-US" sz="1200" kern="1200"/>
        </a:p>
      </dsp:txBody>
      <dsp:txXfrm>
        <a:off x="0" y="2412321"/>
        <a:ext cx="7812562" cy="267868"/>
      </dsp:txXfrm>
    </dsp:sp>
    <dsp:sp modelId="{F4EF86FF-CB01-4A9B-9417-043DEF7AB002}">
      <dsp:nvSpPr>
        <dsp:cNvPr id="0" name=""/>
        <dsp:cNvSpPr/>
      </dsp:nvSpPr>
      <dsp:spPr>
        <a:xfrm>
          <a:off x="0" y="2680190"/>
          <a:ext cx="7812562" cy="0"/>
        </a:xfrm>
        <a:prstGeom prst="line">
          <a:avLst/>
        </a:prstGeom>
        <a:solidFill>
          <a:schemeClr val="accent2">
            <a:hueOff val="-712933"/>
            <a:satOff val="-6456"/>
            <a:lumOff val="-1426"/>
            <a:alphaOff val="0"/>
          </a:schemeClr>
        </a:solidFill>
        <a:ln w="12700" cap="flat" cmpd="sng" algn="ctr">
          <a:solidFill>
            <a:schemeClr val="accent2">
              <a:hueOff val="-712933"/>
              <a:satOff val="-6456"/>
              <a:lumOff val="-14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792D45-5D68-4C26-8773-3BD48122EA77}">
      <dsp:nvSpPr>
        <dsp:cNvPr id="0" name=""/>
        <dsp:cNvSpPr/>
      </dsp:nvSpPr>
      <dsp:spPr>
        <a:xfrm>
          <a:off x="0" y="2680190"/>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2: payment amount is between the minimum amount due and the full amount due</a:t>
          </a:r>
          <a:endParaRPr lang="en-US" sz="1200" kern="1200"/>
        </a:p>
      </dsp:txBody>
      <dsp:txXfrm>
        <a:off x="0" y="2680190"/>
        <a:ext cx="7812562" cy="267868"/>
      </dsp:txXfrm>
    </dsp:sp>
    <dsp:sp modelId="{0CFB2714-C073-459B-92EF-3B319FC8CC8B}">
      <dsp:nvSpPr>
        <dsp:cNvPr id="0" name=""/>
        <dsp:cNvSpPr/>
      </dsp:nvSpPr>
      <dsp:spPr>
        <a:xfrm>
          <a:off x="0" y="2948058"/>
          <a:ext cx="7812562" cy="0"/>
        </a:xfrm>
        <a:prstGeom prst="line">
          <a:avLst/>
        </a:prstGeom>
        <a:solidFill>
          <a:schemeClr val="accent2">
            <a:hueOff val="-784227"/>
            <a:satOff val="-7102"/>
            <a:lumOff val="-1568"/>
            <a:alphaOff val="0"/>
          </a:schemeClr>
        </a:solidFill>
        <a:ln w="12700" cap="flat" cmpd="sng" algn="ctr">
          <a:solidFill>
            <a:schemeClr val="accent2">
              <a:hueOff val="-784227"/>
              <a:satOff val="-7102"/>
              <a:lumOff val="-15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52EEA9-8278-44B0-A710-6E138D8B5712}">
      <dsp:nvSpPr>
        <dsp:cNvPr id="0" name=""/>
        <dsp:cNvSpPr/>
      </dsp:nvSpPr>
      <dsp:spPr>
        <a:xfrm>
          <a:off x="0" y="2948058"/>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3: payment amount is between one and two months late</a:t>
          </a:r>
          <a:endParaRPr lang="en-US" sz="1200" kern="1200"/>
        </a:p>
      </dsp:txBody>
      <dsp:txXfrm>
        <a:off x="0" y="2948058"/>
        <a:ext cx="7812562" cy="267868"/>
      </dsp:txXfrm>
    </dsp:sp>
    <dsp:sp modelId="{08628870-BD32-4A1E-BC28-599705F0F6EA}">
      <dsp:nvSpPr>
        <dsp:cNvPr id="0" name=""/>
        <dsp:cNvSpPr/>
      </dsp:nvSpPr>
      <dsp:spPr>
        <a:xfrm>
          <a:off x="0" y="3215927"/>
          <a:ext cx="7812562" cy="0"/>
        </a:xfrm>
        <a:prstGeom prst="line">
          <a:avLst/>
        </a:prstGeom>
        <a:solidFill>
          <a:schemeClr val="accent2">
            <a:hueOff val="-855520"/>
            <a:satOff val="-7748"/>
            <a:lumOff val="-1711"/>
            <a:alphaOff val="0"/>
          </a:schemeClr>
        </a:solidFill>
        <a:ln w="12700" cap="flat" cmpd="sng" algn="ctr">
          <a:solidFill>
            <a:schemeClr val="accent2">
              <a:hueOff val="-855520"/>
              <a:satOff val="-7748"/>
              <a:lumOff val="-171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DC62B-A68E-4C73-8522-090B122027BD}">
      <dsp:nvSpPr>
        <dsp:cNvPr id="0" name=""/>
        <dsp:cNvSpPr/>
      </dsp:nvSpPr>
      <dsp:spPr>
        <a:xfrm>
          <a:off x="0" y="3215927"/>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4: payment amount is between two and three months late</a:t>
          </a:r>
          <a:endParaRPr lang="en-US" sz="1200" kern="1200"/>
        </a:p>
      </dsp:txBody>
      <dsp:txXfrm>
        <a:off x="0" y="3215927"/>
        <a:ext cx="7812562" cy="267868"/>
      </dsp:txXfrm>
    </dsp:sp>
    <dsp:sp modelId="{870D936E-4E49-4733-BEEB-D740AC7644B1}">
      <dsp:nvSpPr>
        <dsp:cNvPr id="0" name=""/>
        <dsp:cNvSpPr/>
      </dsp:nvSpPr>
      <dsp:spPr>
        <a:xfrm>
          <a:off x="0" y="3483795"/>
          <a:ext cx="7812562" cy="0"/>
        </a:xfrm>
        <a:prstGeom prst="line">
          <a:avLst/>
        </a:prstGeom>
        <a:solidFill>
          <a:schemeClr val="accent2">
            <a:hueOff val="-926813"/>
            <a:satOff val="-8393"/>
            <a:lumOff val="-1854"/>
            <a:alphaOff val="0"/>
          </a:schemeClr>
        </a:solidFill>
        <a:ln w="12700" cap="flat" cmpd="sng" algn="ctr">
          <a:solidFill>
            <a:schemeClr val="accent2">
              <a:hueOff val="-926813"/>
              <a:satOff val="-8393"/>
              <a:lumOff val="-18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FED43F-4D6E-4121-83E0-5B8076DBF835}">
      <dsp:nvSpPr>
        <dsp:cNvPr id="0" name=""/>
        <dsp:cNvSpPr/>
      </dsp:nvSpPr>
      <dsp:spPr>
        <a:xfrm>
          <a:off x="0" y="3483795"/>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5: payment amount is between three and four months late</a:t>
          </a:r>
          <a:endParaRPr lang="en-US" sz="1200" kern="1200"/>
        </a:p>
      </dsp:txBody>
      <dsp:txXfrm>
        <a:off x="0" y="3483795"/>
        <a:ext cx="7812562" cy="267868"/>
      </dsp:txXfrm>
    </dsp:sp>
    <dsp:sp modelId="{E41BC7FB-C904-4F1B-9A95-535325F798C5}">
      <dsp:nvSpPr>
        <dsp:cNvPr id="0" name=""/>
        <dsp:cNvSpPr/>
      </dsp:nvSpPr>
      <dsp:spPr>
        <a:xfrm>
          <a:off x="0" y="3751664"/>
          <a:ext cx="7812562" cy="0"/>
        </a:xfrm>
        <a:prstGeom prst="line">
          <a:avLst/>
        </a:prstGeom>
        <a:solidFill>
          <a:schemeClr val="accent2">
            <a:hueOff val="-998106"/>
            <a:satOff val="-9039"/>
            <a:lumOff val="-1996"/>
            <a:alphaOff val="0"/>
          </a:schemeClr>
        </a:solidFill>
        <a:ln w="12700" cap="flat" cmpd="sng" algn="ctr">
          <a:solidFill>
            <a:schemeClr val="accent2">
              <a:hueOff val="-998106"/>
              <a:satOff val="-9039"/>
              <a:lumOff val="-19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BABD95-EA4F-4A97-896B-39CB886DA23E}">
      <dsp:nvSpPr>
        <dsp:cNvPr id="0" name=""/>
        <dsp:cNvSpPr/>
      </dsp:nvSpPr>
      <dsp:spPr>
        <a:xfrm>
          <a:off x="0" y="3751664"/>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6: payment amount is between four and five months late</a:t>
          </a:r>
          <a:endParaRPr lang="en-US" sz="1200" kern="1200"/>
        </a:p>
      </dsp:txBody>
      <dsp:txXfrm>
        <a:off x="0" y="3751664"/>
        <a:ext cx="7812562" cy="267868"/>
      </dsp:txXfrm>
    </dsp:sp>
    <dsp:sp modelId="{5726155B-C88C-48CE-8C6D-7DC5057662E7}">
      <dsp:nvSpPr>
        <dsp:cNvPr id="0" name=""/>
        <dsp:cNvSpPr/>
      </dsp:nvSpPr>
      <dsp:spPr>
        <a:xfrm>
          <a:off x="0" y="4019532"/>
          <a:ext cx="7812562" cy="0"/>
        </a:xfrm>
        <a:prstGeom prst="line">
          <a:avLst/>
        </a:prstGeom>
        <a:solidFill>
          <a:schemeClr val="accent2">
            <a:hueOff val="-1069400"/>
            <a:satOff val="-9685"/>
            <a:lumOff val="-2139"/>
            <a:alphaOff val="0"/>
          </a:schemeClr>
        </a:solidFill>
        <a:ln w="12700" cap="flat" cmpd="sng" algn="ctr">
          <a:solidFill>
            <a:schemeClr val="accent2">
              <a:hueOff val="-1069400"/>
              <a:satOff val="-9685"/>
              <a:lumOff val="-21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E3D519-2837-46D6-B415-CEC2CCDF1D8E}">
      <dsp:nvSpPr>
        <dsp:cNvPr id="0" name=""/>
        <dsp:cNvSpPr/>
      </dsp:nvSpPr>
      <dsp:spPr>
        <a:xfrm>
          <a:off x="0" y="4019532"/>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7: payment amount is between five and six months late</a:t>
          </a:r>
          <a:endParaRPr lang="en-US" sz="1200" kern="1200"/>
        </a:p>
      </dsp:txBody>
      <dsp:txXfrm>
        <a:off x="0" y="4019532"/>
        <a:ext cx="7812562" cy="267868"/>
      </dsp:txXfrm>
    </dsp:sp>
    <dsp:sp modelId="{5372F8EA-3394-4478-8924-587758AC650A}">
      <dsp:nvSpPr>
        <dsp:cNvPr id="0" name=""/>
        <dsp:cNvSpPr/>
      </dsp:nvSpPr>
      <dsp:spPr>
        <a:xfrm>
          <a:off x="0" y="4287401"/>
          <a:ext cx="7812562" cy="0"/>
        </a:xfrm>
        <a:prstGeom prst="line">
          <a:avLst/>
        </a:prstGeom>
        <a:solidFill>
          <a:schemeClr val="accent2">
            <a:hueOff val="-1140693"/>
            <a:satOff val="-10330"/>
            <a:lumOff val="-2281"/>
            <a:alphaOff val="0"/>
          </a:schemeClr>
        </a:solidFill>
        <a:ln w="12700" cap="flat" cmpd="sng" algn="ctr">
          <a:solidFill>
            <a:schemeClr val="accent2">
              <a:hueOff val="-1140693"/>
              <a:satOff val="-10330"/>
              <a:lumOff val="-22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DB56C7-0292-4692-8CAE-80850573C27A}">
      <dsp:nvSpPr>
        <dsp:cNvPr id="0" name=""/>
        <dsp:cNvSpPr/>
      </dsp:nvSpPr>
      <dsp:spPr>
        <a:xfrm>
          <a:off x="0" y="4287401"/>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8: payment amount is between six and seven months (or more) late.</a:t>
          </a:r>
          <a:endParaRPr lang="en-US" sz="1200" kern="1200"/>
        </a:p>
      </dsp:txBody>
      <dsp:txXfrm>
        <a:off x="0" y="4287401"/>
        <a:ext cx="7812562" cy="267868"/>
      </dsp:txXfrm>
    </dsp:sp>
    <dsp:sp modelId="{A4AB0B62-13F6-400E-AE4B-D467D57EF403}">
      <dsp:nvSpPr>
        <dsp:cNvPr id="0" name=""/>
        <dsp:cNvSpPr/>
      </dsp:nvSpPr>
      <dsp:spPr>
        <a:xfrm>
          <a:off x="0" y="4555269"/>
          <a:ext cx="7812562" cy="0"/>
        </a:xfrm>
        <a:prstGeom prst="line">
          <a:avLst/>
        </a:prstGeom>
        <a:solidFill>
          <a:schemeClr val="accent2">
            <a:hueOff val="-1211986"/>
            <a:satOff val="-10976"/>
            <a:lumOff val="-2424"/>
            <a:alphaOff val="0"/>
          </a:schemeClr>
        </a:solidFill>
        <a:ln w="12700" cap="flat" cmpd="sng" algn="ctr">
          <a:solidFill>
            <a:schemeClr val="accent2">
              <a:hueOff val="-1211986"/>
              <a:satOff val="-10976"/>
              <a:lumOff val="-24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8D9F11-B8E8-43D9-9D35-B9EE4AE2541D}">
      <dsp:nvSpPr>
        <dsp:cNvPr id="0" name=""/>
        <dsp:cNvSpPr/>
      </dsp:nvSpPr>
      <dsp:spPr>
        <a:xfrm>
          <a:off x="0" y="4555269"/>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BILL_AMT1 to BILL_AMT6</a:t>
          </a:r>
          <a:r>
            <a:rPr lang="en-US" sz="1200" b="0" i="0" kern="1200" baseline="0"/>
            <a:t>: Amount of bill statements.</a:t>
          </a:r>
          <a:endParaRPr lang="en-US" sz="1200" kern="1200"/>
        </a:p>
      </dsp:txBody>
      <dsp:txXfrm>
        <a:off x="0" y="4555269"/>
        <a:ext cx="7812562" cy="267868"/>
      </dsp:txXfrm>
    </dsp:sp>
    <dsp:sp modelId="{0C191151-F136-4BAA-9BE9-6B89383FA4C9}">
      <dsp:nvSpPr>
        <dsp:cNvPr id="0" name=""/>
        <dsp:cNvSpPr/>
      </dsp:nvSpPr>
      <dsp:spPr>
        <a:xfrm>
          <a:off x="0" y="4823138"/>
          <a:ext cx="7812562" cy="0"/>
        </a:xfrm>
        <a:prstGeom prst="line">
          <a:avLst/>
        </a:prstGeom>
        <a:solidFill>
          <a:schemeClr val="accent2">
            <a:hueOff val="-1283280"/>
            <a:satOff val="-11621"/>
            <a:lumOff val="-2567"/>
            <a:alphaOff val="0"/>
          </a:schemeClr>
        </a:solidFill>
        <a:ln w="12700" cap="flat" cmpd="sng" algn="ctr">
          <a:solidFill>
            <a:schemeClr val="accent2">
              <a:hueOff val="-1283280"/>
              <a:satOff val="-11621"/>
              <a:lumOff val="-256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60E7BE-5BD6-4BF4-846E-A4581918727C}">
      <dsp:nvSpPr>
        <dsp:cNvPr id="0" name=""/>
        <dsp:cNvSpPr/>
      </dsp:nvSpPr>
      <dsp:spPr>
        <a:xfrm>
          <a:off x="0" y="4823138"/>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PAY_AMT1 to PAY_AMT6</a:t>
          </a:r>
          <a:r>
            <a:rPr lang="en-US" sz="1200" b="0" i="0" kern="1200" baseline="0"/>
            <a:t>: Amount of previous payments </a:t>
          </a:r>
          <a:endParaRPr lang="en-US" sz="1200" kern="1200"/>
        </a:p>
      </dsp:txBody>
      <dsp:txXfrm>
        <a:off x="0" y="4823138"/>
        <a:ext cx="7812562" cy="267868"/>
      </dsp:txXfrm>
    </dsp:sp>
    <dsp:sp modelId="{375C025B-6962-4771-B9F5-804C4E71139B}">
      <dsp:nvSpPr>
        <dsp:cNvPr id="0" name=""/>
        <dsp:cNvSpPr/>
      </dsp:nvSpPr>
      <dsp:spPr>
        <a:xfrm>
          <a:off x="0" y="5091006"/>
          <a:ext cx="7812562" cy="0"/>
        </a:xfrm>
        <a:prstGeom prst="line">
          <a:avLst/>
        </a:prstGeom>
        <a:solidFill>
          <a:schemeClr val="accent2">
            <a:hueOff val="-1354573"/>
            <a:satOff val="-12267"/>
            <a:lumOff val="-2709"/>
            <a:alphaOff val="0"/>
          </a:schemeClr>
        </a:solidFill>
        <a:ln w="12700" cap="flat" cmpd="sng" algn="ctr">
          <a:solidFill>
            <a:schemeClr val="accent2">
              <a:hueOff val="-1354573"/>
              <a:satOff val="-12267"/>
              <a:lumOff val="-27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77D534-2FE7-41B4-9D00-E44183BE5CCD}">
      <dsp:nvSpPr>
        <dsp:cNvPr id="0" name=""/>
        <dsp:cNvSpPr/>
      </dsp:nvSpPr>
      <dsp:spPr>
        <a:xfrm>
          <a:off x="0" y="5091006"/>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Target</a:t>
          </a:r>
          <a:r>
            <a:rPr lang="en-US" sz="1200" b="0" i="0" kern="1200" baseline="0"/>
            <a:t>:</a:t>
          </a:r>
          <a:endParaRPr lang="en-US" sz="1200" kern="1200"/>
        </a:p>
      </dsp:txBody>
      <dsp:txXfrm>
        <a:off x="0" y="5091006"/>
        <a:ext cx="7812562" cy="267868"/>
      </dsp:txXfrm>
    </dsp:sp>
    <dsp:sp modelId="{3328CC13-23E3-4980-AEF3-2ADB52B1F96E}">
      <dsp:nvSpPr>
        <dsp:cNvPr id="0" name=""/>
        <dsp:cNvSpPr/>
      </dsp:nvSpPr>
      <dsp:spPr>
        <a:xfrm>
          <a:off x="0" y="5358875"/>
          <a:ext cx="7812562" cy="0"/>
        </a:xfrm>
        <a:prstGeom prst="line">
          <a:avLst/>
        </a:prstGeom>
        <a:solidFill>
          <a:schemeClr val="accent2">
            <a:hueOff val="-1425866"/>
            <a:satOff val="-12913"/>
            <a:lumOff val="-2852"/>
            <a:alphaOff val="0"/>
          </a:schemeClr>
        </a:solidFill>
        <a:ln w="12700" cap="flat" cmpd="sng" algn="ctr">
          <a:solidFill>
            <a:schemeClr val="accent2">
              <a:hueOff val="-1425866"/>
              <a:satOff val="-12913"/>
              <a:lumOff val="-28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4CA092-F829-4769-859D-72CFA9A0F173}">
      <dsp:nvSpPr>
        <dsp:cNvPr id="0" name=""/>
        <dsp:cNvSpPr/>
      </dsp:nvSpPr>
      <dsp:spPr>
        <a:xfrm>
          <a:off x="0" y="5358875"/>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i="0" kern="1200" baseline="0"/>
            <a:t>Default </a:t>
          </a:r>
          <a:r>
            <a:rPr lang="en-US" sz="1200" b="0" i="0" kern="1200" baseline="0"/>
            <a:t>Categorical</a:t>
          </a:r>
          <a:endParaRPr lang="en-US" sz="1200" kern="1200"/>
        </a:p>
      </dsp:txBody>
      <dsp:txXfrm>
        <a:off x="0" y="5358875"/>
        <a:ext cx="7812562" cy="267868"/>
      </dsp:txXfrm>
    </dsp:sp>
    <dsp:sp modelId="{35269C19-65A5-4AD6-BA8A-362E5F39C86C}">
      <dsp:nvSpPr>
        <dsp:cNvPr id="0" name=""/>
        <dsp:cNvSpPr/>
      </dsp:nvSpPr>
      <dsp:spPr>
        <a:xfrm>
          <a:off x="0" y="5626744"/>
          <a:ext cx="7812562" cy="0"/>
        </a:xfrm>
        <a:prstGeom prst="line">
          <a:avLst/>
        </a:prstGeom>
        <a:solidFill>
          <a:schemeClr val="accent2">
            <a:hueOff val="-1497160"/>
            <a:satOff val="-13558"/>
            <a:lumOff val="-2994"/>
            <a:alphaOff val="0"/>
          </a:schemeClr>
        </a:solidFill>
        <a:ln w="12700" cap="flat" cmpd="sng" algn="ctr">
          <a:solidFill>
            <a:schemeClr val="accent2">
              <a:hueOff val="-1497160"/>
              <a:satOff val="-13558"/>
              <a:lumOff val="-29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FBECAC-B355-4C07-835C-90C2E34C4A17}">
      <dsp:nvSpPr>
        <dsp:cNvPr id="0" name=""/>
        <dsp:cNvSpPr/>
      </dsp:nvSpPr>
      <dsp:spPr>
        <a:xfrm>
          <a:off x="0" y="5626744"/>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0:The Person will not be in the defaulter list for the next month</a:t>
          </a:r>
        </a:p>
      </dsp:txBody>
      <dsp:txXfrm>
        <a:off x="0" y="5626744"/>
        <a:ext cx="7812562" cy="267868"/>
      </dsp:txXfrm>
    </dsp:sp>
    <dsp:sp modelId="{DAACB1D7-7783-441E-B27B-FD9BE8FD050A}">
      <dsp:nvSpPr>
        <dsp:cNvPr id="0" name=""/>
        <dsp:cNvSpPr/>
      </dsp:nvSpPr>
      <dsp:spPr>
        <a:xfrm>
          <a:off x="0" y="5894612"/>
          <a:ext cx="7812562" cy="0"/>
        </a:xfrm>
        <a:prstGeom prst="line">
          <a:avLst/>
        </a:prstGeom>
        <a:solidFill>
          <a:schemeClr val="accent2">
            <a:hueOff val="-1568453"/>
            <a:satOff val="-14204"/>
            <a:lumOff val="-3137"/>
            <a:alphaOff val="0"/>
          </a:schemeClr>
        </a:solidFill>
        <a:ln w="12700" cap="flat" cmpd="sng" algn="ctr">
          <a:solidFill>
            <a:schemeClr val="accent2">
              <a:hueOff val="-1568453"/>
              <a:satOff val="-14204"/>
              <a:lumOff val="-313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1936B0-D3C1-47A1-9A51-8C60F8A57817}">
      <dsp:nvSpPr>
        <dsp:cNvPr id="0" name=""/>
        <dsp:cNvSpPr/>
      </dsp:nvSpPr>
      <dsp:spPr>
        <a:xfrm>
          <a:off x="0" y="5894612"/>
          <a:ext cx="7812562" cy="267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0" i="0" kern="1200" baseline="0"/>
            <a:t>1:</a:t>
          </a:r>
          <a:r>
            <a:rPr lang="en-US" sz="1200" kern="1200"/>
            <a:t> The Person will  be in the defaulter list for the next month</a:t>
          </a:r>
        </a:p>
      </dsp:txBody>
      <dsp:txXfrm>
        <a:off x="0" y="5894612"/>
        <a:ext cx="7812562" cy="26786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4/5/2026</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605298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4/5/2026</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534646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4/5/2026</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996261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4/5/2026</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18557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4/5/2026</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069833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4/5/2026</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76930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4/5/2026</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90058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4/5/2026</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172369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4/5/2026</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30835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4/5/2026</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154511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4/5/2026</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635251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4/5/2026</a:t>
            </a:fld>
            <a:endParaRPr lang="en-US"/>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296778678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rchive.ics.uci.edu/ml/datasets/default+of+credit+card+client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sv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Freeform: Shape 45">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8" name="Group 47">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79" name="Rectangle 7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1" name="Rectangle 80">
            <a:extLst>
              <a:ext uri="{FF2B5EF4-FFF2-40B4-BE49-F238E27FC236}">
                <a16:creationId xmlns:a16="http://schemas.microsoft.com/office/drawing/2014/main" id="{5839FC30-63C9-4643-98EF-7B1C31BE3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3" name="Right Triangle 82">
            <a:extLst>
              <a:ext uri="{FF2B5EF4-FFF2-40B4-BE49-F238E27FC236}">
                <a16:creationId xmlns:a16="http://schemas.microsoft.com/office/drawing/2014/main" id="{2B76B338-5C91-48AF-BFFC-93C8AAD6D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3303" y="4358020"/>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07FE80B3-9970-48B3-8883-81ED2FE4A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007832" y="4676762"/>
            <a:ext cx="2222198" cy="2133710"/>
          </a:xfrm>
          <a:custGeom>
            <a:avLst/>
            <a:gdLst>
              <a:gd name="connsiteX0" fmla="*/ 0 w 2222198"/>
              <a:gd name="connsiteY0" fmla="*/ 0 h 2133710"/>
              <a:gd name="connsiteX1" fmla="*/ 44227 w 2222198"/>
              <a:gd name="connsiteY1" fmla="*/ 2234 h 2133710"/>
              <a:gd name="connsiteX2" fmla="*/ 2193454 w 2222198"/>
              <a:gd name="connsiteY2" fmla="*/ 1945372 h 2133710"/>
              <a:gd name="connsiteX3" fmla="*/ 2222198 w 2222198"/>
              <a:gd name="connsiteY3" fmla="*/ 2133710 h 2133710"/>
              <a:gd name="connsiteX4" fmla="*/ 1394653 w 2222198"/>
              <a:gd name="connsiteY4" fmla="*/ 2133710 h 2133710"/>
              <a:gd name="connsiteX5" fmla="*/ 1391100 w 2222198"/>
              <a:gd name="connsiteY5" fmla="*/ 2110427 h 2133710"/>
              <a:gd name="connsiteX6" fmla="*/ 122376 w 2222198"/>
              <a:gd name="connsiteY6" fmla="*/ 841704 h 2133710"/>
              <a:gd name="connsiteX7" fmla="*/ 0 w 2222198"/>
              <a:gd name="connsiteY7" fmla="*/ 823027 h 213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2198" h="2133710">
                <a:moveTo>
                  <a:pt x="0" y="0"/>
                </a:moveTo>
                <a:lnTo>
                  <a:pt x="44227" y="2234"/>
                </a:lnTo>
                <a:cubicBezTo>
                  <a:pt x="1114682" y="110944"/>
                  <a:pt x="1981368" y="908934"/>
                  <a:pt x="2193454" y="1945372"/>
                </a:cubicBezTo>
                <a:lnTo>
                  <a:pt x="2222198" y="2133710"/>
                </a:lnTo>
                <a:lnTo>
                  <a:pt x="1394653" y="2133710"/>
                </a:lnTo>
                <a:lnTo>
                  <a:pt x="1391100" y="2110427"/>
                </a:lnTo>
                <a:cubicBezTo>
                  <a:pt x="1260786" y="1473602"/>
                  <a:pt x="759202" y="972017"/>
                  <a:pt x="122376" y="841704"/>
                </a:cubicBezTo>
                <a:lnTo>
                  <a:pt x="0" y="823027"/>
                </a:ln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7" name="Group 86">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88" name="Straight Connector 87">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F40DEBA-FC78-C11C-CA69-C70A67F808C5}"/>
              </a:ext>
            </a:extLst>
          </p:cNvPr>
          <p:cNvSpPr>
            <a:spLocks noGrp="1"/>
          </p:cNvSpPr>
          <p:nvPr>
            <p:ph type="ctrTitle"/>
          </p:nvPr>
        </p:nvSpPr>
        <p:spPr>
          <a:xfrm>
            <a:off x="372532" y="922308"/>
            <a:ext cx="6548127" cy="2141612"/>
          </a:xfrm>
        </p:spPr>
        <p:txBody>
          <a:bodyPr vert="horz" lIns="91440" tIns="45720" rIns="91440" bIns="45720" rtlCol="0" anchor="ctr">
            <a:normAutofit/>
          </a:bodyPr>
          <a:lstStyle/>
          <a:p>
            <a:pPr algn="l"/>
            <a:r>
              <a:rPr lang="en-US" sz="3700">
                <a:solidFill>
                  <a:schemeClr val="tx2"/>
                </a:solidFill>
              </a:rPr>
              <a:t>Credit Card Defaulter Prediction Using Machine Learning</a:t>
            </a:r>
          </a:p>
        </p:txBody>
      </p:sp>
    </p:spTree>
    <p:extLst>
      <p:ext uri="{BB962C8B-B14F-4D97-AF65-F5344CB8AC3E}">
        <p14:creationId xmlns:p14="http://schemas.microsoft.com/office/powerpoint/2010/main" val="143605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ectangle 51">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4" name="Right Triangle 5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8" name="Group 5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59" name="Straight Connector 5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74EA45B-59F2-5C29-2845-A9CEBAA1E300}"/>
              </a:ext>
            </a:extLst>
          </p:cNvPr>
          <p:cNvSpPr>
            <a:spLocks noGrp="1"/>
          </p:cNvSpPr>
          <p:nvPr>
            <p:ph type="title"/>
          </p:nvPr>
        </p:nvSpPr>
        <p:spPr>
          <a:xfrm>
            <a:off x="431819" y="168962"/>
            <a:ext cx="10754527" cy="1269441"/>
          </a:xfrm>
        </p:spPr>
        <p:txBody>
          <a:bodyPr anchor="b">
            <a:normAutofit/>
          </a:bodyPr>
          <a:lstStyle/>
          <a:p>
            <a:r>
              <a:rPr lang="en-US">
                <a:solidFill>
                  <a:schemeClr val="tx2"/>
                </a:solidFill>
              </a:rPr>
              <a:t>Problem Statement</a:t>
            </a:r>
          </a:p>
        </p:txBody>
      </p:sp>
      <p:sp>
        <p:nvSpPr>
          <p:cNvPr id="3" name="Content Placeholder 2">
            <a:extLst>
              <a:ext uri="{FF2B5EF4-FFF2-40B4-BE49-F238E27FC236}">
                <a16:creationId xmlns:a16="http://schemas.microsoft.com/office/drawing/2014/main" id="{28320DBA-5F4F-1B2D-C2AF-CFC15F7FEBE0}"/>
              </a:ext>
            </a:extLst>
          </p:cNvPr>
          <p:cNvSpPr>
            <a:spLocks noGrp="1"/>
          </p:cNvSpPr>
          <p:nvPr>
            <p:ph idx="1"/>
          </p:nvPr>
        </p:nvSpPr>
        <p:spPr>
          <a:xfrm>
            <a:off x="431819" y="1874608"/>
            <a:ext cx="11429999" cy="3307120"/>
          </a:xfrm>
        </p:spPr>
        <p:txBody>
          <a:bodyPr anchor="t">
            <a:normAutofit fontScale="70000" lnSpcReduction="20000"/>
          </a:bodyPr>
          <a:lstStyle/>
          <a:p>
            <a:r>
              <a:rPr lang="en-US">
                <a:solidFill>
                  <a:schemeClr val="tx2"/>
                </a:solidFill>
                <a:cs typeface="Times New Roman"/>
              </a:rPr>
              <a:t>Predicting whether a customer is defaulting credit payment for the next month</a:t>
            </a:r>
          </a:p>
          <a:p>
            <a:pPr marL="0" indent="0">
              <a:buNone/>
            </a:pPr>
            <a:endParaRPr lang="en-US">
              <a:solidFill>
                <a:schemeClr val="tx2"/>
              </a:solidFill>
              <a:cs typeface="Times New Roman"/>
            </a:endParaRPr>
          </a:p>
          <a:p>
            <a:pPr marL="0" indent="0">
              <a:buNone/>
            </a:pPr>
            <a:r>
              <a:rPr lang="en-US">
                <a:solidFill>
                  <a:schemeClr val="tx2"/>
                </a:solidFill>
                <a:cs typeface="Times New Roman"/>
              </a:rPr>
              <a:t>    The findings of the project aim to assist financial institutions by addressing the below:</a:t>
            </a:r>
          </a:p>
          <a:p>
            <a:pPr marL="0" indent="0">
              <a:buNone/>
            </a:pPr>
            <a:r>
              <a:rPr lang="en-US">
                <a:solidFill>
                  <a:schemeClr val="tx2"/>
                </a:solidFill>
                <a:cs typeface="Times New Roman"/>
              </a:rPr>
              <a:t>            1) Risk Management:</a:t>
            </a:r>
          </a:p>
          <a:p>
            <a:pPr marL="0" indent="0">
              <a:buNone/>
            </a:pPr>
            <a:r>
              <a:rPr lang="en-US">
                <a:solidFill>
                  <a:schemeClr val="tx2"/>
                </a:solidFill>
                <a:cs typeface="Times New Roman"/>
              </a:rPr>
              <a:t>                     - To proactively reduce credit limits of users based on their profile and mitigate losses.</a:t>
            </a:r>
          </a:p>
          <a:p>
            <a:pPr marL="0" indent="0">
              <a:buNone/>
            </a:pPr>
            <a:r>
              <a:rPr lang="en-US">
                <a:solidFill>
                  <a:schemeClr val="tx2"/>
                </a:solidFill>
                <a:cs typeface="Times New Roman"/>
              </a:rPr>
              <a:t>            2) Customer Retention:</a:t>
            </a:r>
          </a:p>
          <a:p>
            <a:pPr marL="0" indent="0">
              <a:buNone/>
            </a:pPr>
            <a:r>
              <a:rPr lang="en-US">
                <a:solidFill>
                  <a:schemeClr val="tx2"/>
                </a:solidFill>
                <a:cs typeface="Times New Roman"/>
              </a:rPr>
              <a:t>                    - Retaining customers by providing tailored incentives to low-risk customers using</a:t>
            </a:r>
          </a:p>
          <a:p>
            <a:pPr marL="0" indent="0">
              <a:buNone/>
            </a:pPr>
            <a:r>
              <a:rPr lang="en-US">
                <a:solidFill>
                  <a:schemeClr val="tx2"/>
                </a:solidFill>
                <a:cs typeface="Times New Roman"/>
              </a:rPr>
              <a:t>                      customer segmentation.</a:t>
            </a:r>
          </a:p>
          <a:p>
            <a:endParaRPr lang="en-US">
              <a:solidFill>
                <a:schemeClr val="tx2"/>
              </a:solidFill>
              <a:latin typeface="Times New Roman"/>
              <a:cs typeface="Times New Roman"/>
            </a:endParaRPr>
          </a:p>
          <a:p>
            <a:endParaRPr lang="en-US">
              <a:solidFill>
                <a:schemeClr val="tx2"/>
              </a:solidFill>
              <a:latin typeface="Times New Roman"/>
              <a:cs typeface="Times New Roman"/>
            </a:endParaRPr>
          </a:p>
        </p:txBody>
      </p:sp>
    </p:spTree>
    <p:extLst>
      <p:ext uri="{BB962C8B-B14F-4D97-AF65-F5344CB8AC3E}">
        <p14:creationId xmlns:p14="http://schemas.microsoft.com/office/powerpoint/2010/main" val="879182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A844493-FE15-43DD-82AA-9EB849469598}"/>
              </a:ext>
            </a:extLst>
          </p:cNvPr>
          <p:cNvSpPr>
            <a:spLocks noGrp="1"/>
          </p:cNvSpPr>
          <p:nvPr>
            <p:ph type="title"/>
          </p:nvPr>
        </p:nvSpPr>
        <p:spPr>
          <a:xfrm>
            <a:off x="457200" y="728907"/>
            <a:ext cx="10754527" cy="1790878"/>
          </a:xfrm>
        </p:spPr>
        <p:txBody>
          <a:bodyPr anchor="b">
            <a:normAutofit/>
          </a:bodyPr>
          <a:lstStyle/>
          <a:p>
            <a:r>
              <a:rPr lang="en-US">
                <a:solidFill>
                  <a:schemeClr val="tx2"/>
                </a:solidFill>
                <a:cs typeface="Times New Roman"/>
              </a:rPr>
              <a:t>About Dataset</a:t>
            </a:r>
          </a:p>
        </p:txBody>
      </p:sp>
      <p:sp>
        <p:nvSpPr>
          <p:cNvPr id="59" name="Content Placeholder 2">
            <a:extLst>
              <a:ext uri="{FF2B5EF4-FFF2-40B4-BE49-F238E27FC236}">
                <a16:creationId xmlns:a16="http://schemas.microsoft.com/office/drawing/2014/main" id="{8E04DF91-224E-76BE-F8F4-492B9B929E6B}"/>
              </a:ext>
            </a:extLst>
          </p:cNvPr>
          <p:cNvSpPr>
            <a:spLocks noGrp="1"/>
          </p:cNvSpPr>
          <p:nvPr>
            <p:ph idx="1"/>
          </p:nvPr>
        </p:nvSpPr>
        <p:spPr>
          <a:xfrm>
            <a:off x="457201" y="2691500"/>
            <a:ext cx="9745506" cy="3119019"/>
          </a:xfrm>
        </p:spPr>
        <p:txBody>
          <a:bodyPr anchor="t">
            <a:normAutofit/>
          </a:bodyPr>
          <a:lstStyle/>
          <a:p>
            <a:r>
              <a:rPr lang="en-US" sz="1800" b="0" i="0">
                <a:solidFill>
                  <a:schemeClr val="tx2"/>
                </a:solidFill>
                <a:effectLst/>
                <a:latin typeface="Avenir Next LT Pro"/>
                <a:cs typeface="Times New Roman"/>
              </a:rPr>
              <a:t>This dataset contains information on default payments, demographic factors, credit data, history of payment, and bill statements of credit card clients</a:t>
            </a:r>
          </a:p>
          <a:p>
            <a:r>
              <a:rPr lang="en-US" sz="1800">
                <a:solidFill>
                  <a:schemeClr val="tx2"/>
                </a:solidFill>
                <a:latin typeface="Avenir Next LT Pro"/>
                <a:cs typeface="Times New Roman"/>
              </a:rPr>
              <a:t>Source: </a:t>
            </a:r>
            <a:r>
              <a:rPr lang="en-US" sz="1800">
                <a:solidFill>
                  <a:schemeClr val="tx2"/>
                </a:solidFill>
                <a:latin typeface="Avenir Next LT Pro"/>
                <a:cs typeface="Times New Roman"/>
                <a:hlinkClick r:id="rId2">
                  <a:extLst>
                    <a:ext uri="{A12FA001-AC4F-418D-AE19-62706E023703}">
                      <ahyp:hlinkClr xmlns:ahyp="http://schemas.microsoft.com/office/drawing/2018/hyperlinkcolor" val="tx"/>
                    </a:ext>
                  </a:extLst>
                </a:hlinkClick>
              </a:rPr>
              <a:t>https://archive.ics.uci.edu/ml/datasets/default+of+credit+card+clients</a:t>
            </a:r>
            <a:endParaRPr lang="en-US" sz="1800">
              <a:solidFill>
                <a:schemeClr val="tx2"/>
              </a:solidFill>
              <a:latin typeface="Avenir Next LT Pro"/>
              <a:cs typeface="Times New Roman"/>
            </a:endParaRPr>
          </a:p>
          <a:p>
            <a:r>
              <a:rPr lang="en-US" sz="1800">
                <a:solidFill>
                  <a:schemeClr val="tx2"/>
                </a:solidFill>
                <a:latin typeface="Avenir Next LT Pro"/>
                <a:cs typeface="Times New Roman"/>
              </a:rPr>
              <a:t>            UCI Machine learning repository </a:t>
            </a:r>
          </a:p>
          <a:p>
            <a:endParaRPr lang="en-US" sz="1800">
              <a:solidFill>
                <a:schemeClr val="tx2"/>
              </a:solidFill>
              <a:latin typeface="Avenir Next LT Pro"/>
              <a:cs typeface="Times New Roman"/>
            </a:endParaRPr>
          </a:p>
          <a:p>
            <a:r>
              <a:rPr lang="en-US" sz="1800">
                <a:solidFill>
                  <a:schemeClr val="tx2"/>
                </a:solidFill>
                <a:latin typeface="Avenir Next LT Pro"/>
                <a:cs typeface="Times New Roman"/>
              </a:rPr>
              <a:t>The dataset has over 30,000 observations and 24 features.</a:t>
            </a:r>
          </a:p>
        </p:txBody>
      </p:sp>
    </p:spTree>
    <p:extLst>
      <p:ext uri="{BB962C8B-B14F-4D97-AF65-F5344CB8AC3E}">
        <p14:creationId xmlns:p14="http://schemas.microsoft.com/office/powerpoint/2010/main" val="156589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3CDAD724-AF32-45EC-B0B9-360C73C9D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ight Triangle 12">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6" name="Straight Connector 15">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3948DCF-9E42-9B45-F02B-62048272601A}"/>
              </a:ext>
            </a:extLst>
          </p:cNvPr>
          <p:cNvSpPr>
            <a:spLocks noGrp="1"/>
          </p:cNvSpPr>
          <p:nvPr>
            <p:ph type="title"/>
          </p:nvPr>
        </p:nvSpPr>
        <p:spPr>
          <a:xfrm>
            <a:off x="457200" y="720772"/>
            <a:ext cx="3718767" cy="5531079"/>
          </a:xfrm>
        </p:spPr>
        <p:txBody>
          <a:bodyPr>
            <a:normAutofit/>
          </a:bodyPr>
          <a:lstStyle/>
          <a:p>
            <a:r>
              <a:rPr lang="en-US">
                <a:solidFill>
                  <a:schemeClr val="tx2">
                    <a:alpha val="80000"/>
                  </a:schemeClr>
                </a:solidFill>
                <a:cs typeface="Times New Roman"/>
              </a:rPr>
              <a:t>Dataset Description</a:t>
            </a:r>
          </a:p>
        </p:txBody>
      </p:sp>
      <p:sp>
        <p:nvSpPr>
          <p:cNvPr id="46" name="Rectangle 45">
            <a:extLst>
              <a:ext uri="{FF2B5EF4-FFF2-40B4-BE49-F238E27FC236}">
                <a16:creationId xmlns:a16="http://schemas.microsoft.com/office/drawing/2014/main" id="{BA4D4000-2689-4306-BBA6-BF744AB5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893" y="191033"/>
            <a:ext cx="7763540" cy="60655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Content Placeholder 2">
            <a:extLst>
              <a:ext uri="{FF2B5EF4-FFF2-40B4-BE49-F238E27FC236}">
                <a16:creationId xmlns:a16="http://schemas.microsoft.com/office/drawing/2014/main" id="{68D60311-9996-4CB1-DC37-69A11958F3F9}"/>
              </a:ext>
            </a:extLst>
          </p:cNvPr>
          <p:cNvGraphicFramePr>
            <a:graphicFrameLocks noGrp="1"/>
          </p:cNvGraphicFramePr>
          <p:nvPr>
            <p:ph idx="1"/>
            <p:extLst>
              <p:ext uri="{D42A27DB-BD31-4B8C-83A1-F6EECF244321}">
                <p14:modId xmlns:p14="http://schemas.microsoft.com/office/powerpoint/2010/main" val="3659318435"/>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1997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 name="Rectangle 9">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67" name="Group 11">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68" name="Freeform: Shape 42">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69" name="Freeform: Shape 44">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0" name="Rectangle 46">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1" name="Group 48">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0" name="Straight Connector 49">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72" name="Freeform: Shape 79">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73" name="Group 81">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3" name="Straight Connector 82">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74" name="Rectangle 112">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14">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ight Triangle 116">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Freeform: Shape 118">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78" name="Group 120">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2" name="Straight Connector 121">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92EB56-5FD9-5E63-40E5-805BFE1CACF3}"/>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5400">
                <a:solidFill>
                  <a:schemeClr val="tx2"/>
                </a:solidFill>
                <a:latin typeface="Times New Roman"/>
                <a:cs typeface="Times New Roman"/>
              </a:rPr>
              <a:t> </a:t>
            </a:r>
            <a:r>
              <a:rPr lang="en-US" sz="5400">
                <a:solidFill>
                  <a:schemeClr val="tx2"/>
                </a:solidFill>
                <a:cs typeface="Times New Roman"/>
              </a:rPr>
              <a:t>Flow Chart</a:t>
            </a:r>
          </a:p>
        </p:txBody>
      </p:sp>
      <p:pic>
        <p:nvPicPr>
          <p:cNvPr id="5" name="Content Placeholder 4">
            <a:extLst>
              <a:ext uri="{FF2B5EF4-FFF2-40B4-BE49-F238E27FC236}">
                <a16:creationId xmlns:a16="http://schemas.microsoft.com/office/drawing/2014/main" id="{9C60DA87-F40A-F90D-BA1B-38B21E8521D5}"/>
              </a:ext>
            </a:extLst>
          </p:cNvPr>
          <p:cNvPicPr>
            <a:picLocks noGrp="1" noChangeAspect="1"/>
          </p:cNvPicPr>
          <p:nvPr>
            <p:ph idx="1"/>
          </p:nvPr>
        </p:nvPicPr>
        <p:blipFill>
          <a:blip r:embed="rId2"/>
          <a:stretch>
            <a:fillRect/>
          </a:stretch>
        </p:blipFill>
        <p:spPr>
          <a:xfrm>
            <a:off x="2651474" y="2036217"/>
            <a:ext cx="7894606" cy="4212183"/>
          </a:xfrm>
          <a:prstGeom prst="rect">
            <a:avLst/>
          </a:prstGeom>
        </p:spPr>
      </p:pic>
    </p:spTree>
    <p:extLst>
      <p:ext uri="{BB962C8B-B14F-4D97-AF65-F5344CB8AC3E}">
        <p14:creationId xmlns:p14="http://schemas.microsoft.com/office/powerpoint/2010/main" val="2462682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ight Triangle 12">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 name="Group 16">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8" name="Straight Connector 17">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2AE4410-A325-9E89-54FC-6AC05FD3DBD7}"/>
              </a:ext>
            </a:extLst>
          </p:cNvPr>
          <p:cNvSpPr>
            <a:spLocks noGrp="1"/>
          </p:cNvSpPr>
          <p:nvPr>
            <p:ph type="title"/>
          </p:nvPr>
        </p:nvSpPr>
        <p:spPr>
          <a:xfrm>
            <a:off x="457201" y="732348"/>
            <a:ext cx="4419600" cy="2240735"/>
          </a:xfrm>
        </p:spPr>
        <p:txBody>
          <a:bodyPr>
            <a:normAutofit/>
          </a:bodyPr>
          <a:lstStyle/>
          <a:p>
            <a:r>
              <a:rPr lang="en-US" sz="3600">
                <a:solidFill>
                  <a:schemeClr val="tx2"/>
                </a:solidFill>
                <a:cs typeface="Posterama"/>
              </a:rPr>
              <a:t>EXPLORATORY DATA  ANALYSIS</a:t>
            </a:r>
            <a:endParaRPr lang="en-US" sz="3600">
              <a:solidFill>
                <a:schemeClr val="tx2"/>
              </a:solidFill>
              <a:cs typeface="Times New Roman"/>
            </a:endParaRPr>
          </a:p>
        </p:txBody>
      </p:sp>
      <p:sp>
        <p:nvSpPr>
          <p:cNvPr id="3" name="Content Placeholder 2">
            <a:extLst>
              <a:ext uri="{FF2B5EF4-FFF2-40B4-BE49-F238E27FC236}">
                <a16:creationId xmlns:a16="http://schemas.microsoft.com/office/drawing/2014/main" id="{16213861-4046-4F1E-AD06-900745435766}"/>
              </a:ext>
            </a:extLst>
          </p:cNvPr>
          <p:cNvSpPr>
            <a:spLocks noGrp="1"/>
          </p:cNvSpPr>
          <p:nvPr>
            <p:ph idx="1"/>
          </p:nvPr>
        </p:nvSpPr>
        <p:spPr>
          <a:xfrm>
            <a:off x="457201" y="3264832"/>
            <a:ext cx="4419600" cy="2983568"/>
          </a:xfrm>
        </p:spPr>
        <p:txBody>
          <a:bodyPr vert="horz" lIns="91440" tIns="45720" rIns="91440" bIns="45720" rtlCol="0" anchor="t">
            <a:normAutofit/>
          </a:bodyPr>
          <a:lstStyle/>
          <a:p>
            <a:pPr marL="0" indent="0">
              <a:buNone/>
            </a:pPr>
            <a:r>
              <a:rPr lang="en-US" sz="1800">
                <a:solidFill>
                  <a:schemeClr val="tx2"/>
                </a:solidFill>
                <a:latin typeface="Avenir Next LT Pro"/>
                <a:ea typeface="Calibri"/>
                <a:cs typeface="Calibri"/>
              </a:rPr>
              <a:t>The plot shows the distribution of default Payment showing unbalanced class </a:t>
            </a:r>
          </a:p>
          <a:p>
            <a:pPr marL="0" indent="0">
              <a:buNone/>
            </a:pPr>
            <a:r>
              <a:rPr lang="en-US" sz="1800">
                <a:solidFill>
                  <a:schemeClr val="tx2"/>
                </a:solidFill>
                <a:latin typeface="Avenir Next LT Pro"/>
                <a:ea typeface="Calibri"/>
                <a:cs typeface="Calibri"/>
              </a:rPr>
              <a:t>Class 0 – has 23364 non-defaulters (Max)</a:t>
            </a:r>
            <a:endParaRPr lang="en-US" sz="1100">
              <a:solidFill>
                <a:schemeClr val="tx2"/>
              </a:solidFill>
              <a:latin typeface="Avenir Next LT Pro"/>
              <a:ea typeface="Calibri"/>
              <a:cs typeface="Calibri"/>
            </a:endParaRPr>
          </a:p>
          <a:p>
            <a:pPr marL="0" indent="0">
              <a:buNone/>
            </a:pPr>
            <a:r>
              <a:rPr lang="en-US" sz="1800">
                <a:solidFill>
                  <a:schemeClr val="tx2"/>
                </a:solidFill>
                <a:latin typeface="Avenir Next LT Pro"/>
                <a:ea typeface="Calibri"/>
                <a:cs typeface="Calibri"/>
              </a:rPr>
              <a:t>Class 1 – has 6636  defaulters (Min)</a:t>
            </a:r>
          </a:p>
          <a:p>
            <a:endParaRPr lang="en-US" sz="1800">
              <a:solidFill>
                <a:schemeClr val="tx2"/>
              </a:solidFill>
            </a:endParaRPr>
          </a:p>
        </p:txBody>
      </p:sp>
      <p:pic>
        <p:nvPicPr>
          <p:cNvPr id="4" name="Picture 3" descr="Chart, bar chart&#10;&#10;Description automatically generated">
            <a:extLst>
              <a:ext uri="{FF2B5EF4-FFF2-40B4-BE49-F238E27FC236}">
                <a16:creationId xmlns:a16="http://schemas.microsoft.com/office/drawing/2014/main" id="{4E5DB82E-B6DF-DEF2-0E7B-06B60DA812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3767" y="768064"/>
            <a:ext cx="6795701" cy="5470540"/>
          </a:xfrm>
          <a:prstGeom prst="rect">
            <a:avLst/>
          </a:prstGeom>
        </p:spPr>
      </p:pic>
    </p:spTree>
    <p:extLst>
      <p:ext uri="{BB962C8B-B14F-4D97-AF65-F5344CB8AC3E}">
        <p14:creationId xmlns:p14="http://schemas.microsoft.com/office/powerpoint/2010/main" val="3514384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 name="Rectangle 15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58" name="Group 16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62" name="Straight Connector 16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6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92" name="Freeform: Shape 19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94" name="Freeform: Shape 19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96" name="Rectangle 195">
            <a:extLst>
              <a:ext uri="{FF2B5EF4-FFF2-40B4-BE49-F238E27FC236}">
                <a16:creationId xmlns:a16="http://schemas.microsoft.com/office/drawing/2014/main" id="{63F76E1C-FC69-44F6-935D-9FD6397B5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8" name="Group 197">
            <a:extLst>
              <a:ext uri="{FF2B5EF4-FFF2-40B4-BE49-F238E27FC236}">
                <a16:creationId xmlns:a16="http://schemas.microsoft.com/office/drawing/2014/main" id="{AB3C4E00-6B18-4CF8-9DC2-02162296751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9" name="Straight Connector 198">
              <a:extLst>
                <a:ext uri="{FF2B5EF4-FFF2-40B4-BE49-F238E27FC236}">
                  <a16:creationId xmlns:a16="http://schemas.microsoft.com/office/drawing/2014/main" id="{77E7ABFD-4E2F-460B-8571-E350D0FC78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23C184D3-4C2A-44EE-A262-2E3C6842AE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86C4B643-3D84-4CB1-BEEE-CB9B1D3537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B398A65-DA43-4776-BDAA-279642F56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69646011-DF03-4FDE-B8BB-0AE0F89F34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2540D352-E7ED-47DC-BE8E-C9FEF77A5D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16DB5D5B-5AE4-4DAB-8141-FCDB662317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58EEF6B7-AD60-428F-B6B8-2238AA57D9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CF98CDB8-6AD1-4729-8490-32C346B656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EB8E25F4-254A-4197-9ADB-F0C5ADBE4C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E06A3F39-2E01-4422-9A9B-45B4EF2F97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89EE711-BFF1-4294-9012-82022ED731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3586C175-76D7-4C6F-807C-C70ED98478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395DB0DA-F298-46F5-859B-F63BFF39C6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BB802C45-F77C-47E5-92CF-B8E7CC1757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924382CF-AB3E-45B3-B1DE-A048D6B45B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C7406E1-9B70-4704-ADE3-164CA49C15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F74B1505-38F1-43E4-A215-624F3C28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A10358C0-5CC8-4841-B5E4-E72FC83FB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D6938537-63B0-45D6-8D4B-12C7CBB4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8015E06D-5EA4-41D7-81ED-46FC62E30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DBC5760A-F5E0-4888-9EE8-99457C481D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EB505B7F-5D39-4E4A-8824-3B1A015647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AB7C9669-FA4D-4891-BD61-BA8A3D639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2252FB45-210F-4354-9D8E-005E2578BE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DE3F9A75-1D01-443A-813C-F9CE58F561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5A3E4BAE-6E09-4139-9A77-C0BCAB270A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95A77689-BF30-4CAF-8EE7-92A3A1E87B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3097EE4C-0335-4AA3-BF62-E15062FFCD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29" name="Freeform: Shape 228">
            <a:extLst>
              <a:ext uri="{FF2B5EF4-FFF2-40B4-BE49-F238E27FC236}">
                <a16:creationId xmlns:a16="http://schemas.microsoft.com/office/drawing/2014/main" id="{62FC2A78-9BA8-46A3-B2FC-D2536540C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31" name="Group 230">
            <a:extLst>
              <a:ext uri="{FF2B5EF4-FFF2-40B4-BE49-F238E27FC236}">
                <a16:creationId xmlns:a16="http://schemas.microsoft.com/office/drawing/2014/main" id="{12F6BB95-E3D7-4E0D-B657-19A7A700D58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32" name="Straight Connector 231">
              <a:extLst>
                <a:ext uri="{FF2B5EF4-FFF2-40B4-BE49-F238E27FC236}">
                  <a16:creationId xmlns:a16="http://schemas.microsoft.com/office/drawing/2014/main" id="{4BB59D20-8878-4BE1-A373-5A06B03A07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5FC95D79-E360-4A9D-9734-36CBC93E70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DA35E6A9-BB47-4AF0-9704-34A3E33326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0E9E767C-C7A3-4C9E-BB5A-A6C7A55CB7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514E9D6E-9E89-4243-9ABF-D53E899DE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B763B0DB-5EDC-4940-914A-B1AEB112E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2A229E1-C295-4D87-8D5A-8D23A49E7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B191967F-41E6-4FB0-8EDD-887461FDE2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8488BC40-49ED-4A65-BFDD-42C2380ACE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B9873C2-1A36-4C3B-A846-B2DE9329E7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AF554750-AAD3-49D1-94C7-97D45697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1D14B09A-44BF-46D9-94A1-76D33A3912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7ADE71B3-A935-4125-A959-9B82465AED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09AC835-5101-4FBA-9BDB-1E4D1DF7EB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26DFCDBC-985F-4743-833F-BD55DDC36C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E116F6F7-AD3C-43D6-B98D-44897F0EB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190822A4-6A86-4617-A472-CE7F9A0BB7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89CD6272-DC88-46BD-BAF4-0CA0DD4DBA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33F1AD65-F542-413F-9CBD-C2533F7172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9E5DB73A-E5E6-4F3C-AA74-78F7C52828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BC080D5-DE50-4633-A72B-29C94D623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615F852F-3D9E-4F8E-B38C-3A3FE5A009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947B63D4-9AD6-4481-B5C7-03A9A1B8A7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6B7CEAE6-B9C0-42D7-8770-69D8A3D06B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35E117AB-9AD5-4F2A-8CE9-55DD704E7C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AA9F1B50-E102-4170-B38D-DC239666475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8834EA0-11D6-48D2-9885-36869DDFBA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759B5C28-9F05-4598-B55E-100BAA9823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2BD7EE85-29AF-444F-B17B-299BBAFC02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62" name="Rectangle 26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4" name="Rectangle 26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66" name="Right Triangle 26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Freeform: Shape 26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80" y="4114802"/>
            <a:ext cx="12211777" cy="2743198"/>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70" name="Group 26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71" name="Straight Connector 27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Title 46">
            <a:extLst>
              <a:ext uri="{FF2B5EF4-FFF2-40B4-BE49-F238E27FC236}">
                <a16:creationId xmlns:a16="http://schemas.microsoft.com/office/drawing/2014/main" id="{CC39BA0D-82D4-AC63-8D49-F4B650A3ADD4}"/>
              </a:ext>
            </a:extLst>
          </p:cNvPr>
          <p:cNvSpPr>
            <a:spLocks noGrp="1"/>
          </p:cNvSpPr>
          <p:nvPr>
            <p:ph type="title"/>
          </p:nvPr>
        </p:nvSpPr>
        <p:spPr>
          <a:xfrm>
            <a:off x="453142" y="168275"/>
            <a:ext cx="11390082" cy="1283757"/>
          </a:xfrm>
        </p:spPr>
        <p:txBody>
          <a:bodyPr vert="horz" lIns="91440" tIns="45720" rIns="91440" bIns="45720" rtlCol="0" anchor="ctr">
            <a:normAutofit fontScale="90000"/>
          </a:bodyPr>
          <a:lstStyle/>
          <a:p>
            <a:r>
              <a:rPr lang="en-US" sz="2800">
                <a:solidFill>
                  <a:schemeClr val="tx2"/>
                </a:solidFill>
                <a:latin typeface="+mn-lt"/>
                <a:cs typeface="Times New Roman"/>
              </a:rPr>
              <a:t>Plot shows the default payment distribution of both Gender and Education categories</a:t>
            </a:r>
            <a:br>
              <a:rPr lang="en-US" sz="3400">
                <a:latin typeface="+mn-lt"/>
              </a:rPr>
            </a:br>
            <a:endParaRPr lang="en-US" sz="3400">
              <a:solidFill>
                <a:schemeClr val="tx2"/>
              </a:solidFill>
              <a:latin typeface="+mn-lt"/>
            </a:endParaRPr>
          </a:p>
        </p:txBody>
      </p:sp>
      <p:sp>
        <p:nvSpPr>
          <p:cNvPr id="154" name="Text Placeholder 153">
            <a:extLst>
              <a:ext uri="{FF2B5EF4-FFF2-40B4-BE49-F238E27FC236}">
                <a16:creationId xmlns:a16="http://schemas.microsoft.com/office/drawing/2014/main" id="{4CE9DC96-49D3-6476-FA70-BEF1ED939686}"/>
              </a:ext>
            </a:extLst>
          </p:cNvPr>
          <p:cNvSpPr>
            <a:spLocks noGrp="1"/>
          </p:cNvSpPr>
          <p:nvPr>
            <p:ph type="body" idx="1"/>
          </p:nvPr>
        </p:nvSpPr>
        <p:spPr>
          <a:xfrm>
            <a:off x="420551" y="4507442"/>
            <a:ext cx="4612131" cy="468836"/>
          </a:xfrm>
        </p:spPr>
        <p:txBody>
          <a:bodyPr vert="horz" lIns="91440" tIns="45720" rIns="91440" bIns="45720" rtlCol="0" anchor="ctr">
            <a:noAutofit/>
          </a:bodyPr>
          <a:lstStyle/>
          <a:p>
            <a:r>
              <a:rPr lang="en-US" sz="1400">
                <a:solidFill>
                  <a:schemeClr val="tx1"/>
                </a:solidFill>
              </a:rPr>
              <a:t>Gender Category plot indicates non defaulters are high in males</a:t>
            </a:r>
            <a:r>
              <a:rPr lang="en-US" sz="1400">
                <a:solidFill>
                  <a:schemeClr val="tx2"/>
                </a:solidFill>
              </a:rPr>
              <a:t>.</a:t>
            </a:r>
          </a:p>
          <a:p>
            <a:endParaRPr lang="en-US" sz="1600">
              <a:solidFill>
                <a:schemeClr val="tx2"/>
              </a:solidFill>
            </a:endParaRPr>
          </a:p>
        </p:txBody>
      </p:sp>
      <p:pic>
        <p:nvPicPr>
          <p:cNvPr id="45" name="Content Placeholder 3" descr="Chart, bar chart&#10;&#10;Description automatically generated">
            <a:extLst>
              <a:ext uri="{FF2B5EF4-FFF2-40B4-BE49-F238E27FC236}">
                <a16:creationId xmlns:a16="http://schemas.microsoft.com/office/drawing/2014/main" id="{204A998D-5D96-0279-1F83-B937EAE16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555" y="1060039"/>
            <a:ext cx="4203560" cy="2976251"/>
          </a:xfrm>
          <a:prstGeom prst="rect">
            <a:avLst/>
          </a:prstGeom>
        </p:spPr>
      </p:pic>
      <p:sp>
        <p:nvSpPr>
          <p:cNvPr id="193" name="TextBox 192">
            <a:extLst>
              <a:ext uri="{FF2B5EF4-FFF2-40B4-BE49-F238E27FC236}">
                <a16:creationId xmlns:a16="http://schemas.microsoft.com/office/drawing/2014/main" id="{815852F5-DB63-3390-81F8-813E3FB7AB13}"/>
              </a:ext>
            </a:extLst>
          </p:cNvPr>
          <p:cNvSpPr txBox="1"/>
          <p:nvPr/>
        </p:nvSpPr>
        <p:spPr>
          <a:xfrm>
            <a:off x="6344408" y="4506502"/>
            <a:ext cx="52091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Education Category plot indicates that University students contribute to max defaulters.</a:t>
            </a:r>
          </a:p>
        </p:txBody>
      </p:sp>
      <p:pic>
        <p:nvPicPr>
          <p:cNvPr id="2" name="Picture 2" descr="Chart, bar chart&#10;&#10;Description automatically generated">
            <a:extLst>
              <a:ext uri="{FF2B5EF4-FFF2-40B4-BE49-F238E27FC236}">
                <a16:creationId xmlns:a16="http://schemas.microsoft.com/office/drawing/2014/main" id="{6FC17EFE-3D51-09AD-AB65-1B9466E716F3}"/>
              </a:ext>
            </a:extLst>
          </p:cNvPr>
          <p:cNvPicPr>
            <a:picLocks noChangeAspect="1"/>
          </p:cNvPicPr>
          <p:nvPr/>
        </p:nvPicPr>
        <p:blipFill>
          <a:blip r:embed="rId3"/>
          <a:stretch>
            <a:fillRect/>
          </a:stretch>
        </p:blipFill>
        <p:spPr>
          <a:xfrm>
            <a:off x="5644056" y="1015215"/>
            <a:ext cx="5318233" cy="2922571"/>
          </a:xfrm>
          <a:prstGeom prst="rect">
            <a:avLst/>
          </a:prstGeom>
        </p:spPr>
      </p:pic>
    </p:spTree>
    <p:extLst>
      <p:ext uri="{BB962C8B-B14F-4D97-AF65-F5344CB8AC3E}">
        <p14:creationId xmlns:p14="http://schemas.microsoft.com/office/powerpoint/2010/main" val="1193664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Text Placeholder 2">
            <a:extLst>
              <a:ext uri="{FF2B5EF4-FFF2-40B4-BE49-F238E27FC236}">
                <a16:creationId xmlns:a16="http://schemas.microsoft.com/office/drawing/2014/main" id="{C5737E0D-183E-8126-7D48-92E1EA20E14B}"/>
              </a:ext>
            </a:extLst>
          </p:cNvPr>
          <p:cNvSpPr>
            <a:spLocks noGrp="1"/>
          </p:cNvSpPr>
          <p:nvPr>
            <p:ph type="body" idx="1"/>
          </p:nvPr>
        </p:nvSpPr>
        <p:spPr>
          <a:xfrm>
            <a:off x="425624" y="740944"/>
            <a:ext cx="10754769" cy="567209"/>
          </a:xfrm>
        </p:spPr>
        <p:txBody>
          <a:bodyPr vert="horz" lIns="91440" tIns="45720" rIns="91440" bIns="45720" rtlCol="0" anchor="t">
            <a:normAutofit/>
          </a:bodyPr>
          <a:lstStyle/>
          <a:p>
            <a:r>
              <a:rPr lang="en-US">
                <a:solidFill>
                  <a:schemeClr val="tx2"/>
                </a:solidFill>
              </a:rPr>
              <a:t>Default payment rate by marital status:</a:t>
            </a:r>
            <a:endParaRPr lang="en-US" sz="2400" kern="1200">
              <a:solidFill>
                <a:schemeClr val="tx2"/>
              </a:solidFill>
              <a:latin typeface="+mn-lt"/>
              <a:ea typeface="+mn-ea"/>
              <a:cs typeface="+mn-cs"/>
            </a:endParaRPr>
          </a:p>
        </p:txBody>
      </p:sp>
      <p:pic>
        <p:nvPicPr>
          <p:cNvPr id="4" name="Picture 4" descr="Chart, treemap chart&#10;&#10;Description automatically generated">
            <a:extLst>
              <a:ext uri="{FF2B5EF4-FFF2-40B4-BE49-F238E27FC236}">
                <a16:creationId xmlns:a16="http://schemas.microsoft.com/office/drawing/2014/main" id="{14651C93-C0C4-71D0-D9FC-E5519C656D20}"/>
              </a:ext>
            </a:extLst>
          </p:cNvPr>
          <p:cNvPicPr>
            <a:picLocks noChangeAspect="1"/>
          </p:cNvPicPr>
          <p:nvPr/>
        </p:nvPicPr>
        <p:blipFill>
          <a:blip r:embed="rId2"/>
          <a:stretch>
            <a:fillRect/>
          </a:stretch>
        </p:blipFill>
        <p:spPr>
          <a:xfrm>
            <a:off x="596076" y="1557004"/>
            <a:ext cx="9486026" cy="4062416"/>
          </a:xfrm>
          <a:prstGeom prst="rect">
            <a:avLst/>
          </a:prstGeom>
        </p:spPr>
      </p:pic>
      <p:sp>
        <p:nvSpPr>
          <p:cNvPr id="2" name="TextBox 1">
            <a:extLst>
              <a:ext uri="{FF2B5EF4-FFF2-40B4-BE49-F238E27FC236}">
                <a16:creationId xmlns:a16="http://schemas.microsoft.com/office/drawing/2014/main" id="{E7EF1F31-C096-6D8E-9823-610BB467E3B7}"/>
              </a:ext>
            </a:extLst>
          </p:cNvPr>
          <p:cNvSpPr txBox="1"/>
          <p:nvPr/>
        </p:nvSpPr>
        <p:spPr>
          <a:xfrm>
            <a:off x="888452" y="5887846"/>
            <a:ext cx="851690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From this visualization , divorced or widowed category has the highest default rate. But there not that significant difference</a:t>
            </a:r>
            <a:endParaRPr lang="en-US"/>
          </a:p>
        </p:txBody>
      </p:sp>
    </p:spTree>
    <p:extLst>
      <p:ext uri="{BB962C8B-B14F-4D97-AF65-F5344CB8AC3E}">
        <p14:creationId xmlns:p14="http://schemas.microsoft.com/office/powerpoint/2010/main" val="2985110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0"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1DF4439-3578-A17D-8893-B6CC1778D7FF}"/>
              </a:ext>
            </a:extLst>
          </p:cNvPr>
          <p:cNvSpPr>
            <a:spLocks noGrp="1"/>
          </p:cNvSpPr>
          <p:nvPr>
            <p:ph type="title"/>
          </p:nvPr>
        </p:nvSpPr>
        <p:spPr>
          <a:xfrm>
            <a:off x="453142" y="168275"/>
            <a:ext cx="10269572" cy="2574923"/>
          </a:xfrm>
        </p:spPr>
        <p:txBody>
          <a:bodyPr vert="horz" lIns="91440" tIns="45720" rIns="91440" bIns="45720" rtlCol="0" anchor="ctr">
            <a:normAutofit/>
          </a:bodyPr>
          <a:lstStyle/>
          <a:p>
            <a:r>
              <a:rPr lang="en-US" sz="3800">
                <a:solidFill>
                  <a:schemeClr val="tx2"/>
                </a:solidFill>
              </a:rPr>
              <a:t>Distribution</a:t>
            </a:r>
            <a:r>
              <a:rPr lang="en-US" sz="3800" b="0" i="0">
                <a:solidFill>
                  <a:schemeClr val="tx2"/>
                </a:solidFill>
                <a:effectLst/>
              </a:rPr>
              <a:t> of credit limits (LIMIT_BAL) among the customers?</a:t>
            </a:r>
            <a:br>
              <a:rPr lang="en-US" sz="3800" b="0" i="0">
                <a:effectLst/>
              </a:rPr>
            </a:br>
            <a:endParaRPr lang="en-US" sz="3800">
              <a:solidFill>
                <a:schemeClr val="tx2"/>
              </a:solidFill>
            </a:endParaRPr>
          </a:p>
        </p:txBody>
      </p:sp>
      <p:pic>
        <p:nvPicPr>
          <p:cNvPr id="4" name="Content Placeholder 3" descr="Chart, bar chart&#10;&#10;Description automatically generated">
            <a:extLst>
              <a:ext uri="{FF2B5EF4-FFF2-40B4-BE49-F238E27FC236}">
                <a16:creationId xmlns:a16="http://schemas.microsoft.com/office/drawing/2014/main" id="{E517F918-4B0C-9C4D-3113-7070F1061F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98222" y="2176645"/>
            <a:ext cx="5773396" cy="3763847"/>
          </a:xfrm>
          <a:prstGeom prst="rect">
            <a:avLst/>
          </a:prstGeom>
        </p:spPr>
      </p:pic>
      <p:sp>
        <p:nvSpPr>
          <p:cNvPr id="3" name="TextBox 2">
            <a:extLst>
              <a:ext uri="{FF2B5EF4-FFF2-40B4-BE49-F238E27FC236}">
                <a16:creationId xmlns:a16="http://schemas.microsoft.com/office/drawing/2014/main" id="{6BD80210-9AEC-BF4F-D365-F91B731CD958}"/>
              </a:ext>
            </a:extLst>
          </p:cNvPr>
          <p:cNvSpPr txBox="1"/>
          <p:nvPr/>
        </p:nvSpPr>
        <p:spPr>
          <a:xfrm>
            <a:off x="348155" y="2246585"/>
            <a:ext cx="324244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It can be clearly seen that majorly all people falls under the credit limit of 300000 where majorly people fall in basic credit limit that is (0-50000)</a:t>
            </a:r>
          </a:p>
        </p:txBody>
      </p:sp>
    </p:spTree>
    <p:extLst>
      <p:ext uri="{BB962C8B-B14F-4D97-AF65-F5344CB8AC3E}">
        <p14:creationId xmlns:p14="http://schemas.microsoft.com/office/powerpoint/2010/main" val="2257999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52"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53"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5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55"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56"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57"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58"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59"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0"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1"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63"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2EEBAA3-ABFA-3F6D-EF67-D156640B29C6}"/>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3400" b="0" i="0">
                <a:solidFill>
                  <a:schemeClr val="tx2"/>
                </a:solidFill>
                <a:effectLst/>
              </a:rPr>
              <a:t>How does the distribution of default payments vary across different genders, education levels</a:t>
            </a:r>
            <a:br>
              <a:rPr lang="en-US" sz="3400" b="0" i="0">
                <a:solidFill>
                  <a:schemeClr val="tx2"/>
                </a:solidFill>
                <a:effectLst/>
              </a:rPr>
            </a:br>
            <a:endParaRPr lang="en-US" sz="3400">
              <a:solidFill>
                <a:schemeClr val="tx2"/>
              </a:solidFill>
            </a:endParaRPr>
          </a:p>
        </p:txBody>
      </p:sp>
      <p:pic>
        <p:nvPicPr>
          <p:cNvPr id="4" name="Content Placeholder 3" descr="Chart, bar chart&#10;&#10;Description automatically generated">
            <a:extLst>
              <a:ext uri="{FF2B5EF4-FFF2-40B4-BE49-F238E27FC236}">
                <a16:creationId xmlns:a16="http://schemas.microsoft.com/office/drawing/2014/main" id="{FD115589-DAA7-E51F-97B2-9C9B32AADB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11607" y="2323605"/>
            <a:ext cx="5961956" cy="3293981"/>
          </a:xfrm>
          <a:prstGeom prst="rect">
            <a:avLst/>
          </a:prstGeom>
        </p:spPr>
      </p:pic>
      <p:sp>
        <p:nvSpPr>
          <p:cNvPr id="3" name="TextBox 2">
            <a:extLst>
              <a:ext uri="{FF2B5EF4-FFF2-40B4-BE49-F238E27FC236}">
                <a16:creationId xmlns:a16="http://schemas.microsoft.com/office/drawing/2014/main" id="{9C3E3C4E-30B2-DDF9-6BF2-258BDFED0089}"/>
              </a:ext>
            </a:extLst>
          </p:cNvPr>
          <p:cNvSpPr txBox="1"/>
          <p:nvPr/>
        </p:nvSpPr>
        <p:spPr>
          <a:xfrm>
            <a:off x="364577" y="2693275"/>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most number of default payments are recorded from university and high school students</a:t>
            </a:r>
          </a:p>
        </p:txBody>
      </p:sp>
    </p:spTree>
    <p:extLst>
      <p:ext uri="{BB962C8B-B14F-4D97-AF65-F5344CB8AC3E}">
        <p14:creationId xmlns:p14="http://schemas.microsoft.com/office/powerpoint/2010/main" val="3862782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0"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2685269-1388-97B1-6FCE-2BD0EE8FD795}"/>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3800" b="0" i="0">
                <a:solidFill>
                  <a:schemeClr val="tx2"/>
                </a:solidFill>
                <a:effectLst/>
              </a:rPr>
              <a:t>How do the repayment statuses (PAY_1 to PAY_6) vary over the six months?</a:t>
            </a:r>
            <a:br>
              <a:rPr lang="en-US" sz="3800" b="0" i="0">
                <a:solidFill>
                  <a:schemeClr val="tx2"/>
                </a:solidFill>
                <a:effectLst/>
              </a:rPr>
            </a:br>
            <a:endParaRPr lang="en-US" sz="3800">
              <a:solidFill>
                <a:schemeClr val="tx2"/>
              </a:solidFill>
            </a:endParaRPr>
          </a:p>
        </p:txBody>
      </p:sp>
      <p:pic>
        <p:nvPicPr>
          <p:cNvPr id="4" name="Content Placeholder 3" descr="Chart, bar chart&#10;&#10;Description automatically generated">
            <a:extLst>
              <a:ext uri="{FF2B5EF4-FFF2-40B4-BE49-F238E27FC236}">
                <a16:creationId xmlns:a16="http://schemas.microsoft.com/office/drawing/2014/main" id="{DD959C51-5C96-FCB0-9B27-C193243607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70327" y="2047709"/>
            <a:ext cx="6621068" cy="3293981"/>
          </a:xfrm>
          <a:prstGeom prst="rect">
            <a:avLst/>
          </a:prstGeom>
        </p:spPr>
      </p:pic>
      <p:sp>
        <p:nvSpPr>
          <p:cNvPr id="3" name="TextBox 2">
            <a:extLst>
              <a:ext uri="{FF2B5EF4-FFF2-40B4-BE49-F238E27FC236}">
                <a16:creationId xmlns:a16="http://schemas.microsoft.com/office/drawing/2014/main" id="{65388541-C518-8FAB-B0F1-BA298691904D}"/>
              </a:ext>
            </a:extLst>
          </p:cNvPr>
          <p:cNvSpPr txBox="1"/>
          <p:nvPr/>
        </p:nvSpPr>
        <p:spPr>
          <a:xfrm>
            <a:off x="650327" y="2243301"/>
            <a:ext cx="437230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It can be clearly interpreted that many people choose to pay their minimum amount every month. And the point to be noted is there are good number of people who pay full amount on time . There are good number of people who are not paying the minimum amount but they are attempting to pay</a:t>
            </a:r>
          </a:p>
        </p:txBody>
      </p:sp>
    </p:spTree>
    <p:extLst>
      <p:ext uri="{BB962C8B-B14F-4D97-AF65-F5344CB8AC3E}">
        <p14:creationId xmlns:p14="http://schemas.microsoft.com/office/powerpoint/2010/main" val="834426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0"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0200923-922D-ECC3-FE4A-E9BD0BF6C98B}"/>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3400" b="0" i="0">
                <a:solidFill>
                  <a:schemeClr val="tx2"/>
                </a:solidFill>
                <a:effectLst/>
              </a:rPr>
              <a:t>How do the repayment statuses (PAY_1 to PAY_6) vary over the six months? Are there any trends or patterns?</a:t>
            </a:r>
            <a:br>
              <a:rPr lang="en-US" sz="3400" b="0" i="0">
                <a:solidFill>
                  <a:schemeClr val="tx2"/>
                </a:solidFill>
                <a:effectLst/>
              </a:rPr>
            </a:br>
            <a:endParaRPr lang="en-US" sz="3400">
              <a:solidFill>
                <a:schemeClr val="tx2"/>
              </a:solidFill>
            </a:endParaRPr>
          </a:p>
        </p:txBody>
      </p:sp>
      <p:pic>
        <p:nvPicPr>
          <p:cNvPr id="4" name="Content Placeholder 3" descr="Chart, line chart&#10;&#10;Description automatically generated">
            <a:extLst>
              <a:ext uri="{FF2B5EF4-FFF2-40B4-BE49-F238E27FC236}">
                <a16:creationId xmlns:a16="http://schemas.microsoft.com/office/drawing/2014/main" id="{EC95B06C-6779-15FD-98BE-0D302E49FF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7877" y="2125141"/>
            <a:ext cx="6535873" cy="3387535"/>
          </a:xfrm>
          <a:prstGeom prst="rect">
            <a:avLst/>
          </a:prstGeom>
        </p:spPr>
      </p:pic>
      <p:sp>
        <p:nvSpPr>
          <p:cNvPr id="3" name="TextBox 2">
            <a:extLst>
              <a:ext uri="{FF2B5EF4-FFF2-40B4-BE49-F238E27FC236}">
                <a16:creationId xmlns:a16="http://schemas.microsoft.com/office/drawing/2014/main" id="{C3A41192-6898-9901-2C8E-D2FB0E572AEF}"/>
              </a:ext>
            </a:extLst>
          </p:cNvPr>
          <p:cNvSpPr txBox="1"/>
          <p:nvPr/>
        </p:nvSpPr>
        <p:spPr>
          <a:xfrm>
            <a:off x="699595" y="2552042"/>
            <a:ext cx="372854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It can be clearly seen that more people tend to pay their credit card bills as they are approaching end of the year.</a:t>
            </a:r>
          </a:p>
        </p:txBody>
      </p:sp>
    </p:spTree>
    <p:extLst>
      <p:ext uri="{BB962C8B-B14F-4D97-AF65-F5344CB8AC3E}">
        <p14:creationId xmlns:p14="http://schemas.microsoft.com/office/powerpoint/2010/main" val="9818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0"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8B5352F-A455-711F-B247-AEDE2F3C763A}"/>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3400" b="0" i="0">
                <a:solidFill>
                  <a:schemeClr val="tx2"/>
                </a:solidFill>
                <a:effectLst/>
              </a:rPr>
              <a:t>How does the distribution of default payments vary across different genders, Age Groups</a:t>
            </a:r>
            <a:br>
              <a:rPr lang="en-US" sz="3400" b="0" i="0">
                <a:solidFill>
                  <a:schemeClr val="tx2"/>
                </a:solidFill>
                <a:effectLst/>
              </a:rPr>
            </a:br>
            <a:endParaRPr lang="en-US" sz="3400">
              <a:solidFill>
                <a:schemeClr val="tx2"/>
              </a:solidFill>
            </a:endParaRPr>
          </a:p>
        </p:txBody>
      </p:sp>
      <p:pic>
        <p:nvPicPr>
          <p:cNvPr id="4" name="Content Placeholder 3" descr="Chart, bar chart&#10;&#10;Description automatically generated">
            <a:extLst>
              <a:ext uri="{FF2B5EF4-FFF2-40B4-BE49-F238E27FC236}">
                <a16:creationId xmlns:a16="http://schemas.microsoft.com/office/drawing/2014/main" id="{E5A635A0-887A-4937-4DA0-3BDDE55D73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4073" y="1968881"/>
            <a:ext cx="6791713" cy="3293981"/>
          </a:xfrm>
          <a:prstGeom prst="rect">
            <a:avLst/>
          </a:prstGeom>
        </p:spPr>
      </p:pic>
      <p:sp>
        <p:nvSpPr>
          <p:cNvPr id="3" name="TextBox 2">
            <a:extLst>
              <a:ext uri="{FF2B5EF4-FFF2-40B4-BE49-F238E27FC236}">
                <a16:creationId xmlns:a16="http://schemas.microsoft.com/office/drawing/2014/main" id="{C3BEC3BF-08A7-16D2-CD29-B386EF0992BF}"/>
              </a:ext>
            </a:extLst>
          </p:cNvPr>
          <p:cNvSpPr txBox="1"/>
          <p:nvPr/>
        </p:nvSpPr>
        <p:spPr>
          <a:xfrm>
            <a:off x="246336" y="2890344"/>
            <a:ext cx="456937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From the plot it can be inferred that most of the credit card defaulters are above 50 both in males and females.</a:t>
            </a:r>
          </a:p>
          <a:p>
            <a:pPr marL="285750" indent="-285750">
              <a:buFont typeface="Arial"/>
              <a:buChar char="•"/>
            </a:pPr>
            <a:r>
              <a:rPr lang="en-US"/>
              <a:t>I feel this is so because of lack of knowledge.</a:t>
            </a:r>
          </a:p>
        </p:txBody>
      </p:sp>
    </p:spTree>
    <p:extLst>
      <p:ext uri="{BB962C8B-B14F-4D97-AF65-F5344CB8AC3E}">
        <p14:creationId xmlns:p14="http://schemas.microsoft.com/office/powerpoint/2010/main" val="398026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6" name="Rectangle 315">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18" name="Rectangle 317">
            <a:extLst>
              <a:ext uri="{FF2B5EF4-FFF2-40B4-BE49-F238E27FC236}">
                <a16:creationId xmlns:a16="http://schemas.microsoft.com/office/drawing/2014/main" id="{29DE0A55-4738-464C-A9A4-55F2A8FA3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20" name="Freeform: Shape 319">
            <a:extLst>
              <a:ext uri="{FF2B5EF4-FFF2-40B4-BE49-F238E27FC236}">
                <a16:creationId xmlns:a16="http://schemas.microsoft.com/office/drawing/2014/main" id="{853F99AE-CDDD-4AA6-B570-8A6E693F2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262" y="0"/>
            <a:ext cx="12208609"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322" name="Right Triangle 321">
            <a:extLst>
              <a:ext uri="{FF2B5EF4-FFF2-40B4-BE49-F238E27FC236}">
                <a16:creationId xmlns:a16="http://schemas.microsoft.com/office/drawing/2014/main" id="{B2B76EF6-C0E7-4526-9E75-91C7C020C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9437" y="490236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4" name="Group 323">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325" name="Straight Connector 324">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804D168-B004-539F-ECAB-632E755495D4}"/>
              </a:ext>
            </a:extLst>
          </p:cNvPr>
          <p:cNvSpPr>
            <a:spLocks noGrp="1"/>
          </p:cNvSpPr>
          <p:nvPr>
            <p:ph type="title"/>
          </p:nvPr>
        </p:nvSpPr>
        <p:spPr>
          <a:xfrm>
            <a:off x="457200" y="4078104"/>
            <a:ext cx="5552414" cy="2170296"/>
          </a:xfrm>
        </p:spPr>
        <p:txBody>
          <a:bodyPr vert="horz" lIns="91440" tIns="45720" rIns="91440" bIns="45720" rtlCol="0" anchor="ctr">
            <a:normAutofit/>
          </a:bodyPr>
          <a:lstStyle/>
          <a:p>
            <a:r>
              <a:rPr lang="en-US" sz="2400" b="0" i="0">
                <a:solidFill>
                  <a:schemeClr val="tx2"/>
                </a:solidFill>
                <a:effectLst/>
              </a:rPr>
              <a:t>How does the distribution of default payments vary across different genders, Age Groups,</a:t>
            </a:r>
            <a:r>
              <a:rPr lang="en-US" sz="2400">
                <a:solidFill>
                  <a:schemeClr val="tx2"/>
                </a:solidFill>
              </a:rPr>
              <a:t> </a:t>
            </a:r>
            <a:r>
              <a:rPr lang="en-US" sz="2400" b="0" i="0">
                <a:solidFill>
                  <a:schemeClr val="tx2"/>
                </a:solidFill>
                <a:effectLst/>
              </a:rPr>
              <a:t>Education</a:t>
            </a:r>
            <a:br>
              <a:rPr lang="en-US" sz="2400" b="0" i="0">
                <a:solidFill>
                  <a:schemeClr val="tx2"/>
                </a:solidFill>
                <a:effectLst/>
              </a:rPr>
            </a:br>
            <a:br>
              <a:rPr lang="en-US" sz="2400" b="0" i="0">
                <a:solidFill>
                  <a:schemeClr val="tx2"/>
                </a:solidFill>
                <a:effectLst/>
              </a:rPr>
            </a:br>
            <a:endParaRPr lang="en-US" sz="2400">
              <a:solidFill>
                <a:schemeClr val="tx2"/>
              </a:solidFill>
            </a:endParaRPr>
          </a:p>
        </p:txBody>
      </p:sp>
      <p:pic>
        <p:nvPicPr>
          <p:cNvPr id="4" name="Content Placeholder 3" descr="Chart, bar chart&#10;&#10;Description automatically generated">
            <a:extLst>
              <a:ext uri="{FF2B5EF4-FFF2-40B4-BE49-F238E27FC236}">
                <a16:creationId xmlns:a16="http://schemas.microsoft.com/office/drawing/2014/main" id="{2057F61B-413D-73EE-574B-7D9A9842BF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8180" y="758511"/>
            <a:ext cx="9952535" cy="2139795"/>
          </a:xfrm>
          <a:prstGeom prst="rect">
            <a:avLst/>
          </a:prstGeom>
        </p:spPr>
      </p:pic>
      <p:sp>
        <p:nvSpPr>
          <p:cNvPr id="3" name="TextBox 2">
            <a:extLst>
              <a:ext uri="{FF2B5EF4-FFF2-40B4-BE49-F238E27FC236}">
                <a16:creationId xmlns:a16="http://schemas.microsoft.com/office/drawing/2014/main" id="{8313AEF5-D3B7-B9AC-34F1-7A9FCE823833}"/>
              </a:ext>
            </a:extLst>
          </p:cNvPr>
          <p:cNvSpPr txBox="1"/>
          <p:nvPr/>
        </p:nvSpPr>
        <p:spPr>
          <a:xfrm>
            <a:off x="6176113" y="3133199"/>
            <a:ext cx="5823358" cy="311520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28600" indent="-228600">
              <a:spcAft>
                <a:spcPts val="600"/>
              </a:spcAft>
              <a:buClr>
                <a:schemeClr val="bg1"/>
              </a:buClr>
              <a:buSzPct val="75000"/>
              <a:buFont typeface="+mj-lt"/>
              <a:buAutoNum type="arabicPeriod"/>
            </a:pPr>
            <a:r>
              <a:rPr lang="en-US" sz="1200">
                <a:solidFill>
                  <a:schemeClr val="tx2"/>
                </a:solidFill>
              </a:rPr>
              <a:t>Females with University education and "Others" marital status, aged 60-69, have the highest default rate of 100% (1 out of 1 defaulted).</a:t>
            </a:r>
          </a:p>
          <a:p>
            <a:pPr marL="228600" indent="-228600">
              <a:spcAft>
                <a:spcPts val="600"/>
              </a:spcAft>
              <a:buClr>
                <a:schemeClr val="bg1"/>
              </a:buClr>
              <a:buSzPct val="75000"/>
              <a:buFont typeface="+mj-lt"/>
              <a:buAutoNum type="arabicPeriod"/>
            </a:pPr>
            <a:r>
              <a:rPr lang="en-US" sz="1200">
                <a:solidFill>
                  <a:schemeClr val="tx2"/>
                </a:solidFill>
              </a:rPr>
              <a:t>Females with University education and single marital status, aged 60-69, have the second highest default rate of 75% (3 out of 4 defaulted).</a:t>
            </a:r>
          </a:p>
          <a:p>
            <a:pPr marL="228600" indent="-228600">
              <a:spcAft>
                <a:spcPts val="600"/>
              </a:spcAft>
              <a:buClr>
                <a:schemeClr val="bg1"/>
              </a:buClr>
              <a:buSzPct val="75000"/>
              <a:buFont typeface="+mj-lt"/>
              <a:buAutoNum type="arabicPeriod"/>
            </a:pPr>
            <a:r>
              <a:rPr lang="en-US" sz="1200">
                <a:solidFill>
                  <a:schemeClr val="tx2"/>
                </a:solidFill>
              </a:rPr>
              <a:t>Males with High School education, married and aged 70+, have a default rate of 66.67% (2 out of 3 defaulted).</a:t>
            </a:r>
          </a:p>
          <a:p>
            <a:pPr marL="228600" indent="-228600">
              <a:spcAft>
                <a:spcPts val="600"/>
              </a:spcAft>
              <a:buClr>
                <a:schemeClr val="bg1"/>
              </a:buClr>
              <a:buSzPct val="75000"/>
              <a:buFont typeface="+mj-lt"/>
              <a:buAutoNum type="arabicPeriod"/>
            </a:pPr>
            <a:r>
              <a:rPr lang="en-US" sz="1200">
                <a:solidFill>
                  <a:schemeClr val="tx2"/>
                </a:solidFill>
              </a:rPr>
              <a:t>Females with Graduate School education, "Others" marital status, and aged 20-29, have a default rate of 60% (3 out of 5 defaulted).</a:t>
            </a:r>
          </a:p>
          <a:p>
            <a:pPr marL="228600" indent="-228600">
              <a:spcAft>
                <a:spcPts val="600"/>
              </a:spcAft>
              <a:buClr>
                <a:schemeClr val="bg1"/>
              </a:buClr>
              <a:buSzPct val="75000"/>
              <a:buFont typeface="+mj-lt"/>
              <a:buAutoNum type="arabicPeriod"/>
            </a:pPr>
            <a:r>
              <a:rPr lang="en-US" sz="1200">
                <a:solidFill>
                  <a:schemeClr val="tx2"/>
                </a:solidFill>
              </a:rPr>
              <a:t>Females with High School education, "Others" marital status, and aged 50-59, have a default rate of 52.63% (10 out of 19 defaulted).</a:t>
            </a:r>
          </a:p>
        </p:txBody>
      </p:sp>
    </p:spTree>
    <p:extLst>
      <p:ext uri="{BB962C8B-B14F-4D97-AF65-F5344CB8AC3E}">
        <p14:creationId xmlns:p14="http://schemas.microsoft.com/office/powerpoint/2010/main" val="2069893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8" name="Rectangle 9">
            <a:extLst>
              <a:ext uri="{FF2B5EF4-FFF2-40B4-BE49-F238E27FC236}">
                <a16:creationId xmlns:a16="http://schemas.microsoft.com/office/drawing/2014/main" id="{21B645D3-580E-4657-9154-484648880E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9"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13">
            <a:extLst>
              <a:ext uri="{FF2B5EF4-FFF2-40B4-BE49-F238E27FC236}">
                <a16:creationId xmlns:a16="http://schemas.microsoft.com/office/drawing/2014/main" id="{27870DA4-44E8-43FB-940A-4AF9766959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1"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B72A17C-27CB-BAA1-1AF6-F381689DF0C2}"/>
              </a:ext>
            </a:extLst>
          </p:cNvPr>
          <p:cNvSpPr>
            <a:spLocks noGrp="1"/>
          </p:cNvSpPr>
          <p:nvPr>
            <p:ph type="title"/>
          </p:nvPr>
        </p:nvSpPr>
        <p:spPr>
          <a:xfrm>
            <a:off x="457201" y="728906"/>
            <a:ext cx="4712534" cy="5516051"/>
          </a:xfrm>
        </p:spPr>
        <p:txBody>
          <a:bodyPr anchor="t">
            <a:normAutofit/>
          </a:bodyPr>
          <a:lstStyle/>
          <a:p>
            <a:r>
              <a:rPr lang="en-US">
                <a:solidFill>
                  <a:schemeClr val="tx2"/>
                </a:solidFill>
                <a:cs typeface="Posterama"/>
              </a:rPr>
              <a:t>Feature Engineering</a:t>
            </a:r>
            <a:endParaRPr lang="en-US">
              <a:solidFill>
                <a:schemeClr val="tx2"/>
              </a:solidFill>
            </a:endParaRPr>
          </a:p>
        </p:txBody>
      </p:sp>
      <p:sp>
        <p:nvSpPr>
          <p:cNvPr id="3" name="Content Placeholder 2">
            <a:extLst>
              <a:ext uri="{FF2B5EF4-FFF2-40B4-BE49-F238E27FC236}">
                <a16:creationId xmlns:a16="http://schemas.microsoft.com/office/drawing/2014/main" id="{9A83123F-965D-C48B-5CB7-6D51CAC908B8}"/>
              </a:ext>
            </a:extLst>
          </p:cNvPr>
          <p:cNvSpPr>
            <a:spLocks noGrp="1"/>
          </p:cNvSpPr>
          <p:nvPr>
            <p:ph idx="1"/>
          </p:nvPr>
        </p:nvSpPr>
        <p:spPr>
          <a:xfrm>
            <a:off x="5388459" y="728906"/>
            <a:ext cx="5813687" cy="5545420"/>
          </a:xfrm>
        </p:spPr>
        <p:txBody>
          <a:bodyPr vert="horz" lIns="91440" tIns="45720" rIns="91440" bIns="45720" rtlCol="0" anchor="ctr">
            <a:normAutofit/>
          </a:bodyPr>
          <a:lstStyle/>
          <a:p>
            <a:r>
              <a:rPr lang="en-US" sz="1800">
                <a:solidFill>
                  <a:schemeClr val="tx2"/>
                </a:solidFill>
              </a:rPr>
              <a:t>Encode Categorical Features</a:t>
            </a:r>
          </a:p>
          <a:p>
            <a:r>
              <a:rPr lang="en-US" sz="1800">
                <a:solidFill>
                  <a:schemeClr val="tx2"/>
                </a:solidFill>
              </a:rPr>
              <a:t>Split dataset into train and test subsets (70:30)</a:t>
            </a:r>
          </a:p>
          <a:p>
            <a:r>
              <a:rPr lang="en-US" sz="1800">
                <a:solidFill>
                  <a:schemeClr val="tx2"/>
                </a:solidFill>
              </a:rPr>
              <a:t> Sampling training data</a:t>
            </a:r>
          </a:p>
          <a:p>
            <a:pPr marL="0" indent="0">
              <a:buNone/>
            </a:pPr>
            <a:r>
              <a:rPr lang="en-US" sz="1800">
                <a:solidFill>
                  <a:schemeClr val="tx2"/>
                </a:solidFill>
              </a:rPr>
              <a:t>              SMOTE(Synthetic Minority Oversampling Technique)</a:t>
            </a:r>
          </a:p>
          <a:p>
            <a:pPr marL="0" indent="0">
              <a:buNone/>
            </a:pPr>
            <a:r>
              <a:rPr lang="en-US" sz="1800">
                <a:solidFill>
                  <a:schemeClr val="tx2"/>
                </a:solidFill>
              </a:rPr>
              <a:t>              Oversampling</a:t>
            </a:r>
          </a:p>
          <a:p>
            <a:pPr marL="0" indent="0">
              <a:buNone/>
            </a:pPr>
            <a:r>
              <a:rPr lang="en-US" sz="1800">
                <a:solidFill>
                  <a:schemeClr val="tx2"/>
                </a:solidFill>
              </a:rPr>
              <a:t>               Undersampling</a:t>
            </a:r>
          </a:p>
          <a:p>
            <a:pPr marL="0" indent="0">
              <a:buNone/>
            </a:pPr>
            <a:r>
              <a:rPr lang="en-US" sz="1800">
                <a:solidFill>
                  <a:schemeClr val="tx2"/>
                </a:solidFill>
              </a:rPr>
              <a:t>              </a:t>
            </a:r>
          </a:p>
        </p:txBody>
      </p:sp>
    </p:spTree>
    <p:extLst>
      <p:ext uri="{BB962C8B-B14F-4D97-AF65-F5344CB8AC3E}">
        <p14:creationId xmlns:p14="http://schemas.microsoft.com/office/powerpoint/2010/main" val="4117105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FCBCF23-E3F4-6C33-6A37-DC4A75C0CF87}"/>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Logistic Regression</a:t>
            </a:r>
            <a:endParaRPr lang="en-US">
              <a:solidFill>
                <a:schemeClr val="tx2"/>
              </a:solidFill>
            </a:endParaRPr>
          </a:p>
        </p:txBody>
      </p:sp>
      <p:sp>
        <p:nvSpPr>
          <p:cNvPr id="8" name="Content Placeholder 7">
            <a:extLst>
              <a:ext uri="{FF2B5EF4-FFF2-40B4-BE49-F238E27FC236}">
                <a16:creationId xmlns:a16="http://schemas.microsoft.com/office/drawing/2014/main" id="{7F54EF9B-5EF1-2465-A1CB-7E68CDF5E324}"/>
              </a:ext>
            </a:extLst>
          </p:cNvPr>
          <p:cNvSpPr>
            <a:spLocks noGrp="1"/>
          </p:cNvSpPr>
          <p:nvPr>
            <p:ph idx="1"/>
          </p:nvPr>
        </p:nvSpPr>
        <p:spPr>
          <a:xfrm>
            <a:off x="457201" y="2785954"/>
            <a:ext cx="4419600" cy="3462446"/>
          </a:xfrm>
        </p:spPr>
        <p:txBody>
          <a:bodyPr vert="horz" lIns="91440" tIns="45720" rIns="91440" bIns="45720" rtlCol="0" anchor="t">
            <a:normAutofit/>
          </a:bodyPr>
          <a:lstStyle/>
          <a:p>
            <a:r>
              <a:rPr lang="en-US" sz="1800">
                <a:solidFill>
                  <a:schemeClr val="tx2"/>
                </a:solidFill>
                <a:ea typeface="+mn-lt"/>
                <a:cs typeface="+mn-lt"/>
              </a:rPr>
              <a:t>The model using SMOTE to balance the data achieved an accuracy of 80% on the training set and 78% on the test set. However, the precision, recall, and F1-score for the minority class (class 1) were much lower than the majority class (class 0) in both training and test sets.</a:t>
            </a:r>
            <a:endParaRPr lang="en-US" sz="1800">
              <a:solidFill>
                <a:schemeClr val="tx2"/>
              </a:solidFill>
            </a:endParaRPr>
          </a:p>
        </p:txBody>
      </p:sp>
      <p:pic>
        <p:nvPicPr>
          <p:cNvPr id="4" name="Picture 4" descr="A picture containing text, receipt&#10;&#10;Description automatically generated">
            <a:extLst>
              <a:ext uri="{FF2B5EF4-FFF2-40B4-BE49-F238E27FC236}">
                <a16:creationId xmlns:a16="http://schemas.microsoft.com/office/drawing/2014/main" id="{BC14447D-F9E8-A939-4C38-55DD518F627F}"/>
              </a:ext>
            </a:extLst>
          </p:cNvPr>
          <p:cNvPicPr>
            <a:picLocks noChangeAspect="1"/>
          </p:cNvPicPr>
          <p:nvPr/>
        </p:nvPicPr>
        <p:blipFill>
          <a:blip r:embed="rId2"/>
          <a:stretch>
            <a:fillRect/>
          </a:stretch>
        </p:blipFill>
        <p:spPr>
          <a:xfrm>
            <a:off x="5269692" y="1203947"/>
            <a:ext cx="6795701" cy="4943360"/>
          </a:xfrm>
          <a:prstGeom prst="rect">
            <a:avLst/>
          </a:prstGeom>
        </p:spPr>
      </p:pic>
      <p:pic>
        <p:nvPicPr>
          <p:cNvPr id="3" name="Picture 4" descr="Table&#10;&#10;Description automatically generated">
            <a:extLst>
              <a:ext uri="{FF2B5EF4-FFF2-40B4-BE49-F238E27FC236}">
                <a16:creationId xmlns:a16="http://schemas.microsoft.com/office/drawing/2014/main" id="{4D3663C9-47D0-05DD-4033-09E1FAAF3D0A}"/>
              </a:ext>
            </a:extLst>
          </p:cNvPr>
          <p:cNvPicPr>
            <a:picLocks noChangeAspect="1"/>
          </p:cNvPicPr>
          <p:nvPr/>
        </p:nvPicPr>
        <p:blipFill>
          <a:blip r:embed="rId3"/>
          <a:stretch>
            <a:fillRect/>
          </a:stretch>
        </p:blipFill>
        <p:spPr>
          <a:xfrm>
            <a:off x="605183" y="5253246"/>
            <a:ext cx="4278242" cy="1464640"/>
          </a:xfrm>
          <a:prstGeom prst="rect">
            <a:avLst/>
          </a:prstGeom>
        </p:spPr>
      </p:pic>
    </p:spTree>
    <p:extLst>
      <p:ext uri="{BB962C8B-B14F-4D97-AF65-F5344CB8AC3E}">
        <p14:creationId xmlns:p14="http://schemas.microsoft.com/office/powerpoint/2010/main" val="2229798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8" name="Rectangle 6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69">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0" name="Right Triangle 71">
            <a:extLst>
              <a:ext uri="{FF2B5EF4-FFF2-40B4-BE49-F238E27FC236}">
                <a16:creationId xmlns:a16="http://schemas.microsoft.com/office/drawing/2014/main" id="{81743148-CD08-47B2-BAA4-1406F152B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9892" y="-271110"/>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ight Triangle 7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7930" y="1422741"/>
            <a:ext cx="568289" cy="568289"/>
          </a:xfrm>
          <a:prstGeom prst="rtTriangle">
            <a:avLst/>
          </a:prstGeom>
          <a:solidFill>
            <a:schemeClr val="bg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lowchart: Document 75">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209208" y="1858597"/>
            <a:ext cx="6858000" cy="3140811"/>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78" name="Group 7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79" name="Straight Connector 7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63" name="Content Placeholder 8">
            <a:extLst>
              <a:ext uri="{FF2B5EF4-FFF2-40B4-BE49-F238E27FC236}">
                <a16:creationId xmlns:a16="http://schemas.microsoft.com/office/drawing/2014/main" id="{4EC8317A-481E-A70E-1D3E-06AC4F6E5813}"/>
              </a:ext>
            </a:extLst>
          </p:cNvPr>
          <p:cNvSpPr>
            <a:spLocks noGrp="1"/>
          </p:cNvSpPr>
          <p:nvPr>
            <p:ph idx="1"/>
          </p:nvPr>
        </p:nvSpPr>
        <p:spPr>
          <a:xfrm>
            <a:off x="689113" y="1232832"/>
            <a:ext cx="6159160" cy="4312624"/>
          </a:xfrm>
        </p:spPr>
        <p:txBody>
          <a:bodyPr vert="horz" lIns="91440" tIns="45720" rIns="91440" bIns="45720" rtlCol="0" anchor="t">
            <a:normAutofit/>
          </a:bodyPr>
          <a:lstStyle/>
          <a:p>
            <a:pPr>
              <a:lnSpc>
                <a:spcPct val="100000"/>
              </a:lnSpc>
            </a:pPr>
            <a:r>
              <a:rPr lang="en-US" sz="1800">
                <a:solidFill>
                  <a:schemeClr val="tx2"/>
                </a:solidFill>
                <a:ea typeface="+mn-lt"/>
                <a:cs typeface="+mn-lt"/>
              </a:rPr>
              <a:t>The oversampling method results in higher recall for the minority class in both train and test sets compared to SMOTE, but lower precision for the minority class. The overall accuracy is lower for the oversampling method compared to SMOTE.</a:t>
            </a:r>
          </a:p>
          <a:p>
            <a:pPr>
              <a:lnSpc>
                <a:spcPct val="100000"/>
              </a:lnSpc>
            </a:pPr>
            <a:endParaRPr lang="en-US" sz="1800">
              <a:solidFill>
                <a:schemeClr val="tx2"/>
              </a:solidFill>
            </a:endParaRPr>
          </a:p>
          <a:p>
            <a:pPr>
              <a:lnSpc>
                <a:spcPct val="100000"/>
              </a:lnSpc>
            </a:pPr>
            <a:endParaRPr lang="en-US" sz="1800">
              <a:solidFill>
                <a:schemeClr val="tx2"/>
              </a:solidFill>
              <a:ea typeface="+mn-lt"/>
              <a:cs typeface="+mn-lt"/>
            </a:endParaRPr>
          </a:p>
          <a:p>
            <a:pPr>
              <a:lnSpc>
                <a:spcPct val="100000"/>
              </a:lnSpc>
            </a:pPr>
            <a:r>
              <a:rPr lang="en-US" sz="1800">
                <a:solidFill>
                  <a:schemeClr val="tx2"/>
                </a:solidFill>
                <a:ea typeface="+mn-lt"/>
                <a:cs typeface="+mn-lt"/>
              </a:rPr>
              <a:t>In </a:t>
            </a:r>
            <a:r>
              <a:rPr lang="en-US" sz="1800" err="1">
                <a:solidFill>
                  <a:schemeClr val="tx2"/>
                </a:solidFill>
                <a:ea typeface="+mn-lt"/>
                <a:cs typeface="+mn-lt"/>
              </a:rPr>
              <a:t>undersampling</a:t>
            </a:r>
            <a:r>
              <a:rPr lang="en-US" sz="1800">
                <a:solidFill>
                  <a:schemeClr val="tx2"/>
                </a:solidFill>
                <a:ea typeface="+mn-lt"/>
                <a:cs typeface="+mn-lt"/>
              </a:rPr>
              <a:t>, the precision and recall for the minority class (class 1) is higher than in oversampling, but the overall accuracy is lower. The F1-score is also lower compared to SMOTE.</a:t>
            </a:r>
          </a:p>
          <a:p>
            <a:pPr>
              <a:lnSpc>
                <a:spcPct val="100000"/>
              </a:lnSpc>
            </a:pPr>
            <a:endParaRPr lang="en-US" sz="1500">
              <a:solidFill>
                <a:schemeClr val="tx2"/>
              </a:solidFill>
            </a:endParaRPr>
          </a:p>
          <a:p>
            <a:pPr>
              <a:lnSpc>
                <a:spcPct val="100000"/>
              </a:lnSpc>
            </a:pPr>
            <a:endParaRPr lang="en-US" sz="1500">
              <a:solidFill>
                <a:schemeClr val="tx2"/>
              </a:solidFill>
            </a:endParaRPr>
          </a:p>
          <a:p>
            <a:pPr>
              <a:lnSpc>
                <a:spcPct val="100000"/>
              </a:lnSpc>
            </a:pPr>
            <a:endParaRPr lang="en-US" sz="1500">
              <a:solidFill>
                <a:schemeClr val="tx2"/>
              </a:solidFill>
            </a:endParaRPr>
          </a:p>
          <a:p>
            <a:pPr>
              <a:lnSpc>
                <a:spcPct val="100000"/>
              </a:lnSpc>
            </a:pPr>
            <a:endParaRPr lang="en-US" sz="1500">
              <a:solidFill>
                <a:schemeClr val="tx2"/>
              </a:solidFill>
            </a:endParaRPr>
          </a:p>
        </p:txBody>
      </p:sp>
      <p:pic>
        <p:nvPicPr>
          <p:cNvPr id="5" name="Picture 5" descr="A picture containing text, receipt&#10;&#10;Description automatically generated">
            <a:extLst>
              <a:ext uri="{FF2B5EF4-FFF2-40B4-BE49-F238E27FC236}">
                <a16:creationId xmlns:a16="http://schemas.microsoft.com/office/drawing/2014/main" id="{76D3E780-4F13-C6BF-F804-5AC50F2E5FBB}"/>
              </a:ext>
            </a:extLst>
          </p:cNvPr>
          <p:cNvPicPr>
            <a:picLocks noChangeAspect="1"/>
          </p:cNvPicPr>
          <p:nvPr/>
        </p:nvPicPr>
        <p:blipFill>
          <a:blip r:embed="rId2"/>
          <a:stretch>
            <a:fillRect/>
          </a:stretch>
        </p:blipFill>
        <p:spPr>
          <a:xfrm>
            <a:off x="7513060" y="638827"/>
            <a:ext cx="3553618" cy="2686585"/>
          </a:xfrm>
          <a:prstGeom prst="rect">
            <a:avLst/>
          </a:prstGeom>
        </p:spPr>
      </p:pic>
      <p:pic>
        <p:nvPicPr>
          <p:cNvPr id="4" name="Picture 4" descr="Table&#10;&#10;Description automatically generated">
            <a:extLst>
              <a:ext uri="{FF2B5EF4-FFF2-40B4-BE49-F238E27FC236}">
                <a16:creationId xmlns:a16="http://schemas.microsoft.com/office/drawing/2014/main" id="{1F7F8BF0-0F83-53C9-EF4E-B5DFFE990143}"/>
              </a:ext>
            </a:extLst>
          </p:cNvPr>
          <p:cNvPicPr>
            <a:picLocks noChangeAspect="1"/>
          </p:cNvPicPr>
          <p:nvPr/>
        </p:nvPicPr>
        <p:blipFill>
          <a:blip r:embed="rId3"/>
          <a:stretch>
            <a:fillRect/>
          </a:stretch>
        </p:blipFill>
        <p:spPr>
          <a:xfrm>
            <a:off x="7555369" y="3561815"/>
            <a:ext cx="3865908" cy="2686585"/>
          </a:xfrm>
          <a:prstGeom prst="rect">
            <a:avLst/>
          </a:prstGeom>
        </p:spPr>
      </p:pic>
    </p:spTree>
    <p:extLst>
      <p:ext uri="{BB962C8B-B14F-4D97-AF65-F5344CB8AC3E}">
        <p14:creationId xmlns:p14="http://schemas.microsoft.com/office/powerpoint/2010/main" val="2828925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F3EB37C-9937-9B59-D118-E5DAA0B6BDE0}"/>
              </a:ext>
            </a:extLst>
          </p:cNvPr>
          <p:cNvSpPr>
            <a:spLocks noGrp="1"/>
          </p:cNvSpPr>
          <p:nvPr>
            <p:ph type="title"/>
          </p:nvPr>
        </p:nvSpPr>
        <p:spPr>
          <a:xfrm>
            <a:off x="457201" y="732348"/>
            <a:ext cx="4419600" cy="2240735"/>
          </a:xfrm>
        </p:spPr>
        <p:txBody>
          <a:bodyPr>
            <a:normAutofit/>
          </a:bodyPr>
          <a:lstStyle/>
          <a:p>
            <a:r>
              <a:rPr lang="en-US" sz="4100">
                <a:solidFill>
                  <a:schemeClr val="tx2"/>
                </a:solidFill>
                <a:cs typeface="Posterama"/>
              </a:rPr>
              <a:t>After tuning hyperparameters</a:t>
            </a:r>
            <a:endParaRPr lang="en-US" sz="4100">
              <a:solidFill>
                <a:schemeClr val="tx2"/>
              </a:solidFill>
            </a:endParaRPr>
          </a:p>
        </p:txBody>
      </p:sp>
      <p:sp>
        <p:nvSpPr>
          <p:cNvPr id="8" name="Content Placeholder 7">
            <a:extLst>
              <a:ext uri="{FF2B5EF4-FFF2-40B4-BE49-F238E27FC236}">
                <a16:creationId xmlns:a16="http://schemas.microsoft.com/office/drawing/2014/main" id="{7335B0EF-E104-8B62-162D-EB459183D690}"/>
              </a:ext>
            </a:extLst>
          </p:cNvPr>
          <p:cNvSpPr>
            <a:spLocks noGrp="1"/>
          </p:cNvSpPr>
          <p:nvPr>
            <p:ph idx="1"/>
          </p:nvPr>
        </p:nvSpPr>
        <p:spPr>
          <a:xfrm>
            <a:off x="457201" y="2755835"/>
            <a:ext cx="4419600" cy="3492565"/>
          </a:xfrm>
        </p:spPr>
        <p:txBody>
          <a:bodyPr vert="horz" lIns="91440" tIns="45720" rIns="91440" bIns="45720" rtlCol="0" anchor="t">
            <a:normAutofit/>
          </a:bodyPr>
          <a:lstStyle/>
          <a:p>
            <a:r>
              <a:rPr lang="en-US" sz="1800">
                <a:solidFill>
                  <a:schemeClr val="tx2"/>
                </a:solidFill>
                <a:ea typeface="+mn-lt"/>
                <a:cs typeface="+mn-lt"/>
              </a:rPr>
              <a:t>After tuning, the Smote sampling technique shows improved performance on the training set with an accuracy of 0.72 and an f1-score of 0.73 for the minority class. However, the performance on the test set is not very good with an accuracy of 0.64 and an f1-score of 0.41 for the minority class.</a:t>
            </a:r>
            <a:endParaRPr lang="en-US" sz="1800">
              <a:solidFill>
                <a:schemeClr val="tx2"/>
              </a:solidFill>
            </a:endParaRPr>
          </a:p>
        </p:txBody>
      </p:sp>
      <p:pic>
        <p:nvPicPr>
          <p:cNvPr id="4" name="Picture 4" descr="Chart&#10;&#10;Description automatically generated">
            <a:extLst>
              <a:ext uri="{FF2B5EF4-FFF2-40B4-BE49-F238E27FC236}">
                <a16:creationId xmlns:a16="http://schemas.microsoft.com/office/drawing/2014/main" id="{671286D2-CDA6-C936-6CCE-3A0CB58A3A5D}"/>
              </a:ext>
            </a:extLst>
          </p:cNvPr>
          <p:cNvPicPr>
            <a:picLocks noChangeAspect="1"/>
          </p:cNvPicPr>
          <p:nvPr/>
        </p:nvPicPr>
        <p:blipFill>
          <a:blip r:embed="rId2"/>
          <a:stretch>
            <a:fillRect/>
          </a:stretch>
        </p:blipFill>
        <p:spPr>
          <a:xfrm>
            <a:off x="6135439" y="732348"/>
            <a:ext cx="4932356" cy="5541973"/>
          </a:xfrm>
          <a:prstGeom prst="rect">
            <a:avLst/>
          </a:prstGeom>
        </p:spPr>
      </p:pic>
      <p:pic>
        <p:nvPicPr>
          <p:cNvPr id="5" name="Picture 5">
            <a:extLst>
              <a:ext uri="{FF2B5EF4-FFF2-40B4-BE49-F238E27FC236}">
                <a16:creationId xmlns:a16="http://schemas.microsoft.com/office/drawing/2014/main" id="{8CB1984C-0E3C-C05A-D874-9FE0DFEA71C5}"/>
              </a:ext>
            </a:extLst>
          </p:cNvPr>
          <p:cNvPicPr>
            <a:picLocks noChangeAspect="1"/>
          </p:cNvPicPr>
          <p:nvPr/>
        </p:nvPicPr>
        <p:blipFill>
          <a:blip r:embed="rId3"/>
          <a:stretch>
            <a:fillRect/>
          </a:stretch>
        </p:blipFill>
        <p:spPr>
          <a:xfrm>
            <a:off x="748748" y="6098975"/>
            <a:ext cx="10307983" cy="281182"/>
          </a:xfrm>
          <a:prstGeom prst="rect">
            <a:avLst/>
          </a:prstGeom>
        </p:spPr>
      </p:pic>
    </p:spTree>
    <p:extLst>
      <p:ext uri="{BB962C8B-B14F-4D97-AF65-F5344CB8AC3E}">
        <p14:creationId xmlns:p14="http://schemas.microsoft.com/office/powerpoint/2010/main" val="3392824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989D07A-549D-0017-E629-C543355B46B9}"/>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Support Vector Machine(Kernel)</a:t>
            </a:r>
            <a:endParaRPr lang="en-US">
              <a:solidFill>
                <a:schemeClr val="tx2"/>
              </a:solidFill>
            </a:endParaRPr>
          </a:p>
        </p:txBody>
      </p:sp>
      <p:sp>
        <p:nvSpPr>
          <p:cNvPr id="8" name="Content Placeholder 7">
            <a:extLst>
              <a:ext uri="{FF2B5EF4-FFF2-40B4-BE49-F238E27FC236}">
                <a16:creationId xmlns:a16="http://schemas.microsoft.com/office/drawing/2014/main" id="{DC213176-4CAD-1B51-053F-EE77D468137B}"/>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a:solidFill>
                  <a:schemeClr val="tx2"/>
                </a:solidFill>
              </a:rPr>
              <a:t>The SVM Linear Kernel model has a low accuracy and F1-scores for both classes in both training and test sets with 62% and 51% respectively</a:t>
            </a:r>
          </a:p>
        </p:txBody>
      </p:sp>
      <p:pic>
        <p:nvPicPr>
          <p:cNvPr id="4" name="Picture 4" descr="A picture containing text, receipt&#10;&#10;Description automatically generated">
            <a:extLst>
              <a:ext uri="{FF2B5EF4-FFF2-40B4-BE49-F238E27FC236}">
                <a16:creationId xmlns:a16="http://schemas.microsoft.com/office/drawing/2014/main" id="{45CFCEB6-46BA-D4F0-4121-68E9CC5CE6B7}"/>
              </a:ext>
            </a:extLst>
          </p:cNvPr>
          <p:cNvPicPr>
            <a:picLocks noChangeAspect="1"/>
          </p:cNvPicPr>
          <p:nvPr/>
        </p:nvPicPr>
        <p:blipFill>
          <a:blip r:embed="rId2"/>
          <a:stretch>
            <a:fillRect/>
          </a:stretch>
        </p:blipFill>
        <p:spPr>
          <a:xfrm>
            <a:off x="5203767" y="1236280"/>
            <a:ext cx="6795701" cy="4534108"/>
          </a:xfrm>
          <a:prstGeom prst="rect">
            <a:avLst/>
          </a:prstGeom>
        </p:spPr>
      </p:pic>
    </p:spTree>
    <p:extLst>
      <p:ext uri="{BB962C8B-B14F-4D97-AF65-F5344CB8AC3E}">
        <p14:creationId xmlns:p14="http://schemas.microsoft.com/office/powerpoint/2010/main" val="3860565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DE2D6A9-02F9-88D7-DFC4-C2A035F5E891}"/>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Rbf Kernel</a:t>
            </a:r>
          </a:p>
        </p:txBody>
      </p:sp>
      <p:sp>
        <p:nvSpPr>
          <p:cNvPr id="8" name="Content Placeholder 7">
            <a:extLst>
              <a:ext uri="{FF2B5EF4-FFF2-40B4-BE49-F238E27FC236}">
                <a16:creationId xmlns:a16="http://schemas.microsoft.com/office/drawing/2014/main" id="{75096EDF-B45C-83A1-83A6-6CFF34D4D796}"/>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a:solidFill>
                  <a:schemeClr val="tx2"/>
                </a:solidFill>
                <a:ea typeface="+mn-lt"/>
                <a:cs typeface="+mn-lt"/>
              </a:rPr>
              <a:t>The SVM with </a:t>
            </a:r>
            <a:r>
              <a:rPr lang="en-US" sz="1800" err="1">
                <a:solidFill>
                  <a:schemeClr val="tx2"/>
                </a:solidFill>
                <a:ea typeface="+mn-lt"/>
                <a:cs typeface="+mn-lt"/>
              </a:rPr>
              <a:t>rbf</a:t>
            </a:r>
            <a:r>
              <a:rPr lang="en-US" sz="1800">
                <a:solidFill>
                  <a:schemeClr val="tx2"/>
                </a:solidFill>
                <a:ea typeface="+mn-lt"/>
                <a:cs typeface="+mn-lt"/>
              </a:rPr>
              <a:t> kernel achieved an accuracy of 0.75 and an F1-score of 0.31 for the positive class on the test set. On the other hand, on the training set, it achieved an accuracy of 0.80 and an F1-score of 0.77 for the positive class.</a:t>
            </a:r>
            <a:endParaRPr lang="en-US" sz="1800">
              <a:solidFill>
                <a:schemeClr val="tx2"/>
              </a:solidFill>
            </a:endParaRPr>
          </a:p>
        </p:txBody>
      </p:sp>
      <p:pic>
        <p:nvPicPr>
          <p:cNvPr id="4" name="Picture 4" descr="A picture containing text, receipt&#10;&#10;Description automatically generated">
            <a:extLst>
              <a:ext uri="{FF2B5EF4-FFF2-40B4-BE49-F238E27FC236}">
                <a16:creationId xmlns:a16="http://schemas.microsoft.com/office/drawing/2014/main" id="{04A3142F-119C-4BD5-165E-5D735B150FFC}"/>
              </a:ext>
            </a:extLst>
          </p:cNvPr>
          <p:cNvPicPr>
            <a:picLocks noChangeAspect="1"/>
          </p:cNvPicPr>
          <p:nvPr/>
        </p:nvPicPr>
        <p:blipFill>
          <a:blip r:embed="rId2"/>
          <a:stretch>
            <a:fillRect/>
          </a:stretch>
        </p:blipFill>
        <p:spPr>
          <a:xfrm>
            <a:off x="5203767" y="1409710"/>
            <a:ext cx="6795701" cy="4187249"/>
          </a:xfrm>
          <a:prstGeom prst="rect">
            <a:avLst/>
          </a:prstGeom>
        </p:spPr>
      </p:pic>
    </p:spTree>
    <p:extLst>
      <p:ext uri="{BB962C8B-B14F-4D97-AF65-F5344CB8AC3E}">
        <p14:creationId xmlns:p14="http://schemas.microsoft.com/office/powerpoint/2010/main" val="638884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B8B686C-A59F-B656-495A-224EBF461801}"/>
              </a:ext>
            </a:extLst>
          </p:cNvPr>
          <p:cNvSpPr>
            <a:spLocks noGrp="1"/>
          </p:cNvSpPr>
          <p:nvPr>
            <p:ph type="title"/>
          </p:nvPr>
        </p:nvSpPr>
        <p:spPr>
          <a:xfrm>
            <a:off x="457200" y="728906"/>
            <a:ext cx="10754527" cy="2228755"/>
          </a:xfrm>
        </p:spPr>
        <p:txBody>
          <a:bodyPr anchor="b">
            <a:normAutofit/>
          </a:bodyPr>
          <a:lstStyle/>
          <a:p>
            <a:r>
              <a:rPr lang="en-US">
                <a:solidFill>
                  <a:schemeClr val="tx2"/>
                </a:solidFill>
                <a:cs typeface="Posterama"/>
              </a:rPr>
              <a:t>Decision tree classifier</a:t>
            </a:r>
            <a:endParaRPr lang="en-US">
              <a:solidFill>
                <a:schemeClr val="tx2"/>
              </a:solidFill>
            </a:endParaRPr>
          </a:p>
        </p:txBody>
      </p:sp>
      <p:sp>
        <p:nvSpPr>
          <p:cNvPr id="3" name="Content Placeholder 2">
            <a:extLst>
              <a:ext uri="{FF2B5EF4-FFF2-40B4-BE49-F238E27FC236}">
                <a16:creationId xmlns:a16="http://schemas.microsoft.com/office/drawing/2014/main" id="{5071EF4D-5759-B433-6780-31CD1DCA5808}"/>
              </a:ext>
            </a:extLst>
          </p:cNvPr>
          <p:cNvSpPr>
            <a:spLocks noGrp="1"/>
          </p:cNvSpPr>
          <p:nvPr>
            <p:ph idx="1"/>
          </p:nvPr>
        </p:nvSpPr>
        <p:spPr>
          <a:xfrm>
            <a:off x="457201" y="3257633"/>
            <a:ext cx="9745506" cy="2552886"/>
          </a:xfrm>
        </p:spPr>
        <p:txBody>
          <a:bodyPr vert="horz" lIns="91440" tIns="45720" rIns="91440" bIns="45720" rtlCol="0" anchor="t">
            <a:normAutofit/>
          </a:bodyPr>
          <a:lstStyle/>
          <a:p>
            <a:r>
              <a:rPr lang="en-US" sz="1800">
                <a:solidFill>
                  <a:schemeClr val="tx2"/>
                </a:solidFill>
                <a:ea typeface="+mn-lt"/>
                <a:cs typeface="+mn-lt"/>
              </a:rPr>
              <a:t>Partitions the input space into regions based on feature values, making sequential decisions at each internal node to reach a final prediction at the leaf nodes.</a:t>
            </a:r>
          </a:p>
          <a:p>
            <a:r>
              <a:rPr lang="en-US" sz="1800">
                <a:solidFill>
                  <a:schemeClr val="tx2"/>
                </a:solidFill>
                <a:ea typeface="+mn-lt"/>
                <a:cs typeface="+mn-lt"/>
              </a:rPr>
              <a:t>Can capture complex decision boundaries and also can handle both numerical and categorical features.</a:t>
            </a:r>
          </a:p>
          <a:p>
            <a:r>
              <a:rPr lang="en-US" sz="1800">
                <a:solidFill>
                  <a:srgbClr val="374151"/>
                </a:solidFill>
                <a:ea typeface="+mn-lt"/>
                <a:cs typeface="+mn-lt"/>
              </a:rPr>
              <a:t>Decision trees can suffer from overfitting, where they become too specific to the training data and by pruning, limiting tree depth we can mitigate overfitting.</a:t>
            </a:r>
          </a:p>
        </p:txBody>
      </p:sp>
    </p:spTree>
    <p:extLst>
      <p:ext uri="{BB962C8B-B14F-4D97-AF65-F5344CB8AC3E}">
        <p14:creationId xmlns:p14="http://schemas.microsoft.com/office/powerpoint/2010/main" val="3451712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44D3275-ED02-66DF-EC51-E28755A75487}"/>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Decision Tree Classifier</a:t>
            </a:r>
            <a:endParaRPr lang="en-US">
              <a:solidFill>
                <a:schemeClr val="tx2"/>
              </a:solidFill>
            </a:endParaRPr>
          </a:p>
        </p:txBody>
      </p:sp>
      <p:sp>
        <p:nvSpPr>
          <p:cNvPr id="8" name="Content Placeholder 7">
            <a:extLst>
              <a:ext uri="{FF2B5EF4-FFF2-40B4-BE49-F238E27FC236}">
                <a16:creationId xmlns:a16="http://schemas.microsoft.com/office/drawing/2014/main" id="{17829E28-E612-21CE-54A6-D01BC8ECC119}"/>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a:solidFill>
                  <a:srgbClr val="374151"/>
                </a:solidFill>
                <a:ea typeface="+mn-lt"/>
                <a:cs typeface="+mn-lt"/>
              </a:rPr>
              <a:t>The decision tree model with  have performed well on the training set, achieving perfect precision, recall, and f1-score for both classes but on the test set, the model has lower performance, with lower precision, recall, and f1-score for the minority class. However, the overall accuracy of 0.73 is still reasonable.</a:t>
            </a:r>
            <a:endParaRPr lang="en-US" sz="1800">
              <a:solidFill>
                <a:schemeClr val="tx2"/>
              </a:solidFill>
            </a:endParaRPr>
          </a:p>
        </p:txBody>
      </p:sp>
      <p:pic>
        <p:nvPicPr>
          <p:cNvPr id="4" name="Picture 4" descr="Table&#10;&#10;Description automatically generated">
            <a:extLst>
              <a:ext uri="{FF2B5EF4-FFF2-40B4-BE49-F238E27FC236}">
                <a16:creationId xmlns:a16="http://schemas.microsoft.com/office/drawing/2014/main" id="{3B5F650B-D30D-14B1-587A-F2EB43E6491A}"/>
              </a:ext>
            </a:extLst>
          </p:cNvPr>
          <p:cNvPicPr>
            <a:picLocks noChangeAspect="1"/>
          </p:cNvPicPr>
          <p:nvPr/>
        </p:nvPicPr>
        <p:blipFill>
          <a:blip r:embed="rId2"/>
          <a:stretch>
            <a:fillRect/>
          </a:stretch>
        </p:blipFill>
        <p:spPr>
          <a:xfrm>
            <a:off x="5203767" y="1014409"/>
            <a:ext cx="6795701" cy="4977850"/>
          </a:xfrm>
          <a:prstGeom prst="rect">
            <a:avLst/>
          </a:prstGeom>
        </p:spPr>
      </p:pic>
    </p:spTree>
    <p:extLst>
      <p:ext uri="{BB962C8B-B14F-4D97-AF65-F5344CB8AC3E}">
        <p14:creationId xmlns:p14="http://schemas.microsoft.com/office/powerpoint/2010/main" val="3758001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Right Triangle 15">
            <a:extLst>
              <a:ext uri="{FF2B5EF4-FFF2-40B4-BE49-F238E27FC236}">
                <a16:creationId xmlns:a16="http://schemas.microsoft.com/office/drawing/2014/main" id="{81743148-CD08-47B2-BAA4-1406F152B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9892" y="-271110"/>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7930" y="1422741"/>
            <a:ext cx="568289" cy="568289"/>
          </a:xfrm>
          <a:prstGeom prst="rtTriangle">
            <a:avLst/>
          </a:prstGeom>
          <a:solidFill>
            <a:schemeClr val="bg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Document 19">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209208" y="1858597"/>
            <a:ext cx="6858000" cy="3140811"/>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2" name="Group 21">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3" name="Straight Connector 22">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A45DB62-5627-17EB-6302-7AE972F2DFD7}"/>
              </a:ext>
            </a:extLst>
          </p:cNvPr>
          <p:cNvSpPr>
            <a:spLocks noGrp="1"/>
          </p:cNvSpPr>
          <p:nvPr>
            <p:ph type="title"/>
          </p:nvPr>
        </p:nvSpPr>
        <p:spPr>
          <a:xfrm>
            <a:off x="457200" y="732349"/>
            <a:ext cx="6159160" cy="1444586"/>
          </a:xfrm>
        </p:spPr>
        <p:txBody>
          <a:bodyPr>
            <a:normAutofit/>
          </a:bodyPr>
          <a:lstStyle/>
          <a:p>
            <a:r>
              <a:rPr lang="en-US">
                <a:solidFill>
                  <a:schemeClr val="tx2"/>
                </a:solidFill>
                <a:cs typeface="Posterama"/>
              </a:rPr>
              <a:t>Tunning Decision Tree Classifier</a:t>
            </a:r>
            <a:endParaRPr lang="en-US">
              <a:solidFill>
                <a:schemeClr val="tx2"/>
              </a:solidFill>
            </a:endParaRPr>
          </a:p>
        </p:txBody>
      </p:sp>
      <p:sp>
        <p:nvSpPr>
          <p:cNvPr id="9" name="Content Placeholder 8">
            <a:extLst>
              <a:ext uri="{FF2B5EF4-FFF2-40B4-BE49-F238E27FC236}">
                <a16:creationId xmlns:a16="http://schemas.microsoft.com/office/drawing/2014/main" id="{4D111B4F-F9BE-3EEC-B52E-5AA350D87448}"/>
              </a:ext>
            </a:extLst>
          </p:cNvPr>
          <p:cNvSpPr>
            <a:spLocks noGrp="1"/>
          </p:cNvSpPr>
          <p:nvPr>
            <p:ph idx="1"/>
          </p:nvPr>
        </p:nvSpPr>
        <p:spPr>
          <a:xfrm>
            <a:off x="269461" y="2580136"/>
            <a:ext cx="6159160" cy="3009494"/>
          </a:xfrm>
        </p:spPr>
        <p:txBody>
          <a:bodyPr vert="horz" lIns="91440" tIns="45720" rIns="91440" bIns="45720" rtlCol="0" anchor="t">
            <a:normAutofit/>
          </a:bodyPr>
          <a:lstStyle/>
          <a:p>
            <a:r>
              <a:rPr lang="en-US" sz="1800">
                <a:solidFill>
                  <a:schemeClr val="tx2"/>
                </a:solidFill>
                <a:ea typeface="+mn-lt"/>
                <a:cs typeface="+mn-lt"/>
              </a:rPr>
              <a:t>After tuning, the decision tree has improved results on both the training and test sets. The best decision tree has an accuracy of 85% on the training set and 82% on the test set. It has higher precision and recall scores for both classes </a:t>
            </a:r>
            <a:endParaRPr lang="en-US" sz="1800">
              <a:solidFill>
                <a:schemeClr val="tx2"/>
              </a:solidFill>
            </a:endParaRPr>
          </a:p>
        </p:txBody>
      </p:sp>
      <p:pic>
        <p:nvPicPr>
          <p:cNvPr id="5" name="Picture 5" descr="Table&#10;&#10;Description automatically generated">
            <a:extLst>
              <a:ext uri="{FF2B5EF4-FFF2-40B4-BE49-F238E27FC236}">
                <a16:creationId xmlns:a16="http://schemas.microsoft.com/office/drawing/2014/main" id="{49C640A7-888A-5EB7-8320-B59A6DC89B48}"/>
              </a:ext>
            </a:extLst>
          </p:cNvPr>
          <p:cNvPicPr>
            <a:picLocks noChangeAspect="1"/>
          </p:cNvPicPr>
          <p:nvPr/>
        </p:nvPicPr>
        <p:blipFill>
          <a:blip r:embed="rId2"/>
          <a:stretch>
            <a:fillRect/>
          </a:stretch>
        </p:blipFill>
        <p:spPr>
          <a:xfrm>
            <a:off x="6470462" y="1886397"/>
            <a:ext cx="5661180" cy="2070418"/>
          </a:xfrm>
          <a:prstGeom prst="rect">
            <a:avLst/>
          </a:prstGeom>
        </p:spPr>
      </p:pic>
      <p:pic>
        <p:nvPicPr>
          <p:cNvPr id="4" name="Picture 4">
            <a:extLst>
              <a:ext uri="{FF2B5EF4-FFF2-40B4-BE49-F238E27FC236}">
                <a16:creationId xmlns:a16="http://schemas.microsoft.com/office/drawing/2014/main" id="{E39BC27E-9D09-07E0-7B10-2327555C28D7}"/>
              </a:ext>
            </a:extLst>
          </p:cNvPr>
          <p:cNvPicPr>
            <a:picLocks noChangeAspect="1"/>
          </p:cNvPicPr>
          <p:nvPr/>
        </p:nvPicPr>
        <p:blipFill>
          <a:blip r:embed="rId3"/>
          <a:stretch>
            <a:fillRect/>
          </a:stretch>
        </p:blipFill>
        <p:spPr>
          <a:xfrm>
            <a:off x="6442385" y="3981467"/>
            <a:ext cx="5650138" cy="1945182"/>
          </a:xfrm>
          <a:prstGeom prst="rect">
            <a:avLst/>
          </a:prstGeom>
        </p:spPr>
      </p:pic>
    </p:spTree>
    <p:extLst>
      <p:ext uri="{BB962C8B-B14F-4D97-AF65-F5344CB8AC3E}">
        <p14:creationId xmlns:p14="http://schemas.microsoft.com/office/powerpoint/2010/main" val="1446592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3296EB3-72B5-2ABD-0A0B-C88A9EE6DEDF}"/>
              </a:ext>
            </a:extLst>
          </p:cNvPr>
          <p:cNvSpPr>
            <a:spLocks noGrp="1"/>
          </p:cNvSpPr>
          <p:nvPr>
            <p:ph type="title"/>
          </p:nvPr>
        </p:nvSpPr>
        <p:spPr>
          <a:xfrm>
            <a:off x="457200" y="728907"/>
            <a:ext cx="10754527" cy="1499856"/>
          </a:xfrm>
        </p:spPr>
        <p:txBody>
          <a:bodyPr anchor="b">
            <a:normAutofit/>
          </a:bodyPr>
          <a:lstStyle/>
          <a:p>
            <a:r>
              <a:rPr lang="en-US">
                <a:solidFill>
                  <a:schemeClr val="tx2"/>
                </a:solidFill>
                <a:cs typeface="Posterama"/>
              </a:rPr>
              <a:t>Adaboost classifier</a:t>
            </a:r>
            <a:endParaRPr lang="en-US">
              <a:solidFill>
                <a:schemeClr val="tx2"/>
              </a:solidFill>
            </a:endParaRPr>
          </a:p>
        </p:txBody>
      </p:sp>
      <p:sp>
        <p:nvSpPr>
          <p:cNvPr id="3" name="Content Placeholder 2">
            <a:extLst>
              <a:ext uri="{FF2B5EF4-FFF2-40B4-BE49-F238E27FC236}">
                <a16:creationId xmlns:a16="http://schemas.microsoft.com/office/drawing/2014/main" id="{B4DB83F0-B155-2361-8EDB-44DAABF4E87A}"/>
              </a:ext>
            </a:extLst>
          </p:cNvPr>
          <p:cNvSpPr>
            <a:spLocks noGrp="1"/>
          </p:cNvSpPr>
          <p:nvPr>
            <p:ph idx="1"/>
          </p:nvPr>
        </p:nvSpPr>
        <p:spPr>
          <a:xfrm>
            <a:off x="457201" y="2555902"/>
            <a:ext cx="9745506" cy="3254617"/>
          </a:xfrm>
        </p:spPr>
        <p:txBody>
          <a:bodyPr vert="horz" lIns="91440" tIns="45720" rIns="91440" bIns="45720" rtlCol="0" anchor="t">
            <a:normAutofit lnSpcReduction="10000"/>
          </a:bodyPr>
          <a:lstStyle/>
          <a:p>
            <a:pPr>
              <a:lnSpc>
                <a:spcPct val="100000"/>
              </a:lnSpc>
            </a:pPr>
            <a:r>
              <a:rPr lang="en-US" sz="1600">
                <a:solidFill>
                  <a:schemeClr val="tx2"/>
                </a:solidFill>
                <a:ea typeface="+mn-lt"/>
                <a:cs typeface="+mn-lt"/>
              </a:rPr>
              <a:t>Adaptive Boosting, is a boosting algorithm used for binary classification problems which combines multiple weak learners (classifiers that perform slightly better than random guessing) to create a strong classifier.</a:t>
            </a:r>
            <a:endParaRPr lang="en-US" sz="1600">
              <a:solidFill>
                <a:schemeClr val="tx2"/>
              </a:solidFill>
            </a:endParaRPr>
          </a:p>
          <a:p>
            <a:pPr>
              <a:lnSpc>
                <a:spcPct val="100000"/>
              </a:lnSpc>
            </a:pPr>
            <a:endParaRPr lang="en-US" sz="1600">
              <a:solidFill>
                <a:schemeClr val="tx2"/>
              </a:solidFill>
            </a:endParaRPr>
          </a:p>
          <a:p>
            <a:pPr>
              <a:lnSpc>
                <a:spcPct val="100000"/>
              </a:lnSpc>
            </a:pPr>
            <a:r>
              <a:rPr lang="en-US" sz="1600">
                <a:solidFill>
                  <a:schemeClr val="tx2"/>
                </a:solidFill>
                <a:ea typeface="+mn-lt"/>
                <a:cs typeface="+mn-lt"/>
              </a:rPr>
              <a:t>It works iteratively by giving higher weights to misclassified examples in each round, Weak learners are trained on weighted versions of the training data, and their predictions are combined using a weighted voting scheme.</a:t>
            </a:r>
            <a:endParaRPr lang="en-US" sz="1600">
              <a:solidFill>
                <a:schemeClr val="tx2"/>
              </a:solidFill>
            </a:endParaRPr>
          </a:p>
          <a:p>
            <a:pPr>
              <a:lnSpc>
                <a:spcPct val="100000"/>
              </a:lnSpc>
            </a:pPr>
            <a:endParaRPr lang="en-US" sz="1600">
              <a:solidFill>
                <a:schemeClr val="tx2"/>
              </a:solidFill>
            </a:endParaRPr>
          </a:p>
          <a:p>
            <a:pPr>
              <a:lnSpc>
                <a:spcPct val="100000"/>
              </a:lnSpc>
            </a:pPr>
            <a:r>
              <a:rPr lang="en-US" sz="1600">
                <a:solidFill>
                  <a:schemeClr val="tx2"/>
                </a:solidFill>
                <a:ea typeface="+mn-lt"/>
                <a:cs typeface="+mn-lt"/>
              </a:rPr>
              <a:t>The final prediction of the </a:t>
            </a:r>
            <a:r>
              <a:rPr lang="en-US" sz="1600" err="1">
                <a:solidFill>
                  <a:schemeClr val="tx2"/>
                </a:solidFill>
                <a:ea typeface="+mn-lt"/>
                <a:cs typeface="+mn-lt"/>
              </a:rPr>
              <a:t>Adaboost</a:t>
            </a:r>
            <a:r>
              <a:rPr lang="en-US" sz="1600">
                <a:solidFill>
                  <a:schemeClr val="tx2"/>
                </a:solidFill>
                <a:ea typeface="+mn-lt"/>
                <a:cs typeface="+mn-lt"/>
              </a:rPr>
              <a:t> classifier is determined by the weighted combination of individual weak learner predictions. It has high accuracy, can handle complex datasets, and is less prone to overfitting compared to individual weak learners</a:t>
            </a:r>
            <a:endParaRPr lang="en-US" sz="1600">
              <a:solidFill>
                <a:schemeClr val="tx2"/>
              </a:solidFill>
            </a:endParaRPr>
          </a:p>
          <a:p>
            <a:pPr>
              <a:lnSpc>
                <a:spcPct val="100000"/>
              </a:lnSpc>
            </a:pPr>
            <a:endParaRPr lang="en-US" sz="1400">
              <a:solidFill>
                <a:schemeClr val="tx2"/>
              </a:solidFill>
            </a:endParaRPr>
          </a:p>
        </p:txBody>
      </p:sp>
    </p:spTree>
    <p:extLst>
      <p:ext uri="{BB962C8B-B14F-4D97-AF65-F5344CB8AC3E}">
        <p14:creationId xmlns:p14="http://schemas.microsoft.com/office/powerpoint/2010/main" val="338763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10E83A1-FB80-FFF6-F012-C3753231B88D}"/>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Adaboost Classifier</a:t>
            </a:r>
            <a:endParaRPr lang="en-US">
              <a:solidFill>
                <a:schemeClr val="tx2"/>
              </a:solidFill>
            </a:endParaRPr>
          </a:p>
          <a:p>
            <a:endParaRPr lang="en-US">
              <a:solidFill>
                <a:schemeClr val="tx2"/>
              </a:solidFill>
              <a:cs typeface="Posterama"/>
            </a:endParaRPr>
          </a:p>
        </p:txBody>
      </p:sp>
      <p:sp>
        <p:nvSpPr>
          <p:cNvPr id="8" name="Content Placeholder 7">
            <a:extLst>
              <a:ext uri="{FF2B5EF4-FFF2-40B4-BE49-F238E27FC236}">
                <a16:creationId xmlns:a16="http://schemas.microsoft.com/office/drawing/2014/main" id="{3A0FE47B-CC4D-2627-726D-131A972A7F53}"/>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a:solidFill>
                  <a:schemeClr val="tx2"/>
                </a:solidFill>
                <a:ea typeface="+mn-lt"/>
                <a:cs typeface="+mn-lt"/>
              </a:rPr>
              <a:t>The AdaBoost model has a high precision and recall for the positive class (1) in the training set, with an overall accuracy of 0.87. In the test set, the precision and recall for the positive class are lower, but still accuracy is 0.82.</a:t>
            </a:r>
            <a:endParaRPr lang="en-US" sz="1800">
              <a:solidFill>
                <a:schemeClr val="tx2"/>
              </a:solidFill>
            </a:endParaRPr>
          </a:p>
        </p:txBody>
      </p:sp>
      <p:pic>
        <p:nvPicPr>
          <p:cNvPr id="4" name="Picture 4" descr="Table&#10;&#10;Description automatically generated">
            <a:extLst>
              <a:ext uri="{FF2B5EF4-FFF2-40B4-BE49-F238E27FC236}">
                <a16:creationId xmlns:a16="http://schemas.microsoft.com/office/drawing/2014/main" id="{9615D358-23D0-34AB-1178-6D473AF5A29F}"/>
              </a:ext>
            </a:extLst>
          </p:cNvPr>
          <p:cNvPicPr>
            <a:picLocks noChangeAspect="1"/>
          </p:cNvPicPr>
          <p:nvPr/>
        </p:nvPicPr>
        <p:blipFill>
          <a:blip r:embed="rId2"/>
          <a:stretch>
            <a:fillRect/>
          </a:stretch>
        </p:blipFill>
        <p:spPr>
          <a:xfrm>
            <a:off x="5203767" y="1411635"/>
            <a:ext cx="6795701" cy="4183399"/>
          </a:xfrm>
          <a:prstGeom prst="rect">
            <a:avLst/>
          </a:prstGeom>
        </p:spPr>
      </p:pic>
    </p:spTree>
    <p:extLst>
      <p:ext uri="{BB962C8B-B14F-4D97-AF65-F5344CB8AC3E}">
        <p14:creationId xmlns:p14="http://schemas.microsoft.com/office/powerpoint/2010/main" val="2228390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Right Triangle 15">
            <a:extLst>
              <a:ext uri="{FF2B5EF4-FFF2-40B4-BE49-F238E27FC236}">
                <a16:creationId xmlns:a16="http://schemas.microsoft.com/office/drawing/2014/main" id="{81743148-CD08-47B2-BAA4-1406F152B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9892" y="-271110"/>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7930" y="1422741"/>
            <a:ext cx="568289" cy="568289"/>
          </a:xfrm>
          <a:prstGeom prst="rtTriangle">
            <a:avLst/>
          </a:prstGeom>
          <a:solidFill>
            <a:schemeClr val="bg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Document 19">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209208" y="1858597"/>
            <a:ext cx="6858000" cy="3140811"/>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2" name="Group 21">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3" name="Straight Connector 22">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10819E-F712-7A9B-1763-CC13AAEEDA78}"/>
              </a:ext>
            </a:extLst>
          </p:cNvPr>
          <p:cNvSpPr>
            <a:spLocks noGrp="1"/>
          </p:cNvSpPr>
          <p:nvPr>
            <p:ph type="title"/>
          </p:nvPr>
        </p:nvSpPr>
        <p:spPr>
          <a:xfrm>
            <a:off x="457200" y="732348"/>
            <a:ext cx="6159160" cy="2240735"/>
          </a:xfrm>
        </p:spPr>
        <p:txBody>
          <a:bodyPr>
            <a:normAutofit/>
          </a:bodyPr>
          <a:lstStyle/>
          <a:p>
            <a:r>
              <a:rPr lang="en-US">
                <a:solidFill>
                  <a:schemeClr val="tx2"/>
                </a:solidFill>
                <a:cs typeface="Posterama"/>
              </a:rPr>
              <a:t>Tunned Adaboost Classifier</a:t>
            </a:r>
            <a:endParaRPr lang="en-US">
              <a:solidFill>
                <a:schemeClr val="tx2"/>
              </a:solidFill>
            </a:endParaRPr>
          </a:p>
        </p:txBody>
      </p:sp>
      <p:sp>
        <p:nvSpPr>
          <p:cNvPr id="9" name="Content Placeholder 8">
            <a:extLst>
              <a:ext uri="{FF2B5EF4-FFF2-40B4-BE49-F238E27FC236}">
                <a16:creationId xmlns:a16="http://schemas.microsoft.com/office/drawing/2014/main" id="{64A202D1-7D5A-4377-D1E6-0C787E9411DD}"/>
              </a:ext>
            </a:extLst>
          </p:cNvPr>
          <p:cNvSpPr>
            <a:spLocks noGrp="1"/>
          </p:cNvSpPr>
          <p:nvPr>
            <p:ph idx="1"/>
          </p:nvPr>
        </p:nvSpPr>
        <p:spPr>
          <a:xfrm>
            <a:off x="457200" y="3264832"/>
            <a:ext cx="6159160" cy="3009494"/>
          </a:xfrm>
        </p:spPr>
        <p:txBody>
          <a:bodyPr vert="horz" lIns="91440" tIns="45720" rIns="91440" bIns="45720" rtlCol="0" anchor="t">
            <a:normAutofit/>
          </a:bodyPr>
          <a:lstStyle/>
          <a:p>
            <a:r>
              <a:rPr lang="en-US" sz="1800">
                <a:solidFill>
                  <a:schemeClr val="tx2"/>
                </a:solidFill>
                <a:ea typeface="+mn-lt"/>
                <a:cs typeface="+mn-lt"/>
              </a:rPr>
              <a:t> The best AdaBoost  has an accuracy of 87% on the training set and 82% on the test set, with a precision of 84% for the majority class and 64% for the minority class on the test set</a:t>
            </a:r>
            <a:endParaRPr lang="en-US" sz="1800">
              <a:solidFill>
                <a:schemeClr val="tx2"/>
              </a:solidFill>
            </a:endParaRPr>
          </a:p>
        </p:txBody>
      </p:sp>
      <p:pic>
        <p:nvPicPr>
          <p:cNvPr id="5" name="Picture 5" descr="Table&#10;&#10;Description automatically generated">
            <a:extLst>
              <a:ext uri="{FF2B5EF4-FFF2-40B4-BE49-F238E27FC236}">
                <a16:creationId xmlns:a16="http://schemas.microsoft.com/office/drawing/2014/main" id="{3394317C-3897-FD6E-5D19-6E01E108DE66}"/>
              </a:ext>
            </a:extLst>
          </p:cNvPr>
          <p:cNvPicPr>
            <a:picLocks noChangeAspect="1"/>
          </p:cNvPicPr>
          <p:nvPr/>
        </p:nvPicPr>
        <p:blipFill>
          <a:blip r:embed="rId2"/>
          <a:stretch>
            <a:fillRect/>
          </a:stretch>
        </p:blipFill>
        <p:spPr>
          <a:xfrm>
            <a:off x="6696384" y="1855103"/>
            <a:ext cx="5296746" cy="1850735"/>
          </a:xfrm>
          <a:prstGeom prst="rect">
            <a:avLst/>
          </a:prstGeom>
        </p:spPr>
      </p:pic>
      <p:pic>
        <p:nvPicPr>
          <p:cNvPr id="4" name="Picture 4" descr="Table&#10;&#10;Description automatically generated">
            <a:extLst>
              <a:ext uri="{FF2B5EF4-FFF2-40B4-BE49-F238E27FC236}">
                <a16:creationId xmlns:a16="http://schemas.microsoft.com/office/drawing/2014/main" id="{9DC595E3-068D-A543-1031-C43A6CC7D5A4}"/>
              </a:ext>
            </a:extLst>
          </p:cNvPr>
          <p:cNvPicPr>
            <a:picLocks noChangeAspect="1"/>
          </p:cNvPicPr>
          <p:nvPr/>
        </p:nvPicPr>
        <p:blipFill>
          <a:blip r:embed="rId3"/>
          <a:stretch>
            <a:fillRect/>
          </a:stretch>
        </p:blipFill>
        <p:spPr>
          <a:xfrm>
            <a:off x="6696385" y="3716424"/>
            <a:ext cx="5296746" cy="2025477"/>
          </a:xfrm>
          <a:prstGeom prst="rect">
            <a:avLst/>
          </a:prstGeom>
        </p:spPr>
      </p:pic>
    </p:spTree>
    <p:extLst>
      <p:ext uri="{BB962C8B-B14F-4D97-AF65-F5344CB8AC3E}">
        <p14:creationId xmlns:p14="http://schemas.microsoft.com/office/powerpoint/2010/main" val="1057389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2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9" name="Rectangle 29">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0" name="Right Triangle 3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6" name="Group 3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37" name="Straight Connector 3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6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6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3" name="Title 22">
            <a:extLst>
              <a:ext uri="{FF2B5EF4-FFF2-40B4-BE49-F238E27FC236}">
                <a16:creationId xmlns:a16="http://schemas.microsoft.com/office/drawing/2014/main" id="{3B1F041D-D586-C247-41DA-94E4F3E653CC}"/>
              </a:ext>
            </a:extLst>
          </p:cNvPr>
          <p:cNvSpPr>
            <a:spLocks noGrp="1"/>
          </p:cNvSpPr>
          <p:nvPr>
            <p:ph type="title"/>
          </p:nvPr>
        </p:nvSpPr>
        <p:spPr>
          <a:xfrm>
            <a:off x="457200" y="732349"/>
            <a:ext cx="5930695" cy="606156"/>
          </a:xfrm>
        </p:spPr>
        <p:txBody>
          <a:bodyPr>
            <a:normAutofit fontScale="90000"/>
          </a:bodyPr>
          <a:lstStyle/>
          <a:p>
            <a:r>
              <a:rPr lang="en-US">
                <a:solidFill>
                  <a:schemeClr val="tx2"/>
                </a:solidFill>
              </a:rPr>
              <a:t>K-Nearest Neighbors</a:t>
            </a:r>
          </a:p>
        </p:txBody>
      </p:sp>
      <p:sp>
        <p:nvSpPr>
          <p:cNvPr id="3" name="Content Placeholder 2">
            <a:extLst>
              <a:ext uri="{FF2B5EF4-FFF2-40B4-BE49-F238E27FC236}">
                <a16:creationId xmlns:a16="http://schemas.microsoft.com/office/drawing/2014/main" id="{86CC47D8-17C4-AC6D-2490-49D509E11593}"/>
              </a:ext>
            </a:extLst>
          </p:cNvPr>
          <p:cNvSpPr>
            <a:spLocks noGrp="1"/>
          </p:cNvSpPr>
          <p:nvPr>
            <p:ph idx="1"/>
          </p:nvPr>
        </p:nvSpPr>
        <p:spPr>
          <a:xfrm>
            <a:off x="257985" y="1839846"/>
            <a:ext cx="5632586" cy="4408554"/>
          </a:xfrm>
        </p:spPr>
        <p:txBody>
          <a:bodyPr>
            <a:normAutofit/>
          </a:bodyPr>
          <a:lstStyle/>
          <a:p>
            <a:pPr>
              <a:lnSpc>
                <a:spcPct val="100000"/>
              </a:lnSpc>
            </a:pPr>
            <a:r>
              <a:rPr lang="en-US" sz="2000" b="0" i="0">
                <a:solidFill>
                  <a:schemeClr val="tx2"/>
                </a:solidFill>
                <a:effectLst/>
                <a:latin typeface="Söhne"/>
              </a:rPr>
              <a:t>The output shows that the k-NN model has achieved a </a:t>
            </a:r>
            <a:r>
              <a:rPr lang="en-US" sz="2000">
                <a:solidFill>
                  <a:schemeClr val="tx2"/>
                </a:solidFill>
                <a:latin typeface="Söhne"/>
              </a:rPr>
              <a:t>good </a:t>
            </a:r>
            <a:r>
              <a:rPr lang="en-US" sz="2000" b="0" i="0">
                <a:solidFill>
                  <a:schemeClr val="tx2"/>
                </a:solidFill>
                <a:effectLst/>
                <a:latin typeface="Söhne"/>
              </a:rPr>
              <a:t>accuracy score of 0.84  on the training dataset, indicating that it has learned the patterns in the data well. However, on the testing dataset, the model has an accuracy score of 0.78, </a:t>
            </a:r>
            <a:r>
              <a:rPr lang="en-US" sz="2000">
                <a:solidFill>
                  <a:schemeClr val="tx2"/>
                </a:solidFill>
                <a:latin typeface="Söhne"/>
              </a:rPr>
              <a:t>It also </a:t>
            </a:r>
            <a:r>
              <a:rPr lang="en-US" sz="2000" b="0" i="0">
                <a:solidFill>
                  <a:schemeClr val="tx2"/>
                </a:solidFill>
                <a:effectLst/>
                <a:latin typeface="Söhne"/>
              </a:rPr>
              <a:t>shows that the model has correctly predicted all instances of the majority class (0), But has failed to predict any instances of the minority class (1). This suggests that the model may be overfitting to the majority class, and further hyperparameter tuning may be needed to improve the model's performance.</a:t>
            </a:r>
          </a:p>
        </p:txBody>
      </p:sp>
      <p:sp>
        <p:nvSpPr>
          <p:cNvPr id="4" name="AutoShape 2" descr="smote">
            <a:extLst>
              <a:ext uri="{FF2B5EF4-FFF2-40B4-BE49-F238E27FC236}">
                <a16:creationId xmlns:a16="http://schemas.microsoft.com/office/drawing/2014/main" id="{3FA97575-19FB-EDFA-C960-DD628FDCEFDA}"/>
              </a:ext>
            </a:extLst>
          </p:cNvPr>
          <p:cNvSpPr>
            <a:spLocks noChangeAspect="1" noChangeArrowheads="1"/>
          </p:cNvSpPr>
          <p:nvPr/>
        </p:nvSpPr>
        <p:spPr bwMode="auto">
          <a:xfrm>
            <a:off x="6087439" y="417045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smote">
            <a:extLst>
              <a:ext uri="{FF2B5EF4-FFF2-40B4-BE49-F238E27FC236}">
                <a16:creationId xmlns:a16="http://schemas.microsoft.com/office/drawing/2014/main" id="{51A79D71-8D77-B0B5-7939-4338E4340896}"/>
              </a:ext>
            </a:extLst>
          </p:cNvPr>
          <p:cNvSpPr>
            <a:spLocks noChangeAspect="1" noChangeArrowheads="1"/>
          </p:cNvSpPr>
          <p:nvPr/>
        </p:nvSpPr>
        <p:spPr bwMode="auto">
          <a:xfrm>
            <a:off x="6239839" y="432285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smote">
            <a:extLst>
              <a:ext uri="{FF2B5EF4-FFF2-40B4-BE49-F238E27FC236}">
                <a16:creationId xmlns:a16="http://schemas.microsoft.com/office/drawing/2014/main" id="{725294D9-0927-AB56-4767-67BA85B05B59}"/>
              </a:ext>
            </a:extLst>
          </p:cNvPr>
          <p:cNvSpPr>
            <a:spLocks noChangeAspect="1" noChangeArrowheads="1"/>
          </p:cNvSpPr>
          <p:nvPr/>
        </p:nvSpPr>
        <p:spPr bwMode="auto">
          <a:xfrm>
            <a:off x="6392239" y="447525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10" descr="smote">
            <a:extLst>
              <a:ext uri="{FF2B5EF4-FFF2-40B4-BE49-F238E27FC236}">
                <a16:creationId xmlns:a16="http://schemas.microsoft.com/office/drawing/2014/main" id="{5C111819-284A-F427-5BC8-CE0766C6243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2" name="Picture 81" descr="A picture containing text, screenshot, font, number">
            <a:extLst>
              <a:ext uri="{FF2B5EF4-FFF2-40B4-BE49-F238E27FC236}">
                <a16:creationId xmlns:a16="http://schemas.microsoft.com/office/drawing/2014/main" id="{BD530602-AB59-B526-4588-9159CAD596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6421" y="1723344"/>
            <a:ext cx="5838825" cy="4181475"/>
          </a:xfrm>
          <a:prstGeom prst="rect">
            <a:avLst/>
          </a:prstGeom>
        </p:spPr>
      </p:pic>
    </p:spTree>
    <p:extLst>
      <p:ext uri="{BB962C8B-B14F-4D97-AF65-F5344CB8AC3E}">
        <p14:creationId xmlns:p14="http://schemas.microsoft.com/office/powerpoint/2010/main" val="433142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1" name="Rectangle 14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2" name="Rectangle 143">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3" name="Right Triangle 145">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Flowchart: Document 147">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94907"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85" name="Group 149">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51" name="Straight Connector 150">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4BD28F4-7372-F89F-CA0A-98954B6D4B5B}"/>
              </a:ext>
            </a:extLst>
          </p:cNvPr>
          <p:cNvSpPr>
            <a:spLocks noGrp="1"/>
          </p:cNvSpPr>
          <p:nvPr>
            <p:ph type="title"/>
          </p:nvPr>
        </p:nvSpPr>
        <p:spPr>
          <a:xfrm>
            <a:off x="457199" y="732348"/>
            <a:ext cx="7730833" cy="1230247"/>
          </a:xfrm>
        </p:spPr>
        <p:txBody>
          <a:bodyPr>
            <a:normAutofit/>
          </a:bodyPr>
          <a:lstStyle/>
          <a:p>
            <a:r>
              <a:rPr lang="en-US">
                <a:solidFill>
                  <a:schemeClr val="tx2"/>
                </a:solidFill>
              </a:rPr>
              <a:t>After Hyperparameter tuning</a:t>
            </a:r>
          </a:p>
        </p:txBody>
      </p:sp>
      <p:sp>
        <p:nvSpPr>
          <p:cNvPr id="3" name="Content Placeholder 2">
            <a:extLst>
              <a:ext uri="{FF2B5EF4-FFF2-40B4-BE49-F238E27FC236}">
                <a16:creationId xmlns:a16="http://schemas.microsoft.com/office/drawing/2014/main" id="{B94AA78C-7E9A-01B9-4F0E-C926CFDBEA41}"/>
              </a:ext>
            </a:extLst>
          </p:cNvPr>
          <p:cNvSpPr>
            <a:spLocks noGrp="1"/>
          </p:cNvSpPr>
          <p:nvPr>
            <p:ph idx="1"/>
          </p:nvPr>
        </p:nvSpPr>
        <p:spPr>
          <a:xfrm>
            <a:off x="457200" y="2274847"/>
            <a:ext cx="6159160" cy="3970109"/>
          </a:xfrm>
        </p:spPr>
        <p:txBody>
          <a:bodyPr>
            <a:normAutofit/>
          </a:bodyPr>
          <a:lstStyle/>
          <a:p>
            <a:pPr>
              <a:lnSpc>
                <a:spcPct val="100000"/>
              </a:lnSpc>
            </a:pPr>
            <a:r>
              <a:rPr lang="en-US" sz="1800" b="0" i="0">
                <a:solidFill>
                  <a:schemeClr val="tx2"/>
                </a:solidFill>
                <a:effectLst/>
                <a:latin typeface="Söhne"/>
              </a:rPr>
              <a:t>After performing hyperparameter tuning using grid search, the output shows the performance metrics for both the training and testing data</a:t>
            </a:r>
          </a:p>
          <a:p>
            <a:pPr>
              <a:lnSpc>
                <a:spcPct val="100000"/>
              </a:lnSpc>
            </a:pPr>
            <a:r>
              <a:rPr lang="en-US" sz="1800" b="0" i="0">
                <a:solidFill>
                  <a:schemeClr val="tx2"/>
                </a:solidFill>
                <a:effectLst/>
                <a:latin typeface="Söhne"/>
              </a:rPr>
              <a:t>In this case, the training data shows perfect classification performance with 100% precision, recall, and F1-score for both classes. However, the testing data shows lower performance with an accuracy score of 68%. The precision, recall, and F1-score for class 0 are relatively good with values of 0.85, 0.71, and 0.77, respectively. However, the performance is poorer for class 1, with values of 0.35, 0.56, and 0.43 for precision, recall, and F1-score, respectively.</a:t>
            </a:r>
          </a:p>
        </p:txBody>
      </p:sp>
      <p:pic>
        <p:nvPicPr>
          <p:cNvPr id="5" name="Picture 4" descr="A picture containing text, screenshot, font, number">
            <a:extLst>
              <a:ext uri="{FF2B5EF4-FFF2-40B4-BE49-F238E27FC236}">
                <a16:creationId xmlns:a16="http://schemas.microsoft.com/office/drawing/2014/main" id="{759DD5D6-5DB6-7993-5D60-326E70FAF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9869" y="2274847"/>
            <a:ext cx="5009616" cy="3594399"/>
          </a:xfrm>
          <a:prstGeom prst="rect">
            <a:avLst/>
          </a:prstGeom>
        </p:spPr>
      </p:pic>
    </p:spTree>
    <p:extLst>
      <p:ext uri="{BB962C8B-B14F-4D97-AF65-F5344CB8AC3E}">
        <p14:creationId xmlns:p14="http://schemas.microsoft.com/office/powerpoint/2010/main" val="3561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4" name="Group 13">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Freeform: Shape 44">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7" name="Freeform: Shape 46">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9" name="Rectangle 48">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1" name="Group 50">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2" name="Straight Connector 51">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2" name="Freeform: Shape 81">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4" name="Group 83">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5" name="Straight Connector 84">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5" name="Rectangle 114">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7" name="Rectangle 116">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9" name="Right Triangle 118">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3" name="Group 122">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24" name="Straight Connector 123">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56448BD-94B5-D6A8-09D2-32273AFF38A5}"/>
              </a:ext>
            </a:extLst>
          </p:cNvPr>
          <p:cNvSpPr>
            <a:spLocks noGrp="1"/>
          </p:cNvSpPr>
          <p:nvPr>
            <p:ph type="title"/>
          </p:nvPr>
        </p:nvSpPr>
        <p:spPr>
          <a:xfrm>
            <a:off x="457201" y="732348"/>
            <a:ext cx="4419600" cy="2240735"/>
          </a:xfrm>
        </p:spPr>
        <p:txBody>
          <a:bodyPr vert="horz" lIns="91440" tIns="45720" rIns="91440" bIns="45720" rtlCol="0" anchor="ctr">
            <a:normAutofit/>
          </a:bodyPr>
          <a:lstStyle/>
          <a:p>
            <a:r>
              <a:rPr lang="en-US">
                <a:solidFill>
                  <a:schemeClr val="tx2"/>
                </a:solidFill>
              </a:rPr>
              <a:t>Random Forest Classifier</a:t>
            </a:r>
            <a:br>
              <a:rPr lang="en-US">
                <a:solidFill>
                  <a:schemeClr val="tx2"/>
                </a:solidFill>
              </a:rPr>
            </a:br>
            <a:endParaRPr lang="en-US">
              <a:solidFill>
                <a:schemeClr val="tx2"/>
              </a:solidFill>
            </a:endParaRPr>
          </a:p>
        </p:txBody>
      </p:sp>
      <p:sp>
        <p:nvSpPr>
          <p:cNvPr id="4" name="Content Placeholder 3">
            <a:extLst>
              <a:ext uri="{FF2B5EF4-FFF2-40B4-BE49-F238E27FC236}">
                <a16:creationId xmlns:a16="http://schemas.microsoft.com/office/drawing/2014/main" id="{A5213910-B33E-EA34-DE6D-647957A8A0C0}"/>
              </a:ext>
            </a:extLst>
          </p:cNvPr>
          <p:cNvSpPr>
            <a:spLocks noGrp="1"/>
          </p:cNvSpPr>
          <p:nvPr>
            <p:ph sz="half" idx="1"/>
          </p:nvPr>
        </p:nvSpPr>
        <p:spPr>
          <a:xfrm>
            <a:off x="435115" y="2480745"/>
            <a:ext cx="4441686" cy="3292785"/>
          </a:xfrm>
        </p:spPr>
        <p:txBody>
          <a:bodyPr vert="horz" lIns="91440" tIns="45720" rIns="91440" bIns="45720" rtlCol="0">
            <a:normAutofit/>
          </a:bodyPr>
          <a:lstStyle/>
          <a:p>
            <a:pPr>
              <a:lnSpc>
                <a:spcPct val="100000"/>
              </a:lnSpc>
              <a:buFont typeface="+mj-lt"/>
              <a:buAutoNum type="arabicPeriod"/>
            </a:pPr>
            <a:r>
              <a:rPr lang="en-US" sz="1500">
                <a:solidFill>
                  <a:schemeClr val="tx2"/>
                </a:solidFill>
              </a:rPr>
              <a:t>The Random Forest Classifier model has an accuracy of 81% on the test data and 100% on the training data. However, the model performs better at predicting the majority class (0) than the minority class (1), as indicated by the lower precision, recall, and F1-score values for the minority class in the test classification report.</a:t>
            </a:r>
          </a:p>
          <a:p>
            <a:pPr>
              <a:lnSpc>
                <a:spcPct val="100000"/>
              </a:lnSpc>
              <a:buFont typeface="+mj-lt"/>
              <a:buAutoNum type="arabicPeriod"/>
            </a:pPr>
            <a:r>
              <a:rPr lang="en-US" sz="1500">
                <a:solidFill>
                  <a:schemeClr val="tx2"/>
                </a:solidFill>
              </a:rPr>
              <a:t>These metrics suggest that the model may be overfitting to the training data additional evaluation and fine-tuning may be needed to improve the performance of the model.</a:t>
            </a:r>
          </a:p>
          <a:p>
            <a:pPr>
              <a:lnSpc>
                <a:spcPct val="100000"/>
              </a:lnSpc>
              <a:buFont typeface="+mj-lt"/>
              <a:buAutoNum type="arabicPeriod"/>
            </a:pPr>
            <a:endParaRPr lang="en-US" sz="1500">
              <a:solidFill>
                <a:schemeClr val="tx2"/>
              </a:solidFill>
            </a:endParaRPr>
          </a:p>
        </p:txBody>
      </p:sp>
      <p:pic>
        <p:nvPicPr>
          <p:cNvPr id="7" name="Picture 7" descr="Table&#10;&#10;Description automatically generated">
            <a:extLst>
              <a:ext uri="{FF2B5EF4-FFF2-40B4-BE49-F238E27FC236}">
                <a16:creationId xmlns:a16="http://schemas.microsoft.com/office/drawing/2014/main" id="{97A1C434-E0D4-BA40-D85F-64625E0A29C1}"/>
              </a:ext>
            </a:extLst>
          </p:cNvPr>
          <p:cNvPicPr>
            <a:picLocks noGrp="1" noChangeAspect="1"/>
          </p:cNvPicPr>
          <p:nvPr>
            <p:ph sz="half" idx="2"/>
          </p:nvPr>
        </p:nvPicPr>
        <p:blipFill>
          <a:blip r:embed="rId2"/>
          <a:stretch>
            <a:fillRect/>
          </a:stretch>
        </p:blipFill>
        <p:spPr>
          <a:xfrm>
            <a:off x="5203767" y="1474473"/>
            <a:ext cx="6795701" cy="4057722"/>
          </a:xfrm>
          <a:prstGeom prst="rect">
            <a:avLst/>
          </a:prstGeom>
        </p:spPr>
      </p:pic>
    </p:spTree>
    <p:extLst>
      <p:ext uri="{BB962C8B-B14F-4D97-AF65-F5344CB8AC3E}">
        <p14:creationId xmlns:p14="http://schemas.microsoft.com/office/powerpoint/2010/main" val="2344633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Right Triangle 15">
            <a:extLst>
              <a:ext uri="{FF2B5EF4-FFF2-40B4-BE49-F238E27FC236}">
                <a16:creationId xmlns:a16="http://schemas.microsoft.com/office/drawing/2014/main" id="{81743148-CD08-47B2-BAA4-1406F152B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9892" y="-271110"/>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7930" y="1422741"/>
            <a:ext cx="568289" cy="568289"/>
          </a:xfrm>
          <a:prstGeom prst="rtTriangle">
            <a:avLst/>
          </a:prstGeom>
          <a:solidFill>
            <a:schemeClr val="bg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Document 19">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209208" y="1858597"/>
            <a:ext cx="6858000" cy="3140811"/>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2" name="Group 21">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3" name="Straight Connector 22">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6B2F106-35BE-B3A0-AC03-B70730389017}"/>
              </a:ext>
            </a:extLst>
          </p:cNvPr>
          <p:cNvSpPr>
            <a:spLocks noGrp="1"/>
          </p:cNvSpPr>
          <p:nvPr>
            <p:ph type="title"/>
          </p:nvPr>
        </p:nvSpPr>
        <p:spPr>
          <a:xfrm>
            <a:off x="457200" y="732348"/>
            <a:ext cx="6159160" cy="2240735"/>
          </a:xfrm>
        </p:spPr>
        <p:txBody>
          <a:bodyPr>
            <a:normAutofit/>
          </a:bodyPr>
          <a:lstStyle/>
          <a:p>
            <a:r>
              <a:rPr lang="en-US">
                <a:solidFill>
                  <a:schemeClr val="tx2"/>
                </a:solidFill>
                <a:cs typeface="Posterama"/>
              </a:rPr>
              <a:t>Tunned RandomForest Classifier</a:t>
            </a:r>
            <a:endParaRPr lang="en-US">
              <a:solidFill>
                <a:schemeClr val="tx2"/>
              </a:solidFill>
            </a:endParaRPr>
          </a:p>
        </p:txBody>
      </p:sp>
      <p:sp>
        <p:nvSpPr>
          <p:cNvPr id="9" name="Content Placeholder 8">
            <a:extLst>
              <a:ext uri="{FF2B5EF4-FFF2-40B4-BE49-F238E27FC236}">
                <a16:creationId xmlns:a16="http://schemas.microsoft.com/office/drawing/2014/main" id="{C638CFDA-CE67-CA86-F02D-A85EC0D86653}"/>
              </a:ext>
            </a:extLst>
          </p:cNvPr>
          <p:cNvSpPr>
            <a:spLocks noGrp="1"/>
          </p:cNvSpPr>
          <p:nvPr>
            <p:ph idx="1"/>
          </p:nvPr>
        </p:nvSpPr>
        <p:spPr>
          <a:xfrm>
            <a:off x="457200" y="3264832"/>
            <a:ext cx="6159160" cy="3009494"/>
          </a:xfrm>
        </p:spPr>
        <p:txBody>
          <a:bodyPr vert="horz" lIns="91440" tIns="45720" rIns="91440" bIns="45720" rtlCol="0" anchor="t">
            <a:normAutofit/>
          </a:bodyPr>
          <a:lstStyle/>
          <a:p>
            <a:r>
              <a:rPr lang="en-US" sz="1800">
                <a:solidFill>
                  <a:srgbClr val="374151"/>
                </a:solidFill>
                <a:ea typeface="+mn-lt"/>
                <a:cs typeface="+mn-lt"/>
              </a:rPr>
              <a:t>The tuned random forest classifier achieved an accuracy of 0.81 on the test set and 1.00 on the training set. The precision, recall and F1-score for the test set were 0.85, 0.92 and 0.88 for the majority class (0) and 0.59, 0.42 and 0.49 for the minority class (1).</a:t>
            </a:r>
            <a:endParaRPr lang="en-US" sz="1800">
              <a:solidFill>
                <a:schemeClr val="tx2"/>
              </a:solidFill>
            </a:endParaRPr>
          </a:p>
        </p:txBody>
      </p:sp>
      <p:pic>
        <p:nvPicPr>
          <p:cNvPr id="4" name="Picture 4" descr="Table&#10;&#10;Description automatically generated">
            <a:extLst>
              <a:ext uri="{FF2B5EF4-FFF2-40B4-BE49-F238E27FC236}">
                <a16:creationId xmlns:a16="http://schemas.microsoft.com/office/drawing/2014/main" id="{E31B1F2C-5888-9A1D-61AA-3C3BF291D773}"/>
              </a:ext>
            </a:extLst>
          </p:cNvPr>
          <p:cNvPicPr>
            <a:picLocks noChangeAspect="1"/>
          </p:cNvPicPr>
          <p:nvPr/>
        </p:nvPicPr>
        <p:blipFill>
          <a:blip r:embed="rId2"/>
          <a:stretch>
            <a:fillRect/>
          </a:stretch>
        </p:blipFill>
        <p:spPr>
          <a:xfrm>
            <a:off x="6619079" y="1853888"/>
            <a:ext cx="5197355" cy="1708386"/>
          </a:xfrm>
          <a:prstGeom prst="rect">
            <a:avLst/>
          </a:prstGeom>
        </p:spPr>
      </p:pic>
      <p:pic>
        <p:nvPicPr>
          <p:cNvPr id="5" name="Picture 5" descr="Table&#10;&#10;Description automatically generated">
            <a:extLst>
              <a:ext uri="{FF2B5EF4-FFF2-40B4-BE49-F238E27FC236}">
                <a16:creationId xmlns:a16="http://schemas.microsoft.com/office/drawing/2014/main" id="{CA770B2E-C76B-8317-6B70-BD33418D3AA4}"/>
              </a:ext>
            </a:extLst>
          </p:cNvPr>
          <p:cNvPicPr>
            <a:picLocks noChangeAspect="1"/>
          </p:cNvPicPr>
          <p:nvPr/>
        </p:nvPicPr>
        <p:blipFill>
          <a:blip r:embed="rId3"/>
          <a:stretch>
            <a:fillRect/>
          </a:stretch>
        </p:blipFill>
        <p:spPr>
          <a:xfrm>
            <a:off x="6619079" y="3561815"/>
            <a:ext cx="5197357" cy="2066782"/>
          </a:xfrm>
          <a:prstGeom prst="rect">
            <a:avLst/>
          </a:prstGeom>
        </p:spPr>
      </p:pic>
    </p:spTree>
    <p:extLst>
      <p:ext uri="{BB962C8B-B14F-4D97-AF65-F5344CB8AC3E}">
        <p14:creationId xmlns:p14="http://schemas.microsoft.com/office/powerpoint/2010/main" val="550621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E0459D84-389E-8B18-F4FA-8B8AEE717D88}"/>
              </a:ext>
            </a:extLst>
          </p:cNvPr>
          <p:cNvSpPr>
            <a:spLocks noGrp="1"/>
          </p:cNvSpPr>
          <p:nvPr>
            <p:ph type="title"/>
          </p:nvPr>
        </p:nvSpPr>
        <p:spPr>
          <a:xfrm>
            <a:off x="457200" y="728906"/>
            <a:ext cx="10754527" cy="797757"/>
          </a:xfrm>
        </p:spPr>
        <p:txBody>
          <a:bodyPr anchor="b">
            <a:normAutofit/>
          </a:bodyPr>
          <a:lstStyle/>
          <a:p>
            <a:r>
              <a:rPr lang="en-US">
                <a:solidFill>
                  <a:schemeClr val="tx1"/>
                </a:solidFill>
                <a:cs typeface="Posterama"/>
              </a:rPr>
              <a:t>Gradient boosting:</a:t>
            </a:r>
            <a:endParaRPr lang="en-US">
              <a:solidFill>
                <a:schemeClr val="tx1"/>
              </a:solidFill>
            </a:endParaRPr>
          </a:p>
        </p:txBody>
      </p:sp>
      <p:sp>
        <p:nvSpPr>
          <p:cNvPr id="5" name="Content Placeholder 4">
            <a:extLst>
              <a:ext uri="{FF2B5EF4-FFF2-40B4-BE49-F238E27FC236}">
                <a16:creationId xmlns:a16="http://schemas.microsoft.com/office/drawing/2014/main" id="{BAD4FDD5-5A41-194E-E5FC-925BD6FCB98D}"/>
              </a:ext>
            </a:extLst>
          </p:cNvPr>
          <p:cNvSpPr>
            <a:spLocks noGrp="1"/>
          </p:cNvSpPr>
          <p:nvPr>
            <p:ph idx="1"/>
          </p:nvPr>
        </p:nvSpPr>
        <p:spPr>
          <a:xfrm>
            <a:off x="457201" y="2015003"/>
            <a:ext cx="9745506" cy="3795516"/>
          </a:xfrm>
        </p:spPr>
        <p:txBody>
          <a:bodyPr anchor="t">
            <a:noAutofit/>
          </a:bodyPr>
          <a:lstStyle/>
          <a:p>
            <a:r>
              <a:rPr lang="en-US" sz="2000">
                <a:solidFill>
                  <a:schemeClr val="tx1"/>
                </a:solidFill>
                <a:ea typeface="+mn-lt"/>
                <a:cs typeface="+mn-lt"/>
              </a:rPr>
              <a:t>Gradient Boosting is an ensemble method for both regression and classification problems.</a:t>
            </a:r>
          </a:p>
          <a:p>
            <a:r>
              <a:rPr lang="en-US" sz="2000">
                <a:solidFill>
                  <a:schemeClr val="tx1"/>
                </a:solidFill>
                <a:ea typeface="+mn-lt"/>
                <a:cs typeface="+mn-lt"/>
              </a:rPr>
              <a:t>It optimizes a differentiable loss function while building an additive model in a forward stage-by-stage fashion.</a:t>
            </a:r>
            <a:endParaRPr lang="en-US" sz="2000">
              <a:solidFill>
                <a:schemeClr val="tx1"/>
              </a:solidFill>
            </a:endParaRPr>
          </a:p>
          <a:p>
            <a:r>
              <a:rPr lang="en-US" sz="2000">
                <a:solidFill>
                  <a:schemeClr val="tx1"/>
                </a:solidFill>
                <a:ea typeface="+mn-lt"/>
                <a:cs typeface="+mn-lt"/>
              </a:rPr>
              <a:t>Decision trees are used as weak learners in gradient boosting, and each new tree is trained using the residuals from the preceding ensemble.</a:t>
            </a:r>
            <a:endParaRPr lang="en-US" sz="2000">
              <a:solidFill>
                <a:schemeClr val="tx1"/>
              </a:solidFill>
            </a:endParaRPr>
          </a:p>
          <a:p>
            <a:r>
              <a:rPr lang="en-US" sz="2000">
                <a:solidFill>
                  <a:schemeClr val="tx1"/>
                </a:solidFill>
                <a:ea typeface="+mn-lt"/>
                <a:cs typeface="+mn-lt"/>
              </a:rPr>
              <a:t>In addition to allowing for hyperparameter customization, it can manage missing data and outliers.</a:t>
            </a:r>
            <a:endParaRPr lang="en-US" sz="2000">
              <a:solidFill>
                <a:schemeClr val="tx1"/>
              </a:solidFill>
            </a:endParaRPr>
          </a:p>
          <a:p>
            <a:r>
              <a:rPr lang="en-US" sz="2000">
                <a:solidFill>
                  <a:schemeClr val="tx1"/>
                </a:solidFill>
                <a:ea typeface="+mn-lt"/>
                <a:cs typeface="+mn-lt"/>
              </a:rPr>
              <a:t>A well-known method in the data science community, gradient boosting has been demonstrated to work effectively on a variety of machine learning problems.</a:t>
            </a:r>
            <a:endParaRPr lang="en-US" sz="2000">
              <a:solidFill>
                <a:schemeClr val="tx1"/>
              </a:solidFill>
            </a:endParaRPr>
          </a:p>
        </p:txBody>
      </p:sp>
    </p:spTree>
    <p:extLst>
      <p:ext uri="{BB962C8B-B14F-4D97-AF65-F5344CB8AC3E}">
        <p14:creationId xmlns:p14="http://schemas.microsoft.com/office/powerpoint/2010/main" val="242427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ectangle 10">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6" name="Right Triangle 12">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Document 14">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94907"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8" name="Group 16">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8" name="Straight Connector 17">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9FB5A29-2015-FE65-9AC9-150962C1F624}"/>
              </a:ext>
            </a:extLst>
          </p:cNvPr>
          <p:cNvSpPr>
            <a:spLocks noGrp="1"/>
          </p:cNvSpPr>
          <p:nvPr>
            <p:ph type="title"/>
          </p:nvPr>
        </p:nvSpPr>
        <p:spPr>
          <a:xfrm>
            <a:off x="600765" y="136000"/>
            <a:ext cx="6159160" cy="2240735"/>
          </a:xfrm>
        </p:spPr>
        <p:txBody>
          <a:bodyPr>
            <a:normAutofit/>
          </a:bodyPr>
          <a:lstStyle/>
          <a:p>
            <a:r>
              <a:rPr lang="en-US">
                <a:solidFill>
                  <a:schemeClr val="tx2"/>
                </a:solidFill>
                <a:ea typeface="+mj-lt"/>
                <a:cs typeface="+mj-lt"/>
              </a:rPr>
              <a:t>Gradient boosting :</a:t>
            </a:r>
            <a:endParaRPr lang="en-US">
              <a:solidFill>
                <a:schemeClr val="tx2"/>
              </a:solidFill>
            </a:endParaRPr>
          </a:p>
        </p:txBody>
      </p:sp>
      <p:sp>
        <p:nvSpPr>
          <p:cNvPr id="3" name="Content Placeholder 2">
            <a:extLst>
              <a:ext uri="{FF2B5EF4-FFF2-40B4-BE49-F238E27FC236}">
                <a16:creationId xmlns:a16="http://schemas.microsoft.com/office/drawing/2014/main" id="{25F004B5-D074-82D2-4C5A-53AEE1F51625}"/>
              </a:ext>
            </a:extLst>
          </p:cNvPr>
          <p:cNvSpPr>
            <a:spLocks noGrp="1"/>
          </p:cNvSpPr>
          <p:nvPr>
            <p:ph idx="1"/>
          </p:nvPr>
        </p:nvSpPr>
        <p:spPr>
          <a:xfrm>
            <a:off x="379896" y="1765012"/>
            <a:ext cx="6159160" cy="3728987"/>
          </a:xfrm>
        </p:spPr>
        <p:txBody>
          <a:bodyPr vert="horz" lIns="91440" tIns="45720" rIns="91440" bIns="45720" rtlCol="0" anchor="t">
            <a:noAutofit/>
          </a:bodyPr>
          <a:lstStyle/>
          <a:p>
            <a:pPr algn="just">
              <a:lnSpc>
                <a:spcPct val="100000"/>
              </a:lnSpc>
              <a:spcBef>
                <a:spcPts val="0"/>
              </a:spcBef>
            </a:pPr>
            <a:r>
              <a:rPr lang="en-US" sz="2000">
                <a:solidFill>
                  <a:srgbClr val="374151"/>
                </a:solidFill>
                <a:ea typeface="+mn-lt"/>
                <a:cs typeface="+mn-lt"/>
              </a:rPr>
              <a:t>The classification report provides information on the model's performance on the test set. The model achieved an accuracy of 82%, with a precision of 0.66 and a recall of 0.37 for predicting the positive class (default payment). The F1-score for the positive class is 0.47, indicating room for improvement. The model's overall performance is decent, but there is potential for improvement through hyperparameter tuning or exploring other algorithms.</a:t>
            </a:r>
            <a:endParaRPr lang="en-US"/>
          </a:p>
        </p:txBody>
      </p:sp>
      <p:pic>
        <p:nvPicPr>
          <p:cNvPr id="4" name="Picture 4" descr="Table&#10;&#10;Description automatically generated">
            <a:extLst>
              <a:ext uri="{FF2B5EF4-FFF2-40B4-BE49-F238E27FC236}">
                <a16:creationId xmlns:a16="http://schemas.microsoft.com/office/drawing/2014/main" id="{BF2F96BD-0B4E-4901-ABB1-EA415B7BC9BE}"/>
              </a:ext>
            </a:extLst>
          </p:cNvPr>
          <p:cNvPicPr>
            <a:picLocks noChangeAspect="1"/>
          </p:cNvPicPr>
          <p:nvPr/>
        </p:nvPicPr>
        <p:blipFill>
          <a:blip r:embed="rId2"/>
          <a:stretch>
            <a:fillRect/>
          </a:stretch>
        </p:blipFill>
        <p:spPr>
          <a:xfrm>
            <a:off x="7193721" y="94763"/>
            <a:ext cx="5009616" cy="3334374"/>
          </a:xfrm>
          <a:prstGeom prst="rect">
            <a:avLst/>
          </a:prstGeom>
        </p:spPr>
      </p:pic>
      <p:pic>
        <p:nvPicPr>
          <p:cNvPr id="5" name="Picture 5" descr="Table&#10;&#10;Description automatically generated">
            <a:extLst>
              <a:ext uri="{FF2B5EF4-FFF2-40B4-BE49-F238E27FC236}">
                <a16:creationId xmlns:a16="http://schemas.microsoft.com/office/drawing/2014/main" id="{A10387A9-F9C8-9EB1-C7EA-74BDA3D36E22}"/>
              </a:ext>
            </a:extLst>
          </p:cNvPr>
          <p:cNvPicPr>
            <a:picLocks noChangeAspect="1"/>
          </p:cNvPicPr>
          <p:nvPr/>
        </p:nvPicPr>
        <p:blipFill>
          <a:blip r:embed="rId3"/>
          <a:stretch>
            <a:fillRect/>
          </a:stretch>
        </p:blipFill>
        <p:spPr>
          <a:xfrm>
            <a:off x="7194332" y="3719417"/>
            <a:ext cx="4753302" cy="2664235"/>
          </a:xfrm>
          <a:prstGeom prst="rect">
            <a:avLst/>
          </a:prstGeom>
        </p:spPr>
      </p:pic>
    </p:spTree>
    <p:extLst>
      <p:ext uri="{BB962C8B-B14F-4D97-AF65-F5344CB8AC3E}">
        <p14:creationId xmlns:p14="http://schemas.microsoft.com/office/powerpoint/2010/main" val="77200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6" name="Rectangle 10">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7" name="Right Triangle 12">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9" name="Group 16">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8" name="Straight Connector 17">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45">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EE7E62-E645-6EA7-F71A-B6512934CFD6}"/>
              </a:ext>
            </a:extLst>
          </p:cNvPr>
          <p:cNvSpPr>
            <a:spLocks noGrp="1"/>
          </p:cNvSpPr>
          <p:nvPr>
            <p:ph type="title"/>
          </p:nvPr>
        </p:nvSpPr>
        <p:spPr>
          <a:xfrm>
            <a:off x="457201" y="708230"/>
            <a:ext cx="6740655" cy="939224"/>
          </a:xfrm>
        </p:spPr>
        <p:txBody>
          <a:bodyPr>
            <a:normAutofit fontScale="90000"/>
          </a:bodyPr>
          <a:lstStyle/>
          <a:p>
            <a:r>
              <a:rPr lang="en-US" sz="4100">
                <a:solidFill>
                  <a:schemeClr val="tx2"/>
                </a:solidFill>
                <a:cs typeface="Posterama"/>
              </a:rPr>
              <a:t>Gradient Boosting After hyperparameters tuning</a:t>
            </a:r>
            <a:endParaRPr lang="en-US" sz="4100">
              <a:solidFill>
                <a:schemeClr val="tx2"/>
              </a:solidFill>
            </a:endParaRPr>
          </a:p>
        </p:txBody>
      </p:sp>
      <p:sp>
        <p:nvSpPr>
          <p:cNvPr id="3" name="Content Placeholder 2">
            <a:extLst>
              <a:ext uri="{FF2B5EF4-FFF2-40B4-BE49-F238E27FC236}">
                <a16:creationId xmlns:a16="http://schemas.microsoft.com/office/drawing/2014/main" id="{957CE94D-0D7E-1119-590E-EC46FB804F7F}"/>
              </a:ext>
            </a:extLst>
          </p:cNvPr>
          <p:cNvSpPr>
            <a:spLocks noGrp="1"/>
          </p:cNvSpPr>
          <p:nvPr>
            <p:ph idx="1"/>
          </p:nvPr>
        </p:nvSpPr>
        <p:spPr>
          <a:xfrm>
            <a:off x="422566" y="1982271"/>
            <a:ext cx="4454235" cy="4600948"/>
          </a:xfrm>
        </p:spPr>
        <p:txBody>
          <a:bodyPr vert="horz" lIns="91440" tIns="45720" rIns="91440" bIns="45720" rtlCol="0" anchor="t">
            <a:noAutofit/>
          </a:bodyPr>
          <a:lstStyle/>
          <a:p>
            <a:pPr algn="just"/>
            <a:r>
              <a:rPr lang="en-US" sz="2000">
                <a:solidFill>
                  <a:srgbClr val="374151"/>
                </a:solidFill>
                <a:ea typeface="+mn-lt"/>
                <a:cs typeface="+mn-lt"/>
              </a:rPr>
              <a:t>The tuned gradient boosting model achieved good performance on both the validation and test sets, with high accuracy, precision, and recall. The F1 scores for the positive class and overall were also strong. Overall, the model appears to be an effective approach for predicting default payment.</a:t>
            </a:r>
            <a:endParaRPr lang="en-US" sz="2000">
              <a:ea typeface="+mn-lt"/>
              <a:cs typeface="+mn-lt"/>
            </a:endParaRPr>
          </a:p>
          <a:p>
            <a:pPr>
              <a:lnSpc>
                <a:spcPct val="100000"/>
              </a:lnSpc>
            </a:pPr>
            <a:endParaRPr lang="en-US" sz="1400">
              <a:solidFill>
                <a:schemeClr val="tx2"/>
              </a:solidFill>
            </a:endParaRPr>
          </a:p>
        </p:txBody>
      </p:sp>
      <p:pic>
        <p:nvPicPr>
          <p:cNvPr id="6" name="Picture 6" descr="Table&#10;&#10;Description automatically generated">
            <a:extLst>
              <a:ext uri="{FF2B5EF4-FFF2-40B4-BE49-F238E27FC236}">
                <a16:creationId xmlns:a16="http://schemas.microsoft.com/office/drawing/2014/main" id="{180B6183-7F01-6BCE-0201-58CEFEF6CE98}"/>
              </a:ext>
            </a:extLst>
          </p:cNvPr>
          <p:cNvPicPr>
            <a:picLocks noChangeAspect="1"/>
          </p:cNvPicPr>
          <p:nvPr/>
        </p:nvPicPr>
        <p:blipFill>
          <a:blip r:embed="rId2"/>
          <a:stretch>
            <a:fillRect/>
          </a:stretch>
        </p:blipFill>
        <p:spPr>
          <a:xfrm>
            <a:off x="5814849" y="1648565"/>
            <a:ext cx="5778061" cy="3994422"/>
          </a:xfrm>
          <a:prstGeom prst="rect">
            <a:avLst/>
          </a:prstGeom>
        </p:spPr>
      </p:pic>
    </p:spTree>
    <p:extLst>
      <p:ext uri="{BB962C8B-B14F-4D97-AF65-F5344CB8AC3E}">
        <p14:creationId xmlns:p14="http://schemas.microsoft.com/office/powerpoint/2010/main" val="2139357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1" name="Rectangle 16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2" name="Rectangle 163">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3" name="Right Triangle 165">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Flowchart: Document 167">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94907"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05" name="Group 169">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1" name="Straight Connector 170">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B471B75-817E-568B-A44F-FCB6C72FB9E9}"/>
              </a:ext>
            </a:extLst>
          </p:cNvPr>
          <p:cNvSpPr>
            <a:spLocks noGrp="1"/>
          </p:cNvSpPr>
          <p:nvPr>
            <p:ph type="title"/>
          </p:nvPr>
        </p:nvSpPr>
        <p:spPr>
          <a:xfrm>
            <a:off x="457200" y="732348"/>
            <a:ext cx="6159160" cy="2240735"/>
          </a:xfrm>
        </p:spPr>
        <p:txBody>
          <a:bodyPr>
            <a:normAutofit/>
          </a:bodyPr>
          <a:lstStyle/>
          <a:p>
            <a:r>
              <a:rPr lang="en-US">
                <a:solidFill>
                  <a:schemeClr val="tx2"/>
                </a:solidFill>
                <a:cs typeface="Posterama"/>
              </a:rPr>
              <a:t>XG BOOST ALGORITHM</a:t>
            </a:r>
            <a:endParaRPr lang="en-US">
              <a:solidFill>
                <a:schemeClr val="tx2"/>
              </a:solidFill>
            </a:endParaRPr>
          </a:p>
        </p:txBody>
      </p:sp>
      <p:sp>
        <p:nvSpPr>
          <p:cNvPr id="10" name="Content Placeholder 9">
            <a:extLst>
              <a:ext uri="{FF2B5EF4-FFF2-40B4-BE49-F238E27FC236}">
                <a16:creationId xmlns:a16="http://schemas.microsoft.com/office/drawing/2014/main" id="{548CB327-6F93-C898-A8EF-F409F93AFA7B}"/>
              </a:ext>
            </a:extLst>
          </p:cNvPr>
          <p:cNvSpPr>
            <a:spLocks noGrp="1"/>
          </p:cNvSpPr>
          <p:nvPr>
            <p:ph idx="1"/>
          </p:nvPr>
        </p:nvSpPr>
        <p:spPr>
          <a:xfrm>
            <a:off x="435114" y="2801006"/>
            <a:ext cx="6181246" cy="3443950"/>
          </a:xfrm>
        </p:spPr>
        <p:txBody>
          <a:bodyPr vert="horz" lIns="91440" tIns="45720" rIns="91440" bIns="45720" rtlCol="0" anchor="t">
            <a:normAutofit/>
          </a:bodyPr>
          <a:lstStyle/>
          <a:p>
            <a:r>
              <a:rPr lang="en-US" sz="1600">
                <a:solidFill>
                  <a:srgbClr val="374151"/>
                </a:solidFill>
                <a:ea typeface="+mn-lt"/>
                <a:cs typeface="+mn-lt"/>
              </a:rPr>
              <a:t>The XGBoost model achieved an accuracy of 80% on the training set and 78% on the test set, which is relatively high. The precision, recall, and F1-score for the minority class (class 1) were much lower than the majority class (class 0) in both training and test sets. This indicates that the model is better at predicting the majority class than the minority </a:t>
            </a:r>
            <a:r>
              <a:rPr lang="en-US" sz="1600" err="1">
                <a:solidFill>
                  <a:srgbClr val="374151"/>
                </a:solidFill>
                <a:ea typeface="+mn-lt"/>
                <a:cs typeface="+mn-lt"/>
              </a:rPr>
              <a:t>class.Overall</a:t>
            </a:r>
            <a:r>
              <a:rPr lang="en-US" sz="1600">
                <a:solidFill>
                  <a:srgbClr val="374151"/>
                </a:solidFill>
                <a:ea typeface="+mn-lt"/>
                <a:cs typeface="+mn-lt"/>
              </a:rPr>
              <a:t>, the XGBoost model performs similarly to the decision tree model, with a similar accuracy of 77%. </a:t>
            </a:r>
            <a:br>
              <a:rPr lang="en-US" sz="1600">
                <a:ea typeface="+mn-lt"/>
                <a:cs typeface="+mn-lt"/>
              </a:rPr>
            </a:br>
            <a:endParaRPr lang="en-US" sz="1600">
              <a:solidFill>
                <a:srgbClr val="374151"/>
              </a:solidFill>
            </a:endParaRPr>
          </a:p>
        </p:txBody>
      </p:sp>
      <p:pic>
        <p:nvPicPr>
          <p:cNvPr id="5" name="Picture 5">
            <a:extLst>
              <a:ext uri="{FF2B5EF4-FFF2-40B4-BE49-F238E27FC236}">
                <a16:creationId xmlns:a16="http://schemas.microsoft.com/office/drawing/2014/main" id="{73B8D551-EEC7-DC5F-F651-C928FB09A9DA}"/>
              </a:ext>
            </a:extLst>
          </p:cNvPr>
          <p:cNvPicPr>
            <a:picLocks noChangeAspect="1"/>
          </p:cNvPicPr>
          <p:nvPr/>
        </p:nvPicPr>
        <p:blipFill>
          <a:blip r:embed="rId2"/>
          <a:stretch>
            <a:fillRect/>
          </a:stretch>
        </p:blipFill>
        <p:spPr>
          <a:xfrm>
            <a:off x="6983514" y="1486509"/>
            <a:ext cx="5009616" cy="3993020"/>
          </a:xfrm>
          <a:prstGeom prst="rect">
            <a:avLst/>
          </a:prstGeom>
        </p:spPr>
      </p:pic>
    </p:spTree>
    <p:extLst>
      <p:ext uri="{BB962C8B-B14F-4D97-AF65-F5344CB8AC3E}">
        <p14:creationId xmlns:p14="http://schemas.microsoft.com/office/powerpoint/2010/main" val="27644476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0" name="Rectangle 20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2" name="Rectangle 211">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4" name="Right Triangle 2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18" name="Group 2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19" name="Straight Connector 2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B471B75-817E-568B-A44F-FCB6C72FB9E9}"/>
              </a:ext>
            </a:extLst>
          </p:cNvPr>
          <p:cNvSpPr>
            <a:spLocks noGrp="1"/>
          </p:cNvSpPr>
          <p:nvPr>
            <p:ph type="title"/>
          </p:nvPr>
        </p:nvSpPr>
        <p:spPr>
          <a:xfrm>
            <a:off x="457201" y="732349"/>
            <a:ext cx="4419600" cy="899966"/>
          </a:xfrm>
        </p:spPr>
        <p:txBody>
          <a:bodyPr>
            <a:normAutofit fontScale="90000"/>
          </a:bodyPr>
          <a:lstStyle/>
          <a:p>
            <a:r>
              <a:rPr lang="en-US">
                <a:solidFill>
                  <a:schemeClr val="tx2"/>
                </a:solidFill>
                <a:cs typeface="Posterama"/>
              </a:rPr>
              <a:t>After Hyperparameter Tuning</a:t>
            </a:r>
          </a:p>
        </p:txBody>
      </p:sp>
      <p:sp>
        <p:nvSpPr>
          <p:cNvPr id="10" name="Content Placeholder 9">
            <a:extLst>
              <a:ext uri="{FF2B5EF4-FFF2-40B4-BE49-F238E27FC236}">
                <a16:creationId xmlns:a16="http://schemas.microsoft.com/office/drawing/2014/main" id="{548CB327-6F93-C898-A8EF-F409F93AFA7B}"/>
              </a:ext>
            </a:extLst>
          </p:cNvPr>
          <p:cNvSpPr>
            <a:spLocks noGrp="1"/>
          </p:cNvSpPr>
          <p:nvPr>
            <p:ph idx="1"/>
          </p:nvPr>
        </p:nvSpPr>
        <p:spPr>
          <a:xfrm>
            <a:off x="435115" y="2070197"/>
            <a:ext cx="5339989" cy="4200289"/>
          </a:xfrm>
        </p:spPr>
        <p:txBody>
          <a:bodyPr vert="horz" lIns="91440" tIns="45720" rIns="91440" bIns="45720" rtlCol="0" anchor="t">
            <a:noAutofit/>
          </a:bodyPr>
          <a:lstStyle/>
          <a:p>
            <a:r>
              <a:rPr lang="en-US" sz="1600">
                <a:solidFill>
                  <a:srgbClr val="374151"/>
                </a:solidFill>
                <a:ea typeface="+mn-lt"/>
                <a:cs typeface="+mn-lt"/>
              </a:rPr>
              <a:t>The best hyperparameters for the XGBoost model were found to be a learning rate of 0.1, a maximum depth of 6, and 200 estimators. After hyperparameter tuning, the model achieved an F1-score of 0.750 on the validation set, which is an improvement over the initial model.</a:t>
            </a:r>
            <a:endParaRPr lang="en-US" sz="1600">
              <a:ea typeface="+mn-lt"/>
              <a:cs typeface="+mn-lt"/>
            </a:endParaRPr>
          </a:p>
          <a:p>
            <a:r>
              <a:rPr lang="en-US" sz="1600">
                <a:solidFill>
                  <a:srgbClr val="374151"/>
                </a:solidFill>
                <a:ea typeface="+mn-lt"/>
                <a:cs typeface="+mn-lt"/>
              </a:rPr>
              <a:t>On the test set, the XGBoost model with the optimized hyperparameters achieved an accuracy of 78%, with a precision of 0.82 for the majority class (class 0) and a precision of 0.49 for the minority class (class 1). The recall and F1-score were also higher than the initial model, with a recall of 0.92 and an F1-score of 0.87 for the majority class, and a recall of 0.27 and an F1-score of 0.35 for the minority class.</a:t>
            </a:r>
            <a:endParaRPr lang="en-US" sz="1600"/>
          </a:p>
          <a:p>
            <a:pPr>
              <a:lnSpc>
                <a:spcPct val="100000"/>
              </a:lnSpc>
            </a:pPr>
            <a:endParaRPr lang="en-US" sz="1600">
              <a:ea typeface="+mn-lt"/>
              <a:cs typeface="+mn-lt"/>
            </a:endParaRPr>
          </a:p>
        </p:txBody>
      </p:sp>
      <p:pic>
        <p:nvPicPr>
          <p:cNvPr id="3" name="Picture 3">
            <a:extLst>
              <a:ext uri="{FF2B5EF4-FFF2-40B4-BE49-F238E27FC236}">
                <a16:creationId xmlns:a16="http://schemas.microsoft.com/office/drawing/2014/main" id="{CD6E0579-32C9-7B02-9A40-E693BA327430}"/>
              </a:ext>
            </a:extLst>
          </p:cNvPr>
          <p:cNvPicPr>
            <a:picLocks noChangeAspect="1"/>
          </p:cNvPicPr>
          <p:nvPr/>
        </p:nvPicPr>
        <p:blipFill>
          <a:blip r:embed="rId2"/>
          <a:stretch>
            <a:fillRect/>
          </a:stretch>
        </p:blipFill>
        <p:spPr>
          <a:xfrm>
            <a:off x="5964583" y="732348"/>
            <a:ext cx="5906633" cy="5541973"/>
          </a:xfrm>
          <a:prstGeom prst="rect">
            <a:avLst/>
          </a:prstGeom>
        </p:spPr>
      </p:pic>
    </p:spTree>
    <p:extLst>
      <p:ext uri="{BB962C8B-B14F-4D97-AF65-F5344CB8AC3E}">
        <p14:creationId xmlns:p14="http://schemas.microsoft.com/office/powerpoint/2010/main" val="2232187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2" name="Rectangle 25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4" name="Rectangle 253">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6" name="Right Triangle 255">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60" name="Group 259">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61" name="Straight Connector 260">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B471B75-817E-568B-A44F-FCB6C72FB9E9}"/>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RNN</a:t>
            </a:r>
          </a:p>
        </p:txBody>
      </p:sp>
      <p:sp>
        <p:nvSpPr>
          <p:cNvPr id="10" name="Content Placeholder 9">
            <a:extLst>
              <a:ext uri="{FF2B5EF4-FFF2-40B4-BE49-F238E27FC236}">
                <a16:creationId xmlns:a16="http://schemas.microsoft.com/office/drawing/2014/main" id="{548CB327-6F93-C898-A8EF-F409F93AFA7B}"/>
              </a:ext>
            </a:extLst>
          </p:cNvPr>
          <p:cNvSpPr>
            <a:spLocks noGrp="1"/>
          </p:cNvSpPr>
          <p:nvPr>
            <p:ph idx="1"/>
          </p:nvPr>
        </p:nvSpPr>
        <p:spPr>
          <a:xfrm>
            <a:off x="457201" y="2572192"/>
            <a:ext cx="4419600" cy="3676208"/>
          </a:xfrm>
        </p:spPr>
        <p:txBody>
          <a:bodyPr vert="horz" lIns="91440" tIns="45720" rIns="91440" bIns="45720" rtlCol="0" anchor="t">
            <a:noAutofit/>
          </a:bodyPr>
          <a:lstStyle/>
          <a:p>
            <a:pPr>
              <a:lnSpc>
                <a:spcPct val="100000"/>
              </a:lnSpc>
            </a:pPr>
            <a:r>
              <a:rPr lang="en-US" sz="1800">
                <a:solidFill>
                  <a:srgbClr val="374151"/>
                </a:solidFill>
                <a:ea typeface="+mn-lt"/>
                <a:cs typeface="+mn-lt"/>
              </a:rPr>
              <a:t>The RNN model achieved an accuracy of 82% on the test set, with a precision of 0.84 for the majority class (class 0) and a precision of 0.65 for the minority class (class 1). The recall and F1-score were also higher for the majority class than the minority class, with a recall of 0.95 and an F1-score of 0.89 for the majority class, and a recall of 0.35 and an F1-score of 0.46 for the minority class.</a:t>
            </a:r>
          </a:p>
        </p:txBody>
      </p:sp>
      <p:pic>
        <p:nvPicPr>
          <p:cNvPr id="4" name="Picture 4" descr="Table&#10;&#10;Description automatically generated">
            <a:extLst>
              <a:ext uri="{FF2B5EF4-FFF2-40B4-BE49-F238E27FC236}">
                <a16:creationId xmlns:a16="http://schemas.microsoft.com/office/drawing/2014/main" id="{8799D78D-935C-4B22-CE4F-898731C3D152}"/>
              </a:ext>
            </a:extLst>
          </p:cNvPr>
          <p:cNvPicPr>
            <a:picLocks noChangeAspect="1"/>
          </p:cNvPicPr>
          <p:nvPr/>
        </p:nvPicPr>
        <p:blipFill>
          <a:blip r:embed="rId2"/>
          <a:stretch>
            <a:fillRect/>
          </a:stretch>
        </p:blipFill>
        <p:spPr>
          <a:xfrm>
            <a:off x="5203767" y="951563"/>
            <a:ext cx="6795701" cy="5103543"/>
          </a:xfrm>
          <a:prstGeom prst="rect">
            <a:avLst/>
          </a:prstGeom>
        </p:spPr>
      </p:pic>
    </p:spTree>
    <p:extLst>
      <p:ext uri="{BB962C8B-B14F-4D97-AF65-F5344CB8AC3E}">
        <p14:creationId xmlns:p14="http://schemas.microsoft.com/office/powerpoint/2010/main" val="752977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E04D3D4-59FD-9FCA-DC5B-595BFCAAE764}"/>
              </a:ext>
            </a:extLst>
          </p:cNvPr>
          <p:cNvSpPr>
            <a:spLocks noGrp="1"/>
          </p:cNvSpPr>
          <p:nvPr>
            <p:ph type="title"/>
          </p:nvPr>
        </p:nvSpPr>
        <p:spPr>
          <a:xfrm>
            <a:off x="457200" y="728906"/>
            <a:ext cx="10754527" cy="983798"/>
          </a:xfrm>
        </p:spPr>
        <p:txBody>
          <a:bodyPr anchor="b">
            <a:normAutofit/>
          </a:bodyPr>
          <a:lstStyle/>
          <a:p>
            <a:r>
              <a:rPr lang="en-US">
                <a:solidFill>
                  <a:schemeClr val="tx2"/>
                </a:solidFill>
                <a:cs typeface="Posterama"/>
              </a:rPr>
              <a:t>Customer Segmentation </a:t>
            </a:r>
            <a:endParaRPr lang="en-US">
              <a:solidFill>
                <a:schemeClr val="tx2"/>
              </a:solidFill>
            </a:endParaRPr>
          </a:p>
        </p:txBody>
      </p:sp>
      <p:sp>
        <p:nvSpPr>
          <p:cNvPr id="3" name="Content Placeholder 2">
            <a:extLst>
              <a:ext uri="{FF2B5EF4-FFF2-40B4-BE49-F238E27FC236}">
                <a16:creationId xmlns:a16="http://schemas.microsoft.com/office/drawing/2014/main" id="{49394BD8-B8F8-C13A-224C-E377E38276E0}"/>
              </a:ext>
            </a:extLst>
          </p:cNvPr>
          <p:cNvSpPr>
            <a:spLocks noGrp="1"/>
          </p:cNvSpPr>
          <p:nvPr>
            <p:ph idx="1"/>
          </p:nvPr>
        </p:nvSpPr>
        <p:spPr>
          <a:xfrm>
            <a:off x="457201" y="2001943"/>
            <a:ext cx="9745506" cy="3808576"/>
          </a:xfrm>
        </p:spPr>
        <p:txBody>
          <a:bodyPr anchor="t">
            <a:normAutofit/>
          </a:bodyPr>
          <a:lstStyle/>
          <a:p>
            <a:r>
              <a:rPr lang="en-US" sz="1800">
                <a:solidFill>
                  <a:schemeClr val="tx1"/>
                </a:solidFill>
                <a:ea typeface="+mn-lt"/>
                <a:cs typeface="+mn-lt"/>
              </a:rPr>
              <a:t>Customer segmentation is the process of dividing customers into groups based on shared characteristics or behaviors, and it can help credit card companies tailor their products and services to better meet the needs of different customer segments.</a:t>
            </a:r>
          </a:p>
          <a:p>
            <a:r>
              <a:rPr lang="en-US" sz="1800">
                <a:solidFill>
                  <a:schemeClr val="tx1"/>
                </a:solidFill>
              </a:rPr>
              <a:t>In this project, we have divided the customers based on Marriage, Age, Gender, Education, and Payment Status  </a:t>
            </a:r>
          </a:p>
          <a:p>
            <a:r>
              <a:rPr lang="en-US" sz="1800">
                <a:solidFill>
                  <a:schemeClr val="tx1"/>
                </a:solidFill>
              </a:rPr>
              <a:t>We performed Clustering using K-means Clustering Algorithm.</a:t>
            </a:r>
          </a:p>
          <a:p>
            <a:r>
              <a:rPr lang="en-US" sz="1800" err="1">
                <a:solidFill>
                  <a:schemeClr val="tx1"/>
                </a:solidFill>
              </a:rPr>
              <a:t>Kmeans</a:t>
            </a:r>
            <a:r>
              <a:rPr lang="en-US" sz="1800">
                <a:solidFill>
                  <a:schemeClr val="tx1"/>
                </a:solidFill>
              </a:rPr>
              <a:t> clustering is a popular unsupervised machine learning algorithm used for clustering or grouping similar data points together. The algorithm works by iteratively partitioning data into K clusters, where K is a predefined number of clusters.</a:t>
            </a:r>
          </a:p>
        </p:txBody>
      </p:sp>
    </p:spTree>
    <p:extLst>
      <p:ext uri="{BB962C8B-B14F-4D97-AF65-F5344CB8AC3E}">
        <p14:creationId xmlns:p14="http://schemas.microsoft.com/office/powerpoint/2010/main" val="3225796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1" name="Freeform: Shape 4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3" name="Freeform: Shape 4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45" name="Group 44">
            <a:extLst>
              <a:ext uri="{FF2B5EF4-FFF2-40B4-BE49-F238E27FC236}">
                <a16:creationId xmlns:a16="http://schemas.microsoft.com/office/drawing/2014/main" id="{CFB42397-759B-4110-90F9-11A099A04F18}"/>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6" name="Straight Connector 45">
              <a:extLst>
                <a:ext uri="{FF2B5EF4-FFF2-40B4-BE49-F238E27FC236}">
                  <a16:creationId xmlns:a16="http://schemas.microsoft.com/office/drawing/2014/main" id="{7CE16B93-748F-4AF3-90C6-D3EE861E78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1F2252F-DB74-4990-8E43-3B46EB31A8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BB0339-E325-46BB-A951-96F1A4651B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21A6F6B-EBF5-41B9-BDDB-AF519B8AD4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CB88A6-ABF0-4981-8112-89F17060AF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207B5CF-3BA7-46DE-A98B-C46A77F219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DE055E6-5758-4FD1-A969-1AB1F47EE5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B9E002-9254-431A-BEE3-BC744C6D41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5BB4EB4-8685-4464-8EAE-D44D7770B6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3239F69-CDD7-49E2-9C2E-B56A6D009A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6C507C8-734D-457D-A4EA-3C1F17BC8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139D922-20CB-41E9-B69E-FA643C51A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FE3C40B-0A70-4224-BC24-365327DC6C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22999B0-1AA0-4D8B-BB3E-1BEAD972B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9737CB6-048C-4FD9-9663-0D214A0A30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F1A2328-0FD2-449E-A066-56A7D096AB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212297-7D47-455C-B574-D4A450A6B9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F88725D-F086-42CF-A0A4-F335D03F9E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E97B27-B4E2-45AF-ACC9-5EC22DB7A8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FADBC7B-7D04-4E57-9B78-3FC78B903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CD44BB5-3236-443E-BDD8-7E145E32D6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85E742B-9320-4785-A94F-2CAE2855CC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A42F567-7F15-4D7B-8F9C-5F8F6B2832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9DAD4DF-0FE8-401C-AE04-738B80B25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01394A-2A38-4F45-B5B6-A025C4B43F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9D4873B-257C-4327-907C-0829469214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5350388-C37B-41E0-8172-2F7D79DBB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DA0A053-52F2-4D51-BEB7-31B0A3CA0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3551FA-C6B2-4251-A24C-021D7B64E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A50F0F9-04C8-47E4-AF66-B3CAF8C81917}"/>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77" name="Straight Connector 76">
              <a:extLst>
                <a:ext uri="{FF2B5EF4-FFF2-40B4-BE49-F238E27FC236}">
                  <a16:creationId xmlns:a16="http://schemas.microsoft.com/office/drawing/2014/main" id="{2017C593-7166-4110-8447-086A8A2DB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92CE38-231D-4EFB-BD1C-B0DFC4714A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7902244-3120-4F1E-BCA7-C414F8CA5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C2A9BEC-6FBD-4C4E-9D8F-6797108601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D05CAB2-3C3D-4649-A904-7115E0A40D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9ECC96-BB36-4A8A-ACFC-0CDAC9A3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6C3BBC2-CEC2-44E9-B82B-34488E7E33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73074D9-0CF2-46DC-8D7A-871B6FE419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573F54A-11A1-4A06-8130-294B4D5CEE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2F69BFB-91DF-4F4E-BE91-2D6805CD68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BA93DEE-828E-4AC5-A89A-B3FCC1689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043F28B-A5B8-4573-89CC-A68E27A72E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41EDE26-6F99-4FF5-A50B-255FEF1CAC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C69229A-861A-4B33-A690-B89F20F21A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1FF5E2F-2AD1-485A-8981-8905C2357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E9781F-DF28-41A8-8A6B-7DC5409F9E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CDF5C52-5A30-4182-9FF7-118DB1BB64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C8008CF-A1BC-4A0E-B9A2-05FB501EBD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DF1A43F-5E26-4631-8775-BC3BACEB16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8A5A284-AA4F-43C1-84B9-947642136B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B3BE54E-1FBA-4E64-982C-9CA2C0C484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E7BA94A-1A8A-45C6-9B8F-AFEC955F1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5C6D3A0-6B84-4021-87FB-3179A711BB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DA87903E-EEC8-47F4-8730-06C5FD14BC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A8A92A2B-3460-4608-B3EA-4FFEAF83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B0E1020-452C-4B7F-A1D2-BA8F1B83F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6903CF7B-6947-4932-AD73-020495EDC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8453FA51-CE2D-4B84-9F4F-3263D1BC4D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327B132-AD8C-4732-93AA-C136586C22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07" name="Rectangle 106">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Rectangle 108">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1" name="Freeform: Shape 110">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Right Triangle 11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17" name="Group 1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8" name="Straight Connector 1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Picture 4" descr="Chart, scatter chart&#10;&#10;Description automatically generated">
            <a:extLst>
              <a:ext uri="{FF2B5EF4-FFF2-40B4-BE49-F238E27FC236}">
                <a16:creationId xmlns:a16="http://schemas.microsoft.com/office/drawing/2014/main" id="{8A5B2F75-7C34-451D-1E6B-A05D2B4D2205}"/>
              </a:ext>
            </a:extLst>
          </p:cNvPr>
          <p:cNvPicPr>
            <a:picLocks noChangeAspect="1"/>
          </p:cNvPicPr>
          <p:nvPr/>
        </p:nvPicPr>
        <p:blipFill>
          <a:blip r:embed="rId2"/>
          <a:stretch>
            <a:fillRect/>
          </a:stretch>
        </p:blipFill>
        <p:spPr>
          <a:xfrm>
            <a:off x="6104183" y="694435"/>
            <a:ext cx="5572526" cy="4587063"/>
          </a:xfrm>
          <a:prstGeom prst="rect">
            <a:avLst/>
          </a:prstGeom>
        </p:spPr>
      </p:pic>
      <p:pic>
        <p:nvPicPr>
          <p:cNvPr id="5" name="Picture 5" descr="Chart, line chart&#10;&#10;Description automatically generated">
            <a:extLst>
              <a:ext uri="{FF2B5EF4-FFF2-40B4-BE49-F238E27FC236}">
                <a16:creationId xmlns:a16="http://schemas.microsoft.com/office/drawing/2014/main" id="{8C1F3626-D341-F08C-AF95-82E6639FF766}"/>
              </a:ext>
            </a:extLst>
          </p:cNvPr>
          <p:cNvPicPr>
            <a:picLocks noChangeAspect="1"/>
          </p:cNvPicPr>
          <p:nvPr/>
        </p:nvPicPr>
        <p:blipFill>
          <a:blip r:embed="rId3"/>
          <a:stretch>
            <a:fillRect/>
          </a:stretch>
        </p:blipFill>
        <p:spPr>
          <a:xfrm>
            <a:off x="308188" y="697261"/>
            <a:ext cx="5612604" cy="4407342"/>
          </a:xfrm>
          <a:prstGeom prst="rect">
            <a:avLst/>
          </a:prstGeom>
        </p:spPr>
      </p:pic>
      <p:sp>
        <p:nvSpPr>
          <p:cNvPr id="6" name="TextBox 5">
            <a:extLst>
              <a:ext uri="{FF2B5EF4-FFF2-40B4-BE49-F238E27FC236}">
                <a16:creationId xmlns:a16="http://schemas.microsoft.com/office/drawing/2014/main" id="{4EC76CA3-A2E7-3CFB-98D1-928BCF1A4AF3}"/>
              </a:ext>
            </a:extLst>
          </p:cNvPr>
          <p:cNvSpPr txBox="1"/>
          <p:nvPr/>
        </p:nvSpPr>
        <p:spPr>
          <a:xfrm>
            <a:off x="335387" y="5513767"/>
            <a:ext cx="5594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Finding the number of clusters </a:t>
            </a:r>
          </a:p>
        </p:txBody>
      </p:sp>
      <p:sp>
        <p:nvSpPr>
          <p:cNvPr id="7" name="TextBox 6">
            <a:extLst>
              <a:ext uri="{FF2B5EF4-FFF2-40B4-BE49-F238E27FC236}">
                <a16:creationId xmlns:a16="http://schemas.microsoft.com/office/drawing/2014/main" id="{A1E41BA0-D3FF-1622-2C83-F2A394B5269B}"/>
              </a:ext>
            </a:extLst>
          </p:cNvPr>
          <p:cNvSpPr txBox="1"/>
          <p:nvPr/>
        </p:nvSpPr>
        <p:spPr>
          <a:xfrm>
            <a:off x="6045021" y="5578161"/>
            <a:ext cx="55942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Customer Segmentation based on the 3 clusters </a:t>
            </a:r>
          </a:p>
          <a:p>
            <a:pPr algn="ctr"/>
            <a:endParaRPr lang="en-US"/>
          </a:p>
        </p:txBody>
      </p:sp>
    </p:spTree>
    <p:extLst>
      <p:ext uri="{BB962C8B-B14F-4D97-AF65-F5344CB8AC3E}">
        <p14:creationId xmlns:p14="http://schemas.microsoft.com/office/powerpoint/2010/main" val="10307265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181CC2FD-F5D2-4415-8486-46858CC42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1063619-981B-4E62-A26E-E345BB3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290211" y="0"/>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7" name="Straight Connector 1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Content Placeholder 2">
            <a:extLst>
              <a:ext uri="{FF2B5EF4-FFF2-40B4-BE49-F238E27FC236}">
                <a16:creationId xmlns:a16="http://schemas.microsoft.com/office/drawing/2014/main" id="{711350F8-9A9D-202D-33C9-2075435BB754}"/>
              </a:ext>
            </a:extLst>
          </p:cNvPr>
          <p:cNvSpPr>
            <a:spLocks noGrp="1"/>
          </p:cNvSpPr>
          <p:nvPr>
            <p:ph idx="1"/>
          </p:nvPr>
        </p:nvSpPr>
        <p:spPr>
          <a:xfrm>
            <a:off x="457201" y="2876634"/>
            <a:ext cx="11507630" cy="3826853"/>
          </a:xfrm>
        </p:spPr>
        <p:txBody>
          <a:bodyPr vert="horz" lIns="91440" tIns="45720" rIns="91440" bIns="45720" rtlCol="0" anchor="t">
            <a:noAutofit/>
          </a:bodyPr>
          <a:lstStyle/>
          <a:p>
            <a:r>
              <a:rPr lang="en-US" sz="1400">
                <a:solidFill>
                  <a:schemeClr val="tx1"/>
                </a:solidFill>
                <a:ea typeface="+mn-lt"/>
                <a:cs typeface="+mn-lt"/>
              </a:rPr>
              <a:t>Cluster 0: Customers with low credit risk</a:t>
            </a:r>
            <a:endParaRPr lang="en-US" sz="1400">
              <a:solidFill>
                <a:schemeClr val="tx1"/>
              </a:solidFill>
            </a:endParaRPr>
          </a:p>
          <a:p>
            <a:pPr lvl="1"/>
            <a:r>
              <a:rPr lang="en-US" sz="1400">
                <a:solidFill>
                  <a:schemeClr val="tx1"/>
                </a:solidFill>
                <a:ea typeface="+mn-lt"/>
                <a:cs typeface="+mn-lt"/>
              </a:rPr>
              <a:t>Customers in this cluster have a lower average value of </a:t>
            </a:r>
            <a:r>
              <a:rPr lang="en-US" sz="1400" b="1">
                <a:solidFill>
                  <a:schemeClr val="tx1"/>
                </a:solidFill>
                <a:latin typeface="Avenir Next LT Pro"/>
              </a:rPr>
              <a:t>PAY_0</a:t>
            </a:r>
            <a:r>
              <a:rPr lang="en-US" sz="1400">
                <a:solidFill>
                  <a:schemeClr val="tx1"/>
                </a:solidFill>
                <a:ea typeface="+mn-lt"/>
                <a:cs typeface="+mn-lt"/>
              </a:rPr>
              <a:t>, indicating that they have a history of paying their bills on time.</a:t>
            </a:r>
            <a:endParaRPr lang="en-US" sz="1400">
              <a:solidFill>
                <a:schemeClr val="tx1"/>
              </a:solidFill>
            </a:endParaRPr>
          </a:p>
          <a:p>
            <a:pPr lvl="1"/>
            <a:r>
              <a:rPr lang="en-US" sz="1400">
                <a:solidFill>
                  <a:schemeClr val="tx1"/>
                </a:solidFill>
                <a:ea typeface="+mn-lt"/>
                <a:cs typeface="+mn-lt"/>
              </a:rPr>
              <a:t>They are more likely to be female (</a:t>
            </a:r>
            <a:r>
              <a:rPr lang="en-US" sz="1400" b="1">
                <a:solidFill>
                  <a:schemeClr val="tx1"/>
                </a:solidFill>
                <a:latin typeface="Avenir Next LT Pro"/>
              </a:rPr>
              <a:t>SEX</a:t>
            </a:r>
            <a:r>
              <a:rPr lang="en-US" sz="1400">
                <a:solidFill>
                  <a:schemeClr val="tx1"/>
                </a:solidFill>
                <a:ea typeface="+mn-lt"/>
                <a:cs typeface="+mn-lt"/>
              </a:rPr>
              <a:t> = 1.64) and have an education level (</a:t>
            </a:r>
            <a:r>
              <a:rPr lang="en-US" sz="1400" b="1">
                <a:solidFill>
                  <a:schemeClr val="tx1"/>
                </a:solidFill>
                <a:latin typeface="Avenir Next LT Pro"/>
              </a:rPr>
              <a:t>EDUCATION</a:t>
            </a:r>
            <a:r>
              <a:rPr lang="en-US" sz="1400">
                <a:solidFill>
                  <a:schemeClr val="tx1"/>
                </a:solidFill>
                <a:ea typeface="+mn-lt"/>
                <a:cs typeface="+mn-lt"/>
              </a:rPr>
              <a:t> = 1.41) compared to other clusters.</a:t>
            </a:r>
            <a:endParaRPr lang="en-US" sz="1400">
              <a:solidFill>
                <a:schemeClr val="tx1"/>
              </a:solidFill>
            </a:endParaRPr>
          </a:p>
          <a:p>
            <a:pPr lvl="1"/>
            <a:r>
              <a:rPr lang="en-US" sz="1400">
                <a:solidFill>
                  <a:schemeClr val="tx1"/>
                </a:solidFill>
                <a:ea typeface="+mn-lt"/>
                <a:cs typeface="+mn-lt"/>
              </a:rPr>
              <a:t>They are also more likely to be married (</a:t>
            </a:r>
            <a:r>
              <a:rPr lang="en-US" sz="1400" b="1">
                <a:solidFill>
                  <a:schemeClr val="tx1"/>
                </a:solidFill>
                <a:latin typeface="Avenir Next LT Pro"/>
              </a:rPr>
              <a:t>MARRIAGE</a:t>
            </a:r>
            <a:r>
              <a:rPr lang="en-US" sz="1400">
                <a:solidFill>
                  <a:schemeClr val="tx1"/>
                </a:solidFill>
                <a:ea typeface="+mn-lt"/>
                <a:cs typeface="+mn-lt"/>
              </a:rPr>
              <a:t> = 1.37).</a:t>
            </a:r>
            <a:endParaRPr lang="en-US" sz="1400">
              <a:solidFill>
                <a:schemeClr val="tx1"/>
              </a:solidFill>
            </a:endParaRPr>
          </a:p>
          <a:p>
            <a:r>
              <a:rPr lang="en-US" sz="1400">
                <a:solidFill>
                  <a:schemeClr val="tx1"/>
                </a:solidFill>
                <a:ea typeface="+mn-lt"/>
                <a:cs typeface="+mn-lt"/>
              </a:rPr>
              <a:t>Cluster 1: Customers with medium credit risk</a:t>
            </a:r>
            <a:endParaRPr lang="en-US" sz="1400">
              <a:solidFill>
                <a:schemeClr val="tx1"/>
              </a:solidFill>
            </a:endParaRPr>
          </a:p>
          <a:p>
            <a:pPr lvl="1"/>
            <a:r>
              <a:rPr lang="en-US" sz="1400">
                <a:solidFill>
                  <a:schemeClr val="tx1"/>
                </a:solidFill>
                <a:ea typeface="+mn-lt"/>
                <a:cs typeface="+mn-lt"/>
              </a:rPr>
              <a:t>Customers in this cluster have a higher average value of </a:t>
            </a:r>
            <a:r>
              <a:rPr lang="en-US" sz="1400" b="1">
                <a:solidFill>
                  <a:schemeClr val="tx1"/>
                </a:solidFill>
                <a:latin typeface="Avenir Next LT Pro"/>
              </a:rPr>
              <a:t>PAY_0</a:t>
            </a:r>
            <a:r>
              <a:rPr lang="en-US" sz="1400">
                <a:solidFill>
                  <a:schemeClr val="tx1"/>
                </a:solidFill>
                <a:ea typeface="+mn-lt"/>
                <a:cs typeface="+mn-lt"/>
              </a:rPr>
              <a:t>, indicating that they have a history of delayed payments.</a:t>
            </a:r>
            <a:endParaRPr lang="en-US" sz="1400">
              <a:solidFill>
                <a:schemeClr val="tx1"/>
              </a:solidFill>
            </a:endParaRPr>
          </a:p>
          <a:p>
            <a:pPr lvl="1"/>
            <a:r>
              <a:rPr lang="en-US" sz="1400">
                <a:solidFill>
                  <a:schemeClr val="tx1"/>
                </a:solidFill>
                <a:ea typeface="+mn-lt"/>
                <a:cs typeface="+mn-lt"/>
              </a:rPr>
              <a:t>They are more likely to be female (</a:t>
            </a:r>
            <a:r>
              <a:rPr lang="en-US" sz="1400" b="1">
                <a:solidFill>
                  <a:schemeClr val="tx1"/>
                </a:solidFill>
                <a:latin typeface="Avenir Next LT Pro"/>
              </a:rPr>
              <a:t>SEX</a:t>
            </a:r>
            <a:r>
              <a:rPr lang="en-US" sz="1400">
                <a:solidFill>
                  <a:schemeClr val="tx1"/>
                </a:solidFill>
                <a:ea typeface="+mn-lt"/>
                <a:cs typeface="+mn-lt"/>
              </a:rPr>
              <a:t> = 1.60) and have a good education level (</a:t>
            </a:r>
            <a:r>
              <a:rPr lang="en-US" sz="1400" b="1">
                <a:solidFill>
                  <a:schemeClr val="tx1"/>
                </a:solidFill>
                <a:latin typeface="Avenir Next LT Pro"/>
              </a:rPr>
              <a:t>EDUCATION</a:t>
            </a:r>
            <a:r>
              <a:rPr lang="en-US" sz="1400">
                <a:solidFill>
                  <a:schemeClr val="tx1"/>
                </a:solidFill>
                <a:ea typeface="+mn-lt"/>
                <a:cs typeface="+mn-lt"/>
              </a:rPr>
              <a:t> = 1.70) compared to other clusters.</a:t>
            </a:r>
            <a:endParaRPr lang="en-US" sz="1400">
              <a:solidFill>
                <a:schemeClr val="tx1"/>
              </a:solidFill>
            </a:endParaRPr>
          </a:p>
          <a:p>
            <a:pPr lvl="1"/>
            <a:r>
              <a:rPr lang="en-US" sz="1400">
                <a:solidFill>
                  <a:schemeClr val="tx1"/>
                </a:solidFill>
                <a:ea typeface="+mn-lt"/>
                <a:cs typeface="+mn-lt"/>
              </a:rPr>
              <a:t>They are also more likely to be single (</a:t>
            </a:r>
            <a:r>
              <a:rPr lang="en-US" sz="1400" b="1">
                <a:solidFill>
                  <a:schemeClr val="tx1"/>
                </a:solidFill>
                <a:latin typeface="Avenir Next LT Pro"/>
              </a:rPr>
              <a:t>MARRIAGE</a:t>
            </a:r>
            <a:r>
              <a:rPr lang="en-US" sz="1400">
                <a:solidFill>
                  <a:schemeClr val="tx1"/>
                </a:solidFill>
                <a:ea typeface="+mn-lt"/>
                <a:cs typeface="+mn-lt"/>
              </a:rPr>
              <a:t> = 1.97).</a:t>
            </a:r>
            <a:endParaRPr lang="en-US" sz="1400">
              <a:solidFill>
                <a:schemeClr val="tx1"/>
              </a:solidFill>
            </a:endParaRPr>
          </a:p>
          <a:p>
            <a:r>
              <a:rPr lang="en-US" sz="1400">
                <a:solidFill>
                  <a:schemeClr val="tx1"/>
                </a:solidFill>
                <a:ea typeface="+mn-lt"/>
                <a:cs typeface="+mn-lt"/>
              </a:rPr>
              <a:t>Cluster 2: Customers with high credit risk</a:t>
            </a:r>
            <a:endParaRPr lang="en-US" sz="1400">
              <a:solidFill>
                <a:schemeClr val="tx1"/>
              </a:solidFill>
            </a:endParaRPr>
          </a:p>
          <a:p>
            <a:pPr lvl="1"/>
            <a:r>
              <a:rPr lang="en-US" sz="1400">
                <a:solidFill>
                  <a:schemeClr val="tx1"/>
                </a:solidFill>
                <a:ea typeface="+mn-lt"/>
                <a:cs typeface="+mn-lt"/>
              </a:rPr>
              <a:t>Customers in this cluster have the highest average value of </a:t>
            </a:r>
            <a:r>
              <a:rPr lang="en-US" sz="1400" b="1">
                <a:solidFill>
                  <a:schemeClr val="tx1"/>
                </a:solidFill>
                <a:latin typeface="Avenir Next LT Pro"/>
              </a:rPr>
              <a:t>PAY_0</a:t>
            </a:r>
            <a:r>
              <a:rPr lang="en-US" sz="1400">
                <a:solidFill>
                  <a:schemeClr val="tx1"/>
                </a:solidFill>
                <a:ea typeface="+mn-lt"/>
                <a:cs typeface="+mn-lt"/>
              </a:rPr>
              <a:t>, indicating that they have a history of defaulting on their payments.</a:t>
            </a:r>
            <a:endParaRPr lang="en-US" sz="1400">
              <a:solidFill>
                <a:schemeClr val="tx1"/>
              </a:solidFill>
            </a:endParaRPr>
          </a:p>
          <a:p>
            <a:pPr lvl="1"/>
            <a:r>
              <a:rPr lang="en-US" sz="1400">
                <a:solidFill>
                  <a:schemeClr val="tx1"/>
                </a:solidFill>
                <a:ea typeface="+mn-lt"/>
                <a:cs typeface="+mn-lt"/>
              </a:rPr>
              <a:t>They are more likely to be male (</a:t>
            </a:r>
            <a:r>
              <a:rPr lang="en-US" sz="1400" b="1">
                <a:solidFill>
                  <a:schemeClr val="tx1"/>
                </a:solidFill>
                <a:latin typeface="Avenir Next LT Pro"/>
              </a:rPr>
              <a:t>SEX</a:t>
            </a:r>
            <a:r>
              <a:rPr lang="en-US" sz="1400">
                <a:solidFill>
                  <a:schemeClr val="tx1"/>
                </a:solidFill>
                <a:ea typeface="+mn-lt"/>
                <a:cs typeface="+mn-lt"/>
              </a:rPr>
              <a:t> = 1.56) and have the lowest education level (</a:t>
            </a:r>
            <a:r>
              <a:rPr lang="en-US" sz="1400" b="1">
                <a:solidFill>
                  <a:schemeClr val="tx1"/>
                </a:solidFill>
                <a:latin typeface="Avenir Next LT Pro"/>
              </a:rPr>
              <a:t>EDUCATION</a:t>
            </a:r>
            <a:r>
              <a:rPr lang="en-US" sz="1400">
                <a:solidFill>
                  <a:schemeClr val="tx1"/>
                </a:solidFill>
                <a:ea typeface="+mn-lt"/>
                <a:cs typeface="+mn-lt"/>
              </a:rPr>
              <a:t> = 2.40) compared to other clusters.</a:t>
            </a:r>
            <a:endParaRPr lang="en-US" sz="1400">
              <a:solidFill>
                <a:schemeClr val="tx1"/>
              </a:solidFill>
            </a:endParaRPr>
          </a:p>
          <a:p>
            <a:pPr lvl="1"/>
            <a:r>
              <a:rPr lang="en-US" sz="1400">
                <a:solidFill>
                  <a:schemeClr val="tx1"/>
                </a:solidFill>
                <a:ea typeface="+mn-lt"/>
                <a:cs typeface="+mn-lt"/>
              </a:rPr>
              <a:t>They are also more likely to be married (</a:t>
            </a:r>
            <a:r>
              <a:rPr lang="en-US" sz="1400" b="1">
                <a:solidFill>
                  <a:schemeClr val="tx1"/>
                </a:solidFill>
                <a:latin typeface="Avenir Next LT Pro"/>
              </a:rPr>
              <a:t>MARRIAGE</a:t>
            </a:r>
            <a:r>
              <a:rPr lang="en-US" sz="1400">
                <a:solidFill>
                  <a:schemeClr val="tx1"/>
                </a:solidFill>
                <a:ea typeface="+mn-lt"/>
                <a:cs typeface="+mn-lt"/>
              </a:rPr>
              <a:t> = 1.16).</a:t>
            </a:r>
            <a:endParaRPr lang="en-US" sz="1400">
              <a:solidFill>
                <a:schemeClr val="tx1"/>
              </a:solidFill>
            </a:endParaRPr>
          </a:p>
          <a:p>
            <a:endParaRPr lang="en-US" sz="1800">
              <a:solidFill>
                <a:schemeClr val="tx2"/>
              </a:solidFill>
            </a:endParaRPr>
          </a:p>
        </p:txBody>
      </p:sp>
      <p:pic>
        <p:nvPicPr>
          <p:cNvPr id="5" name="Picture 5" descr="Text&#10;&#10;Description automatically generated">
            <a:extLst>
              <a:ext uri="{FF2B5EF4-FFF2-40B4-BE49-F238E27FC236}">
                <a16:creationId xmlns:a16="http://schemas.microsoft.com/office/drawing/2014/main" id="{4A67830E-3247-F734-2521-72550C5979E6}"/>
              </a:ext>
            </a:extLst>
          </p:cNvPr>
          <p:cNvPicPr>
            <a:picLocks noChangeAspect="1"/>
          </p:cNvPicPr>
          <p:nvPr/>
        </p:nvPicPr>
        <p:blipFill>
          <a:blip r:embed="rId2"/>
          <a:stretch>
            <a:fillRect/>
          </a:stretch>
        </p:blipFill>
        <p:spPr>
          <a:xfrm>
            <a:off x="450057" y="473599"/>
            <a:ext cx="10946605" cy="2291301"/>
          </a:xfrm>
          <a:prstGeom prst="rect">
            <a:avLst/>
          </a:prstGeom>
        </p:spPr>
      </p:pic>
    </p:spTree>
    <p:extLst>
      <p:ext uri="{BB962C8B-B14F-4D97-AF65-F5344CB8AC3E}">
        <p14:creationId xmlns:p14="http://schemas.microsoft.com/office/powerpoint/2010/main" val="2315853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Right Triangle 15">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0" name="Group 19">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1" name="Straight Connector 20">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7E091FC-9927-B3DF-C033-6A913054BB5C}"/>
              </a:ext>
            </a:extLst>
          </p:cNvPr>
          <p:cNvSpPr>
            <a:spLocks noGrp="1"/>
          </p:cNvSpPr>
          <p:nvPr>
            <p:ph type="title"/>
          </p:nvPr>
        </p:nvSpPr>
        <p:spPr>
          <a:xfrm>
            <a:off x="487538" y="379738"/>
            <a:ext cx="3909318" cy="1072334"/>
          </a:xfrm>
        </p:spPr>
        <p:txBody>
          <a:bodyPr>
            <a:normAutofit/>
          </a:bodyPr>
          <a:lstStyle/>
          <a:p>
            <a:r>
              <a:rPr lang="en-US">
                <a:solidFill>
                  <a:schemeClr val="tx2"/>
                </a:solidFill>
              </a:rPr>
              <a:t>Conclusion</a:t>
            </a:r>
          </a:p>
        </p:txBody>
      </p:sp>
      <p:sp>
        <p:nvSpPr>
          <p:cNvPr id="9" name="Content Placeholder 8">
            <a:extLst>
              <a:ext uri="{FF2B5EF4-FFF2-40B4-BE49-F238E27FC236}">
                <a16:creationId xmlns:a16="http://schemas.microsoft.com/office/drawing/2014/main" id="{DF775276-581A-30CD-75B5-AC4B66110AA3}"/>
              </a:ext>
            </a:extLst>
          </p:cNvPr>
          <p:cNvSpPr>
            <a:spLocks noGrp="1"/>
          </p:cNvSpPr>
          <p:nvPr>
            <p:ph idx="1"/>
          </p:nvPr>
        </p:nvSpPr>
        <p:spPr>
          <a:xfrm>
            <a:off x="457201" y="2572192"/>
            <a:ext cx="4419600" cy="3676208"/>
          </a:xfrm>
        </p:spPr>
        <p:txBody>
          <a:bodyPr>
            <a:normAutofit/>
          </a:bodyPr>
          <a:lstStyle/>
          <a:p>
            <a:r>
              <a:rPr lang="en-US" sz="1800">
                <a:solidFill>
                  <a:schemeClr val="tx1"/>
                </a:solidFill>
              </a:rPr>
              <a:t>The top three models based on the Test Accuracy are Decision Tree Classifier, Adaboost Classifier, and RNN.</a:t>
            </a:r>
          </a:p>
          <a:p>
            <a:r>
              <a:rPr lang="en-US" sz="1800">
                <a:solidFill>
                  <a:schemeClr val="tx1"/>
                </a:solidFill>
              </a:rPr>
              <a:t>PAY_02,LIMIT_BAL are the most important features from feature ranking calculation.</a:t>
            </a:r>
          </a:p>
          <a:p>
            <a:endParaRPr lang="en-US" sz="1800">
              <a:solidFill>
                <a:schemeClr val="tx2"/>
              </a:solidFill>
            </a:endParaRPr>
          </a:p>
        </p:txBody>
      </p:sp>
      <p:graphicFrame>
        <p:nvGraphicFramePr>
          <p:cNvPr id="7" name="Table 4">
            <a:extLst>
              <a:ext uri="{FF2B5EF4-FFF2-40B4-BE49-F238E27FC236}">
                <a16:creationId xmlns:a16="http://schemas.microsoft.com/office/drawing/2014/main" id="{C7F92CA5-3052-9978-A2D4-A1778411FCAA}"/>
              </a:ext>
            </a:extLst>
          </p:cNvPr>
          <p:cNvGraphicFramePr>
            <a:graphicFrameLocks/>
          </p:cNvGraphicFramePr>
          <p:nvPr>
            <p:extLst>
              <p:ext uri="{D42A27DB-BD31-4B8C-83A1-F6EECF244321}">
                <p14:modId xmlns:p14="http://schemas.microsoft.com/office/powerpoint/2010/main" val="1801169402"/>
              </p:ext>
            </p:extLst>
          </p:nvPr>
        </p:nvGraphicFramePr>
        <p:xfrm>
          <a:off x="5203767" y="1197006"/>
          <a:ext cx="5871774" cy="4994332"/>
        </p:xfrm>
        <a:graphic>
          <a:graphicData uri="http://schemas.openxmlformats.org/drawingml/2006/table">
            <a:tbl>
              <a:tblPr firstRow="1" bandRow="1">
                <a:solidFill>
                  <a:schemeClr val="bg1"/>
                </a:solidFill>
                <a:tableStyleId>{5C22544A-7EE6-4342-B048-85BDC9FD1C3A}</a:tableStyleId>
              </a:tblPr>
              <a:tblGrid>
                <a:gridCol w="2377402">
                  <a:extLst>
                    <a:ext uri="{9D8B030D-6E8A-4147-A177-3AD203B41FA5}">
                      <a16:colId xmlns:a16="http://schemas.microsoft.com/office/drawing/2014/main" val="71605292"/>
                    </a:ext>
                  </a:extLst>
                </a:gridCol>
                <a:gridCol w="1373886">
                  <a:extLst>
                    <a:ext uri="{9D8B030D-6E8A-4147-A177-3AD203B41FA5}">
                      <a16:colId xmlns:a16="http://schemas.microsoft.com/office/drawing/2014/main" val="2737117829"/>
                    </a:ext>
                  </a:extLst>
                </a:gridCol>
                <a:gridCol w="2120486">
                  <a:extLst>
                    <a:ext uri="{9D8B030D-6E8A-4147-A177-3AD203B41FA5}">
                      <a16:colId xmlns:a16="http://schemas.microsoft.com/office/drawing/2014/main" val="1859119611"/>
                    </a:ext>
                  </a:extLst>
                </a:gridCol>
              </a:tblGrid>
              <a:tr h="461266">
                <a:tc>
                  <a:txBody>
                    <a:bodyPr/>
                    <a:lstStyle/>
                    <a:p>
                      <a:r>
                        <a:rPr lang="en-US" sz="1500" b="0" cap="none" spc="0">
                          <a:solidFill>
                            <a:schemeClr val="bg1"/>
                          </a:solidFill>
                        </a:rPr>
                        <a:t>Algorithm</a:t>
                      </a:r>
                    </a:p>
                  </a:txBody>
                  <a:tcPr marL="126686" marR="97451" marT="97451" marB="9745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US" sz="1500" b="0" cap="none" spc="0">
                          <a:solidFill>
                            <a:schemeClr val="bg1"/>
                          </a:solidFill>
                        </a:rPr>
                        <a:t>Train Accuracy</a:t>
                      </a:r>
                    </a:p>
                  </a:txBody>
                  <a:tcPr marL="126686" marR="97451" marT="97451" marB="9745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r>
                        <a:rPr lang="en-US" sz="1500" b="0" cap="none" spc="0">
                          <a:solidFill>
                            <a:schemeClr val="bg1"/>
                          </a:solidFill>
                        </a:rPr>
                        <a:t>Test Accuracy</a:t>
                      </a:r>
                    </a:p>
                  </a:txBody>
                  <a:tcPr marL="126686" marR="97451" marT="97451" marB="9745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524872564"/>
                  </a:ext>
                </a:extLst>
              </a:tr>
              <a:tr h="461266">
                <a:tc>
                  <a:txBody>
                    <a:bodyPr/>
                    <a:lstStyle/>
                    <a:p>
                      <a:r>
                        <a:rPr lang="en-US" sz="1500" cap="none" spc="0">
                          <a:solidFill>
                            <a:schemeClr val="tx1"/>
                          </a:solidFill>
                        </a:rPr>
                        <a:t>Logistic Regression</a:t>
                      </a:r>
                    </a:p>
                  </a:txBody>
                  <a:tcPr marL="126686" marR="97451" marT="97451" marB="9745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72</a:t>
                      </a:r>
                    </a:p>
                  </a:txBody>
                  <a:tcPr marL="126686" marR="97451" marT="97451" marB="9745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64</a:t>
                      </a:r>
                    </a:p>
                  </a:txBody>
                  <a:tcPr marL="126686" marR="97451" marT="97451" marB="9745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623697657"/>
                  </a:ext>
                </a:extLst>
              </a:tr>
              <a:tr h="461266">
                <a:tc>
                  <a:txBody>
                    <a:bodyPr/>
                    <a:lstStyle/>
                    <a:p>
                      <a:r>
                        <a:rPr lang="en-US" sz="1500" cap="none" spc="0">
                          <a:solidFill>
                            <a:schemeClr val="tx1"/>
                          </a:solidFill>
                        </a:rPr>
                        <a:t>Support Vector Machine</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80</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75</a:t>
                      </a:r>
                    </a:p>
                  </a:txBody>
                  <a:tcPr marL="126686" marR="97451" marT="97451" marB="97451">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971288758"/>
                  </a:ext>
                </a:extLst>
              </a:tr>
              <a:tr h="461266">
                <a:tc>
                  <a:txBody>
                    <a:bodyPr/>
                    <a:lstStyle/>
                    <a:p>
                      <a:r>
                        <a:rPr lang="en-US" sz="1500" cap="none" spc="0">
                          <a:solidFill>
                            <a:schemeClr val="tx1"/>
                          </a:solidFill>
                        </a:rPr>
                        <a:t>K-Nearest Neighbors</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100</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68</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071606360"/>
                  </a:ext>
                </a:extLst>
              </a:tr>
              <a:tr h="461266">
                <a:tc>
                  <a:txBody>
                    <a:bodyPr/>
                    <a:lstStyle/>
                    <a:p>
                      <a:r>
                        <a:rPr lang="en-US" sz="1500" cap="none" spc="0">
                          <a:solidFill>
                            <a:schemeClr val="tx1"/>
                          </a:solidFill>
                        </a:rPr>
                        <a:t>Decision Tree</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85</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82</a:t>
                      </a:r>
                    </a:p>
                  </a:txBody>
                  <a:tcPr marL="126686" marR="97451" marT="97451" marB="97451">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614617316"/>
                  </a:ext>
                </a:extLst>
              </a:tr>
              <a:tr h="461266">
                <a:tc>
                  <a:txBody>
                    <a:bodyPr/>
                    <a:lstStyle/>
                    <a:p>
                      <a:r>
                        <a:rPr lang="en-US" sz="1500" cap="none" spc="0">
                          <a:solidFill>
                            <a:schemeClr val="tx1"/>
                          </a:solidFill>
                        </a:rPr>
                        <a:t>Random Forest</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100</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81</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728733575"/>
                  </a:ext>
                </a:extLst>
              </a:tr>
              <a:tr h="461266">
                <a:tc>
                  <a:txBody>
                    <a:bodyPr/>
                    <a:lstStyle/>
                    <a:p>
                      <a:r>
                        <a:rPr lang="en-US" sz="1500" cap="none" spc="0">
                          <a:solidFill>
                            <a:schemeClr val="tx1"/>
                          </a:solidFill>
                        </a:rPr>
                        <a:t>Adaboost Classifier</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87</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82</a:t>
                      </a:r>
                    </a:p>
                  </a:txBody>
                  <a:tcPr marL="126686" marR="97451" marT="97451" marB="97451">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975992340"/>
                  </a:ext>
                </a:extLst>
              </a:tr>
              <a:tr h="461266">
                <a:tc>
                  <a:txBody>
                    <a:bodyPr/>
                    <a:lstStyle/>
                    <a:p>
                      <a:r>
                        <a:rPr lang="en-US" sz="1500" cap="none" spc="0">
                          <a:solidFill>
                            <a:schemeClr val="tx1"/>
                          </a:solidFill>
                        </a:rPr>
                        <a:t>Gradient Boosting Classifier</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88</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1500" cap="none" spc="0">
                          <a:solidFill>
                            <a:schemeClr val="tx1"/>
                          </a:solidFill>
                        </a:rPr>
                        <a:t>82</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37023557"/>
                  </a:ext>
                </a:extLst>
              </a:tr>
              <a:tr h="461266">
                <a:tc>
                  <a:txBody>
                    <a:bodyPr/>
                    <a:lstStyle/>
                    <a:p>
                      <a:r>
                        <a:rPr lang="en-US" sz="1500" cap="none" spc="0">
                          <a:solidFill>
                            <a:schemeClr val="tx1"/>
                          </a:solidFill>
                        </a:rPr>
                        <a:t>XGBoost Classifier</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89</a:t>
                      </a:r>
                    </a:p>
                  </a:txBody>
                  <a:tcPr marL="126686" marR="97451" marT="97451" marB="9745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1500" cap="none" spc="0">
                          <a:solidFill>
                            <a:schemeClr val="tx1"/>
                          </a:solidFill>
                        </a:rPr>
                        <a:t>78</a:t>
                      </a:r>
                    </a:p>
                  </a:txBody>
                  <a:tcPr marL="126686" marR="97451" marT="97451" marB="97451">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01591450"/>
                  </a:ext>
                </a:extLst>
              </a:tr>
              <a:tr h="461266">
                <a:tc>
                  <a:txBody>
                    <a:bodyPr/>
                    <a:lstStyle/>
                    <a:p>
                      <a:r>
                        <a:rPr lang="en-US" sz="1500" cap="none" spc="0">
                          <a:solidFill>
                            <a:schemeClr val="tx1"/>
                          </a:solidFill>
                        </a:rPr>
                        <a:t>RNN</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r>
                        <a:rPr lang="en-US" sz="1500" cap="none" spc="0">
                          <a:solidFill>
                            <a:schemeClr val="tx1"/>
                          </a:solidFill>
                        </a:rPr>
                        <a:t>82</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r>
                        <a:rPr lang="en-US" sz="1500" cap="none" spc="0">
                          <a:solidFill>
                            <a:schemeClr val="tx1"/>
                          </a:solidFill>
                        </a:rPr>
                        <a:t>82</a:t>
                      </a:r>
                    </a:p>
                  </a:txBody>
                  <a:tcPr marL="126686" marR="97451" marT="97451" marB="9745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274573129"/>
                  </a:ext>
                </a:extLst>
              </a:tr>
            </a:tbl>
          </a:graphicData>
        </a:graphic>
      </p:graphicFrame>
    </p:spTree>
    <p:extLst>
      <p:ext uri="{BB962C8B-B14F-4D97-AF65-F5344CB8AC3E}">
        <p14:creationId xmlns:p14="http://schemas.microsoft.com/office/powerpoint/2010/main" val="2525007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 name="Rectangle 170">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3" name="Group 172">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74" name="Straight Connector 173">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04" name="Freeform: Shape 203">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06" name="Freeform: Shape 205">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08" name="Rectangle 207">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10" name="Group 209">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11" name="Straight Connector 210">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41" name="Freeform: Shape 240">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43" name="Group 242">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44" name="Straight Connector 243">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74" name="Rectangle 27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6" name="Rectangle 275">
            <a:extLst>
              <a:ext uri="{FF2B5EF4-FFF2-40B4-BE49-F238E27FC236}">
                <a16:creationId xmlns:a16="http://schemas.microsoft.com/office/drawing/2014/main" id="{AF152BFE-7BA8-4007-AD9C-F4DC95E43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8" name="Right Triangle 277">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Flowchart: Document 279">
            <a:extLst>
              <a:ext uri="{FF2B5EF4-FFF2-40B4-BE49-F238E27FC236}">
                <a16:creationId xmlns:a16="http://schemas.microsoft.com/office/drawing/2014/main" id="{B6DE7CCF-F894-44DD-9FA3-8BD0D5CE2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19901" y="1485903"/>
            <a:ext cx="6858000" cy="3886199"/>
          </a:xfrm>
          <a:prstGeom prst="flowChartDocument">
            <a:avLst/>
          </a:pr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82" name="Group 281">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83" name="Straight Connector 282">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3D65E086-191D-8BAF-53F4-66BFBF2F142F}"/>
              </a:ext>
            </a:extLst>
          </p:cNvPr>
          <p:cNvSpPr>
            <a:spLocks noGrp="1"/>
          </p:cNvSpPr>
          <p:nvPr>
            <p:ph type="title"/>
          </p:nvPr>
        </p:nvSpPr>
        <p:spPr>
          <a:xfrm>
            <a:off x="453142" y="725467"/>
            <a:ext cx="5414255" cy="2784496"/>
          </a:xfrm>
        </p:spPr>
        <p:txBody>
          <a:bodyPr vert="horz" lIns="91440" tIns="45720" rIns="91440" bIns="45720" rtlCol="0" anchor="b">
            <a:normAutofit/>
          </a:bodyPr>
          <a:lstStyle/>
          <a:p>
            <a:r>
              <a:rPr lang="en-US" sz="5400">
                <a:solidFill>
                  <a:schemeClr val="tx2"/>
                </a:solidFill>
              </a:rPr>
              <a:t>Questions </a:t>
            </a:r>
          </a:p>
        </p:txBody>
      </p:sp>
      <p:pic>
        <p:nvPicPr>
          <p:cNvPr id="168" name="Graphic 167" descr="Help">
            <a:extLst>
              <a:ext uri="{FF2B5EF4-FFF2-40B4-BE49-F238E27FC236}">
                <a16:creationId xmlns:a16="http://schemas.microsoft.com/office/drawing/2014/main" id="{B23E9C6A-AB78-390C-7349-709C4C9BF4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189158" y="988340"/>
            <a:ext cx="4997188" cy="4997188"/>
          </a:xfrm>
          <a:prstGeom prst="rect">
            <a:avLst/>
          </a:prstGeom>
        </p:spPr>
      </p:pic>
    </p:spTree>
    <p:extLst>
      <p:ext uri="{BB962C8B-B14F-4D97-AF65-F5344CB8AC3E}">
        <p14:creationId xmlns:p14="http://schemas.microsoft.com/office/powerpoint/2010/main" val="42330361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6" name="Group 15">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7" name="Straight Connector 16">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Freeform: Shape 46">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9" name="Freeform: Shape 48">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51" name="Rectangle 50">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3" name="Group 52">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4" name="Straight Connector 53">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4" name="Freeform: Shape 83">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6" name="Group 85">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7" name="Straight Connector 86">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7" name="Rectangle 116">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9" name="Rectangle 118">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1" name="Right Triangle 120">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reeform: Shape 122">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5" name="Group 124">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6" name="Straight Connector 125">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 name="Title 6">
            <a:extLst>
              <a:ext uri="{FF2B5EF4-FFF2-40B4-BE49-F238E27FC236}">
                <a16:creationId xmlns:a16="http://schemas.microsoft.com/office/drawing/2014/main" id="{55F82625-19DD-B1C3-6FF4-802A8BD36A7E}"/>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5400">
                <a:solidFill>
                  <a:schemeClr val="tx2"/>
                </a:solidFill>
              </a:rPr>
              <a:t>Thank you</a:t>
            </a:r>
          </a:p>
        </p:txBody>
      </p:sp>
      <p:pic>
        <p:nvPicPr>
          <p:cNvPr id="11" name="Graphic 10" descr="Smiling Face with No Fill">
            <a:extLst>
              <a:ext uri="{FF2B5EF4-FFF2-40B4-BE49-F238E27FC236}">
                <a16:creationId xmlns:a16="http://schemas.microsoft.com/office/drawing/2014/main" id="{7520A7E7-76EF-F618-B125-BC3404BF89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27457" y="2954226"/>
            <a:ext cx="3293981" cy="3293981"/>
          </a:xfrm>
          <a:prstGeom prst="rect">
            <a:avLst/>
          </a:prstGeom>
        </p:spPr>
      </p:pic>
    </p:spTree>
    <p:extLst>
      <p:ext uri="{BB962C8B-B14F-4D97-AF65-F5344CB8AC3E}">
        <p14:creationId xmlns:p14="http://schemas.microsoft.com/office/powerpoint/2010/main" val="3982763877"/>
      </p:ext>
    </p:extLst>
  </p:cSld>
  <p:clrMapOvr>
    <a:masterClrMapping/>
  </p:clrMapOvr>
</p:sld>
</file>

<file path=ppt/theme/theme1.xml><?xml version="1.0" encoding="utf-8"?>
<a:theme xmlns:a="http://schemas.openxmlformats.org/drawingml/2006/main" name="SineVTI">
  <a:themeElements>
    <a:clrScheme name="AnalogousFromLightSeedLeftStep">
      <a:dk1>
        <a:srgbClr val="000000"/>
      </a:dk1>
      <a:lt1>
        <a:srgbClr val="FFFFFF"/>
      </a:lt1>
      <a:dk2>
        <a:srgbClr val="242841"/>
      </a:dk2>
      <a:lt2>
        <a:srgbClr val="E8E7E2"/>
      </a:lt2>
      <a:accent1>
        <a:srgbClr val="8F97CE"/>
      </a:accent1>
      <a:accent2>
        <a:srgbClr val="76A0C3"/>
      </a:accent2>
      <a:accent3>
        <a:srgbClr val="7AAEAF"/>
      </a:accent3>
      <a:accent4>
        <a:srgbClr val="6BB196"/>
      </a:accent4>
      <a:accent5>
        <a:srgbClr val="77AF82"/>
      </a:accent5>
      <a:accent6>
        <a:srgbClr val="7AB16B"/>
      </a:accent6>
      <a:hlink>
        <a:srgbClr val="8B8354"/>
      </a:hlink>
      <a:folHlink>
        <a:srgbClr val="7F7F7F"/>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6BB48AB495E694CA7F334663F29027B" ma:contentTypeVersion="6" ma:contentTypeDescription="Create a new document." ma:contentTypeScope="" ma:versionID="16f9494749e1bb409149cf3d414bc761">
  <xsd:schema xmlns:xsd="http://www.w3.org/2001/XMLSchema" xmlns:xs="http://www.w3.org/2001/XMLSchema" xmlns:p="http://schemas.microsoft.com/office/2006/metadata/properties" xmlns:ns3="c4fb659f-38a8-4349-b9ef-dba62f20c845" xmlns:ns4="a0f7b7c5-9fac-4c43-9bf7-bbea4c0c9b26" targetNamespace="http://schemas.microsoft.com/office/2006/metadata/properties" ma:root="true" ma:fieldsID="1b1e4961311dd0e84877c63f994ea4de" ns3:_="" ns4:_="">
    <xsd:import namespace="c4fb659f-38a8-4349-b9ef-dba62f20c845"/>
    <xsd:import namespace="a0f7b7c5-9fac-4c43-9bf7-bbea4c0c9b26"/>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fb659f-38a8-4349-b9ef-dba62f20c8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f7b7c5-9fac-4c43-9bf7-bbea4c0c9b2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4fb659f-38a8-4349-b9ef-dba62f20c845" xsi:nil="true"/>
  </documentManagement>
</p:properties>
</file>

<file path=customXml/itemProps1.xml><?xml version="1.0" encoding="utf-8"?>
<ds:datastoreItem xmlns:ds="http://schemas.openxmlformats.org/officeDocument/2006/customXml" ds:itemID="{87168B1B-B279-4B99-9F26-60D584CFCB81}">
  <ds:schemaRefs>
    <ds:schemaRef ds:uri="http://schemas.microsoft.com/sharepoint/v3/contenttype/forms"/>
  </ds:schemaRefs>
</ds:datastoreItem>
</file>

<file path=customXml/itemProps2.xml><?xml version="1.0" encoding="utf-8"?>
<ds:datastoreItem xmlns:ds="http://schemas.openxmlformats.org/officeDocument/2006/customXml" ds:itemID="{E911AA26-1F90-47D4-8EC5-11D67FEB1D21}">
  <ds:schemaRefs>
    <ds:schemaRef ds:uri="a0f7b7c5-9fac-4c43-9bf7-bbea4c0c9b26"/>
    <ds:schemaRef ds:uri="c4fb659f-38a8-4349-b9ef-dba62f20c84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29F92AB-38DE-40CD-9D05-43E865FD71A7}">
  <ds:schemaRefs>
    <ds:schemaRef ds:uri="a0f7b7c5-9fac-4c43-9bf7-bbea4c0c9b26"/>
    <ds:schemaRef ds:uri="c4fb659f-38a8-4349-b9ef-dba62f20c84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3014</Words>
  <Application>Microsoft Office PowerPoint</Application>
  <PresentationFormat>Widescreen</PresentationFormat>
  <Paragraphs>188</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Avenir Next LT Pro</vt:lpstr>
      <vt:lpstr>Posterama</vt:lpstr>
      <vt:lpstr>Söhne</vt:lpstr>
      <vt:lpstr>Times New Roman</vt:lpstr>
      <vt:lpstr>SineVTI</vt:lpstr>
      <vt:lpstr>Credit Card Defaulter Prediction Using Machine Learning</vt:lpstr>
      <vt:lpstr>Problem Statement</vt:lpstr>
      <vt:lpstr>About Dataset</vt:lpstr>
      <vt:lpstr>Dataset Description</vt:lpstr>
      <vt:lpstr> Flow Chart</vt:lpstr>
      <vt:lpstr>EXPLORATORY DATA  ANALYSIS</vt:lpstr>
      <vt:lpstr>Plot shows the default payment distribution of both Gender and Education categories </vt:lpstr>
      <vt:lpstr>PowerPoint Presentation</vt:lpstr>
      <vt:lpstr>Distribution of credit limits (LIMIT_BAL) among the customers? </vt:lpstr>
      <vt:lpstr>How does the distribution of default payments vary across different genders, education levels </vt:lpstr>
      <vt:lpstr>How do the repayment statuses (PAY_1 to PAY_6) vary over the six months? </vt:lpstr>
      <vt:lpstr>How do the repayment statuses (PAY_1 to PAY_6) vary over the six months? Are there any trends or patterns? </vt:lpstr>
      <vt:lpstr>How does the distribution of default payments vary across different genders, Age Groups </vt:lpstr>
      <vt:lpstr>How does the distribution of default payments vary across different genders, Age Groups, Education  </vt:lpstr>
      <vt:lpstr>Feature Engineering</vt:lpstr>
      <vt:lpstr>Logistic Regression</vt:lpstr>
      <vt:lpstr>PowerPoint Presentation</vt:lpstr>
      <vt:lpstr>After tuning hyperparameters</vt:lpstr>
      <vt:lpstr>Support Vector Machine(Kernel)</vt:lpstr>
      <vt:lpstr>Rbf Kernel</vt:lpstr>
      <vt:lpstr>Decision tree classifier</vt:lpstr>
      <vt:lpstr>Decision Tree Classifier</vt:lpstr>
      <vt:lpstr>Tunning Decision Tree Classifier</vt:lpstr>
      <vt:lpstr>Adaboost classifier</vt:lpstr>
      <vt:lpstr>Adaboost Classifier </vt:lpstr>
      <vt:lpstr>Tunned Adaboost Classifier</vt:lpstr>
      <vt:lpstr>K-Nearest Neighbors</vt:lpstr>
      <vt:lpstr>After Hyperparameter tuning</vt:lpstr>
      <vt:lpstr>Random Forest Classifier </vt:lpstr>
      <vt:lpstr>Tunned RandomForest Classifier</vt:lpstr>
      <vt:lpstr>Gradient boosting:</vt:lpstr>
      <vt:lpstr>Gradient boosting :</vt:lpstr>
      <vt:lpstr>Gradient Boosting After hyperparameters tuning</vt:lpstr>
      <vt:lpstr>XG BOOST ALGORITHM</vt:lpstr>
      <vt:lpstr>After Hyperparameter Tuning</vt:lpstr>
      <vt:lpstr>RNN</vt:lpstr>
      <vt:lpstr>Customer Segmentation </vt:lpstr>
      <vt:lpstr>PowerPoint Presentation</vt:lpstr>
      <vt:lpstr>PowerPoint Presentation</vt:lpstr>
      <vt:lpstr>Conclusion</vt:lpstr>
      <vt:lpstr>Questions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Defaulter Prediction Using Machine Learning</dc:title>
  <dc:creator>Himachandrika Kondisetty</dc:creator>
  <cp:lastModifiedBy>nikhil chowdary bhathineni</cp:lastModifiedBy>
  <cp:revision>4</cp:revision>
  <dcterms:created xsi:type="dcterms:W3CDTF">2023-05-10T02:53:25Z</dcterms:created>
  <dcterms:modified xsi:type="dcterms:W3CDTF">2026-04-05T16:40:10Z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0x01010066BB48AB495E694CA7F334663F29027B</vt:lpwstr>
  </property>
</Properties>
</file>